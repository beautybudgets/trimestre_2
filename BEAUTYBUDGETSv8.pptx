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6858000" cx="12192000"/>
  <p:notesSz cx="6858000" cy="9144000"/>
  <p:embeddedFontLst>
    <p:embeddedFont>
      <p:font typeface="Work Sans Medium"/>
      <p:regular r:id="rId59"/>
      <p:bold r:id="rId60"/>
      <p:italic r:id="rId61"/>
      <p:boldItalic r:id="rId62"/>
    </p:embeddedFont>
    <p:embeddedFont>
      <p:font typeface="Work Sans"/>
      <p:regular r:id="rId63"/>
      <p:bold r:id="rId64"/>
      <p:italic r:id="rId65"/>
      <p:boldItalic r:id="rId66"/>
    </p:embeddedFont>
    <p:embeddedFont>
      <p:font typeface="Work Sans Light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71" roundtripDataSignature="AMtx7mjunInH2RaasjtvuD8XU+ZWah/X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05347D-6717-495E-85B5-09463775C1AC}">
  <a:tblStyle styleId="{2C05347D-6717-495E-85B5-09463775C1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2ACCA67-C14D-47B8-8F23-717DB967A16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EAB0B2B-9C5B-4F86-9078-20AB51B1F84E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customschemas.google.com/relationships/presentationmetadata" Target="metadata"/><Relationship Id="rId70" Type="http://schemas.openxmlformats.org/officeDocument/2006/relationships/font" Target="fonts/WorkSansLight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WorkSansMedium-boldItalic.fntdata"/><Relationship Id="rId61" Type="http://schemas.openxmlformats.org/officeDocument/2006/relationships/font" Target="fonts/WorkSansMedium-italic.fntdata"/><Relationship Id="rId20" Type="http://schemas.openxmlformats.org/officeDocument/2006/relationships/slide" Target="slides/slide14.xml"/><Relationship Id="rId64" Type="http://schemas.openxmlformats.org/officeDocument/2006/relationships/font" Target="fonts/WorkSans-bold.fntdata"/><Relationship Id="rId63" Type="http://schemas.openxmlformats.org/officeDocument/2006/relationships/font" Target="fonts/WorkSans-regular.fntdata"/><Relationship Id="rId22" Type="http://schemas.openxmlformats.org/officeDocument/2006/relationships/slide" Target="slides/slide16.xml"/><Relationship Id="rId66" Type="http://schemas.openxmlformats.org/officeDocument/2006/relationships/font" Target="fonts/WorkSans-boldItalic.fntdata"/><Relationship Id="rId21" Type="http://schemas.openxmlformats.org/officeDocument/2006/relationships/slide" Target="slides/slide15.xml"/><Relationship Id="rId65" Type="http://schemas.openxmlformats.org/officeDocument/2006/relationships/font" Target="fonts/WorkSans-italic.fntdata"/><Relationship Id="rId24" Type="http://schemas.openxmlformats.org/officeDocument/2006/relationships/slide" Target="slides/slide18.xml"/><Relationship Id="rId68" Type="http://schemas.openxmlformats.org/officeDocument/2006/relationships/font" Target="fonts/WorkSansLight-bold.fntdata"/><Relationship Id="rId23" Type="http://schemas.openxmlformats.org/officeDocument/2006/relationships/slide" Target="slides/slide17.xml"/><Relationship Id="rId67" Type="http://schemas.openxmlformats.org/officeDocument/2006/relationships/font" Target="fonts/WorkSansLight-regular.fntdata"/><Relationship Id="rId60" Type="http://schemas.openxmlformats.org/officeDocument/2006/relationships/font" Target="fonts/WorkSansMediu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WorkSansLight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WorkSansMedium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a64778d0d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aa64778d0d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aa64778d0d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0dd9669a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b0dd9669a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b0dd9669a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5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6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6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hyperlink" Target="https://share.google/images/mujP6v6UUGCpvfuR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hyperlink" Target="https://share.google/images/Ey8bKOHE1rZDfZNYZ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hyperlink" Target="https://share.google/images/QVsezTbIIsjeGw4Vi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hyperlink" Target="https://share.google/images/gyfg5kVZ3XF0u6iZ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hyperlink" Target="https://share.google/images/QzDiN55IvI3A20PH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4.png"/><Relationship Id="rId5" Type="http://schemas.openxmlformats.org/officeDocument/2006/relationships/hyperlink" Target="https://share.google/images/js0AEvpG7OQZ1wIzJ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hyperlink" Target="https://share.google/images/hp1sK8whyfNc1bP5W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x9qs_c8fDwweRh0VVpTENsL0LBgGTaHX/view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3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jpg"/><Relationship Id="rId4" Type="http://schemas.openxmlformats.org/officeDocument/2006/relationships/image" Target="../media/image2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hyperlink" Target="https://docs.google.com/document/d/1GB29EFnoCo82Ac3D2bqSmKfjDRuJO94a/edi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figma.com/proto/dO9TiJcJrI1Kh24n2RYkwy/Peluqueria-nellycita?node-id=0-1&amp;t=4wGCUHpt1ApEv50o-1" TargetMode="External"/><Relationship Id="rId4" Type="http://schemas.openxmlformats.org/officeDocument/2006/relationships/hyperlink" Target="http://drive.google.com/file/d/1sdmCndrnyHRPJLTaeZwimJb5J3umsF6H/view" TargetMode="External"/><Relationship Id="rId5" Type="http://schemas.openxmlformats.org/officeDocument/2006/relationships/image" Target="../media/image3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8600" y="2259575"/>
            <a:ext cx="676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100" u="none" cap="none" strike="noStrike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BEAUTY BUDGETS</a:t>
            </a:r>
            <a:endParaRPr b="1" i="0" sz="43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675600" y="3429000"/>
            <a:ext cx="4581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Ficha:</a:t>
            </a:r>
            <a:r>
              <a:rPr b="0" i="0" lang="es-CO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3278643</a:t>
            </a:r>
            <a:endParaRPr b="0" i="0" sz="2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Instructora:</a:t>
            </a:r>
            <a:r>
              <a:rPr b="0" i="0" lang="es-CO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Paola Tovar </a:t>
            </a:r>
            <a:endParaRPr b="0" i="0" sz="2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Aprendices:</a:t>
            </a:r>
            <a:endParaRPr b="1" i="0" sz="2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Aguilar Arcila Xavier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Camargo Gutiérrez Karol Nicolle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Rodriguez Hernandez Koren Yosara Rock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Romero Barrera Karol Yuliana</a:t>
            </a:r>
            <a:endParaRPr b="0" i="0" sz="16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1459955" y="252282"/>
            <a:ext cx="9272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Salón de belleza Nellycita</a:t>
            </a:r>
            <a:endParaRPr b="1"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00032" y="1374200"/>
            <a:ext cx="1108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Peluquería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025" y="1902200"/>
            <a:ext cx="5944487" cy="396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000024" y="5865200"/>
            <a:ext cx="639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 Style Centro de Belleza | Peluquería en Provincia de Málaga . . .</a:t>
            </a:r>
            <a:r>
              <a:rPr b="0" i="0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(s. f.). www.google.com. </a:t>
            </a:r>
            <a:r>
              <a:rPr b="0" i="0" lang="es-CO" sz="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https://share.google/images/mujP6v6UUGCpvfuR0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500610" y="1719334"/>
            <a:ext cx="4160100" cy="43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 Salón de Belleza Nellycita ofrece servicios de estética y venta de productos capilares. Actualmente lleva sus registros de forma manual en un cuaderno. Está ubicado en Bosa Porvenir (Cra 49 Sur #91-13)</a:t>
            </a:r>
            <a:endParaRPr b="0" i="0" sz="2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725325" y="990463"/>
            <a:ext cx="63585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Georgia"/>
                <a:ea typeface="Georgia"/>
                <a:cs typeface="Georgia"/>
                <a:sym typeface="Georgia"/>
              </a:rPr>
              <a:t>Planteamiento del problema</a:t>
            </a:r>
            <a:endParaRPr b="1" i="0" sz="3600" u="none" cap="none" strike="noStrike">
              <a:solidFill>
                <a:srgbClr val="38AA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50585" y="2153538"/>
            <a:ext cx="6125100" cy="3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Actualmente, la peluquería lleva todos sus registros de forma manual en papel. El cálculo de ganancias se hace al inicio de cada semana de manera manual, lo que genera demoras y posibles errores. No existe un control claro sobre el stock ni sobre las ventas de productos, dificultando conocer utilidades reales.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833903" y="2087438"/>
            <a:ext cx="1874400" cy="0"/>
          </a:xfrm>
          <a:prstGeom prst="straightConnector1">
            <a:avLst/>
          </a:prstGeom>
          <a:noFill/>
          <a:ln>
            <a:noFill/>
          </a:ln>
        </p:spPr>
      </p:cxnSp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7275" y="1704763"/>
            <a:ext cx="3919925" cy="261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7153653" y="4306988"/>
            <a:ext cx="39198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Aprende a optimizar tu almacén para sacar el máximo provecho</a:t>
            </a:r>
            <a:r>
              <a:rPr b="0" i="0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(s. f.). www.google.com. </a:t>
            </a:r>
            <a:r>
              <a:rPr b="0" i="0" lang="es-CO" sz="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https://share.google/images/Ey8bKOHE1rZDfZNYZ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7145594" y="1200438"/>
            <a:ext cx="981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</a:t>
            </a:r>
            <a:endParaRPr b="1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1074875" y="1607100"/>
            <a:ext cx="61251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Georgia"/>
                <a:ea typeface="Georgia"/>
                <a:cs typeface="Georgia"/>
                <a:sym typeface="Georgia"/>
              </a:rPr>
              <a:t>Pregunta problema</a:t>
            </a:r>
            <a:endParaRPr b="1" i="0" sz="3600" u="none" cap="none" strike="noStrike">
              <a:solidFill>
                <a:srgbClr val="38AA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074875" y="2434475"/>
            <a:ext cx="62541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¿Cómo automatizar la gestión de empleados, stock, gestión de ventas y </a:t>
            </a: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reportes semanales</a:t>
            </a: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para mejorar el control del salón?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1183453" y="2704075"/>
            <a:ext cx="1874400" cy="0"/>
          </a:xfrm>
          <a:prstGeom prst="straightConnector1">
            <a:avLst/>
          </a:prstGeom>
          <a:noFill/>
          <a:ln>
            <a:noFill/>
          </a:ln>
        </p:spPr>
      </p:cxnSp>
      <p:pic>
        <p:nvPicPr>
          <p:cNvPr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9326" y="2470038"/>
            <a:ext cx="3854400" cy="1726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7819726" y="1899250"/>
            <a:ext cx="838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Peinados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7851372" y="4295338"/>
            <a:ext cx="376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potenciar tu peluquería: Trucos para aumentar tus ventas. (s. f.). www.google.com. </a:t>
            </a:r>
            <a:r>
              <a:rPr b="0" i="0" lang="es-C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https://share.google/images/QVsezTbIIsjeGw4Vi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1074875" y="1644175"/>
            <a:ext cx="7129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Georgia"/>
                <a:ea typeface="Georgia"/>
                <a:cs typeface="Georgia"/>
                <a:sym typeface="Georgia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074875" y="2344991"/>
            <a:ext cx="72543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esarrollar un sistema de información que permita gestionar las ventas en la </a:t>
            </a: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peluquería</a:t>
            </a: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Nellycita.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3500" y="2498187"/>
            <a:ext cx="2794700" cy="18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8532060" y="1922265"/>
            <a:ext cx="31779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s-CO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 escribiendo en un cuaderno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521900" y="4329332"/>
            <a:ext cx="288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 escribiendo en un cuaderno | Foto Premium</a:t>
            </a:r>
            <a:r>
              <a:rPr b="0" i="0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(s. f.). www.google.com. </a:t>
            </a:r>
            <a:r>
              <a:rPr b="0" i="0" lang="es-CO" sz="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https://share.google/images/gyfg5kVZ3XF0u6iZn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2905950" y="296875"/>
            <a:ext cx="6380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Objetivos específicos</a:t>
            </a:r>
            <a:endParaRPr b="1"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099013" y="1309397"/>
            <a:ext cx="7448100" cy="4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Registrar y actualizar los datos de los empleados junto con los servicios que realizan.</a:t>
            </a:r>
            <a:b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Organizar el catálogo de servicios y productos, incluyendo precios y disponibilidad en inventario.</a:t>
            </a:r>
            <a:b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Facilitar el registro de ventas para mantener un historial confiable de servicios y productos vendidos.</a:t>
            </a:r>
            <a:b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Automatizar el cálculo de ganancias para el negocio.</a:t>
            </a:r>
            <a:b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0" i="0" lang="es-CO" sz="2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Generar reportes semanales claros sobre ingresos, ganancias e inventario disponible.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8975" y="2663144"/>
            <a:ext cx="2652725" cy="176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9205700" y="2175082"/>
            <a:ext cx="2652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5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Calculadora Y Mano Escribir Fotografías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9205700" y="4582028"/>
            <a:ext cx="273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11.700+ Calculadora Y Mano Escribir Fotografías de stock, fotos e . . .</a:t>
            </a:r>
            <a:r>
              <a:rPr b="0" i="0" lang="es-CO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(s. f.). www.google.com. </a:t>
            </a:r>
            <a:r>
              <a:rPr b="0" i="0" lang="es-CO" sz="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https://share.google/images/QzDiN55IvI3A20PHe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4035900" y="296870"/>
            <a:ext cx="4120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Justificación</a:t>
            </a:r>
            <a:endParaRPr b="1"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t/>
            </a:r>
            <a:endParaRPr b="1" i="0" sz="48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6261875" y="1650490"/>
            <a:ext cx="4860600" cy="4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 un sistema digital, la peluquería mejorará la eficiencia en los cálculos, reducirá errores en pagos, controlará el inventario y obtendrá reportes confiables, facilitando mejores decisiones, ahorro de tiempo y transparencia en la distribución de ingresos.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150" y="2006125"/>
            <a:ext cx="3715925" cy="37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103489" y="1853922"/>
            <a:ext cx="3843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7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de datos de computadora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906150" y="5461700"/>
            <a:ext cx="412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-CO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de base de datos de computadora pc aislado | Vector Premium</a:t>
            </a:r>
            <a:r>
              <a:rPr b="0" i="0" lang="es-CO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(s. f.-b). www.google.com. </a:t>
            </a:r>
            <a:r>
              <a:rPr b="0" i="0" lang="es-CO" sz="9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https://share.google/images/js0AEvpG7OQZ1wIzJ</a:t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2795850" y="251518"/>
            <a:ext cx="66003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Alcance del proyecto</a:t>
            </a:r>
            <a:endParaRPr b="1"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t/>
            </a:r>
            <a:endParaRPr b="1" i="0" sz="48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196025" y="2431490"/>
            <a:ext cx="51774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 sistema cubrirá la gestión de empleados, el registro de servicios </a:t>
            </a: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 productos,</a:t>
            </a: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ventas y </a:t>
            </a: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reportes semanales</a:t>
            </a: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925" y="2532956"/>
            <a:ext cx="4946824" cy="27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488748" y="1925549"/>
            <a:ext cx="14148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6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s-CO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Recepcionista</a:t>
            </a:r>
            <a:endParaRPr b="0" i="1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516775" y="5316758"/>
            <a:ext cx="49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-CO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Consejos para impulsar la reventa en los salones de peluquería</a:t>
            </a:r>
            <a:r>
              <a:rPr b="0" i="0" lang="es-CO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(s. f.). www.google.com. </a:t>
            </a:r>
            <a:r>
              <a:rPr b="0" i="0" lang="es-CO" sz="12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https://share.google/images/hp1sK8whyfNc1bP5W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0" y="218100"/>
            <a:ext cx="34785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BPMN</a:t>
            </a:r>
            <a:endParaRPr b="1" i="0" sz="7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t/>
            </a:r>
            <a:endParaRPr b="1" i="0" sz="48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66" name="Google Shape;166;p9" title="Nellycita.png"/>
          <p:cNvPicPr preferRelativeResize="0"/>
          <p:nvPr/>
        </p:nvPicPr>
        <p:blipFill rotWithShape="1">
          <a:blip r:embed="rId3">
            <a:alphaModFix/>
          </a:blip>
          <a:srcRect b="9624" l="0" r="0" t="0"/>
          <a:stretch/>
        </p:blipFill>
        <p:spPr>
          <a:xfrm>
            <a:off x="3933450" y="0"/>
            <a:ext cx="754497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838200" y="296875"/>
            <a:ext cx="105156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Módulo 1 - Gestión de empleados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838200" y="2071905"/>
            <a:ext cx="10339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Este módulo ayuda a registrar y actualizar la información básica de cada empleado de la peluquería, como nombre, número de contacto y cargo.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También se pueden asociar los servicios que realiza cada empleado, lo que facilita el control de quién hizo qué servicio. 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Esto ayuda a calcular comisiones y analizar el rendimiento de cada trabajador.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838200" y="228136"/>
            <a:ext cx="105156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Módulo 2 - Gestión de productos y servicios 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838200" y="2458120"/>
            <a:ext cx="10175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Administra la lista de servicios que ofrece el salón de belleza (ejemplo: corte, tinte, manicure), incluyendo sus precios.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Maneja un stock de productos (ejemplo: tintes, shampoo, tratamientos), con entradas y salidas.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Genera alertas cuando un producto esté por agotarse.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838200" y="279507"/>
            <a:ext cx="105156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Módulo 3 - Gestión de Ventas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870750" y="2059700"/>
            <a:ext cx="104505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Guarda cada transacción de servicios y productos.</a:t>
            </a:r>
            <a:b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58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Datos mínimos: fecha, tipo de servicio/producto, monto pagado y responsable.</a:t>
            </a:r>
            <a:b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58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Permite automatizar las ganancias semanales por empleado.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58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58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838200" y="279507"/>
            <a:ext cx="105156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Módulo 4 - Gestión de reportes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870750" y="2059700"/>
            <a:ext cx="104505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generar reportes claros y organizados sobre diferentes áreas del salón, como ventas realizadas, estado del inventario y ganancias obtenidas.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 consultar información específica por fechas, empleados o servicios, ayudando a identificar tendencias y evaluar el rendimiento del negocio.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Además, apoya la toma de decisiones mostrando datos actualizados que permiten controlar mejor las operaciones y planificar estrategias futuras.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>
            <p:ph type="title"/>
          </p:nvPr>
        </p:nvSpPr>
        <p:spPr>
          <a:xfrm>
            <a:off x="321574" y="203694"/>
            <a:ext cx="108501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Técnicas de recolección y instrumentos-ROLES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581328" y="2254565"/>
            <a:ext cx="47169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CO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Encuesta:  para clientes</a:t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CO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Entrevista: empleados, administrador y dueño.</a:t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44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CO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Observación directa:Revisión de cuaderno.</a:t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44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CO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Sesiones en grupo.</a:t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14"/>
          <p:cNvSpPr txBox="1"/>
          <p:nvPr/>
        </p:nvSpPr>
        <p:spPr>
          <a:xfrm>
            <a:off x="5847894" y="2254570"/>
            <a:ext cx="5783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O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los distintos roles como </a:t>
            </a:r>
            <a:r>
              <a:rPr b="0" i="0" lang="es-CO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clientes, empleados, administrador y la dueña del salón</a:t>
            </a:r>
            <a:endParaRPr b="0" i="0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>
            <p:ph type="title"/>
          </p:nvPr>
        </p:nvSpPr>
        <p:spPr>
          <a:xfrm>
            <a:off x="727600" y="1660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Técnicas de recolección y instrumentos</a:t>
            </a:r>
            <a:endParaRPr/>
          </a:p>
        </p:txBody>
      </p:sp>
      <p:pic>
        <p:nvPicPr>
          <p:cNvPr id="209" name="Google Shape;209;p15" title="lv_0_20251001204018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600" y="1934175"/>
            <a:ext cx="2546551" cy="452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1) ¿Qué es lo que más te gusta de nuestra peluquería?. Número de respuestas: 45 respuestas." id="210" name="Google Shape;210;p15" title="1) ¿Qué es lo que más te gusta de nuestra peluquería?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6550" y="1644125"/>
            <a:ext cx="4102927" cy="19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2)  ¿Qué aspectos crees que deberíamos mejorar para darte un mejor servicio?. Número de respuestas: 45 respuestas." id="211" name="Google Shape;211;p15" title="2)  ¿Qué aspectos crees que deberíamos mejorar para darte un mejor servicio?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6550" y="3869000"/>
            <a:ext cx="4102927" cy="19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3)  Has tenido alguna experiencia negativa? Si es así, ¿qué sucedió?. Número de respuestas: 45 respuestas." id="212" name="Google Shape;212;p15" title="3)  Has tenido alguna experiencia negativa? Si es así, ¿qué sucedió?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6675" y="1644125"/>
            <a:ext cx="3596227" cy="171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4)  ¿Qué tipo de servicios nuevos te gustaría que ofreciéramos?. Número de respuestas: 44 respuestas." id="213" name="Google Shape;213;p15" title="4)  ¿Qué tipo de servicios nuevos te gustaría que ofreciéramos?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6675" y="3747824"/>
            <a:ext cx="3596227" cy="1715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Técnicas de recolección y instrumentos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t/>
            </a:r>
            <a:endParaRPr/>
          </a:p>
        </p:txBody>
      </p:sp>
      <p:pic>
        <p:nvPicPr>
          <p:cNvPr descr="Gráfico de las respuestas de Formularios. Título de la pregunta: 5)  ¿Qué factores te motivan a elegir nuestra peluquería sobre otras opciones?. Número de respuestas: 46 respuestas." id="220" name="Google Shape;220;p16" title="5)  ¿Qué factores te motivan a elegir nuestra peluquería sobre otras opciones?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499" y="1843225"/>
            <a:ext cx="3450998" cy="1646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6)  ¿Con qué frecuencia visitas nuestra peluquería?. Número de respuestas: 46 respuestas." id="221" name="Google Shape;221;p16" title="6)  ¿Con qué frecuencia visitas nuestra peluquería?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2925" y="2192673"/>
            <a:ext cx="3450998" cy="1457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7)  ¿Está satisfecho/a con la calidad del servicio recibido?. Número de respuestas: 46 respuestas." id="222" name="Google Shape;222;p16" title="7)  ¿Está satisfecho/a con la calidad del servicio recibido?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3850" y="2073925"/>
            <a:ext cx="3733100" cy="1576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8)  ¿Cómo calificas la atención del personal?. Número de respuestas: 46 respuestas." id="223" name="Google Shape;223;p16" title="8)  ¿Cómo calificas la atención del personal?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562" y="4001725"/>
            <a:ext cx="3450936" cy="1457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9)  ¿Recomendarías nuestra peluquería a familiares o amigos?. Número de respuestas: 46 respuestas." id="224" name="Google Shape;224;p16" title="9)  ¿Recomendarías nuestra peluquería a familiares o amigos?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2925" y="4001725"/>
            <a:ext cx="3450998" cy="1457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las respuestas de Formularios. Título de la pregunta: 10)  ¿Con qué frecuencia cambias de estilista o profesional en la peluquería?. Número de respuestas: 45 respuestas." id="225" name="Google Shape;225;p16" title="10)  ¿Con qué frecuencia cambias de estilista o profesional en la peluquería?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73875" y="4219400"/>
            <a:ext cx="3733089" cy="157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/>
          <p:nvPr>
            <p:ph type="title"/>
          </p:nvPr>
        </p:nvSpPr>
        <p:spPr>
          <a:xfrm>
            <a:off x="321574" y="203694"/>
            <a:ext cx="108501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Técnicas de recolección y instrumentos-ROLES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955344" y="1948400"/>
            <a:ext cx="100584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Clientes:</a:t>
            </a:r>
            <a: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valoran la buena atención y piden mayor presencia digital.</a:t>
            </a:r>
            <a:b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Empleados:</a:t>
            </a:r>
            <a: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solicitan automatizar inventario y ventas.</a:t>
            </a:r>
            <a:b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Administración:</a:t>
            </a:r>
            <a: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considera ineficiente el cálculo manual de comisiones.</a:t>
            </a:r>
            <a:b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Dueña:</a:t>
            </a:r>
            <a: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quiere más control en ventas e inventario.</a:t>
            </a:r>
            <a:b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2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Todos coinciden en que un sistema digital es necesario para mejorar organización y transparencia.</a:t>
            </a:r>
            <a:endParaRPr b="0" i="0" sz="3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AA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/>
          <p:nvPr>
            <p:ph type="title"/>
          </p:nvPr>
        </p:nvSpPr>
        <p:spPr>
          <a:xfrm>
            <a:off x="1834650" y="2766150"/>
            <a:ext cx="852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7776"/>
              <a:buNone/>
            </a:pPr>
            <a:r>
              <a:rPr lang="es-CO" sz="7200">
                <a:latin typeface="Georgia"/>
                <a:ea typeface="Georgia"/>
                <a:cs typeface="Georgia"/>
                <a:sym typeface="Georgia"/>
              </a:rPr>
              <a:t>Requisitos de software</a:t>
            </a:r>
            <a:r>
              <a:rPr lang="es-CO"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/>
        </p:nvSpPr>
        <p:spPr>
          <a:xfrm>
            <a:off x="1626174" y="535700"/>
            <a:ext cx="92136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45" name="Google Shape;245;p19"/>
          <p:cNvGraphicFramePr/>
          <p:nvPr/>
        </p:nvGraphicFramePr>
        <p:xfrm>
          <a:off x="1005475" y="167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114700"/>
                <a:gridCol w="7719600"/>
              </a:tblGrid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Registro de usuarios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Permite crear un usuario con datos únicos.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7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permitirá crear cuentas para empleados y administradores usando correo y contraseña, garantizando la seguridad del acceso.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 no funcionales: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Inicio de sesión por rol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Acceso por correo y contraseña según rol.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7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validará credenciales y dará acceso a funciones según si es Empleado o Administrador.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s-CO" sz="700" u="none" cap="none" strike="noStrike"/>
                        <a:t>Requerimientos no funcionales:</a:t>
                      </a:r>
                      <a:endParaRPr b="1" sz="7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/>
        </p:nvSpPr>
        <p:spPr>
          <a:xfrm>
            <a:off x="1540875" y="296875"/>
            <a:ext cx="950016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52" name="Google Shape;252;p20"/>
          <p:cNvGraphicFramePr/>
          <p:nvPr/>
        </p:nvGraphicFramePr>
        <p:xfrm>
          <a:off x="1210100" y="153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60875"/>
                <a:gridCol w="672740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RF03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Recuperación de contraseña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Restablecimiento por correo.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Si un usuario olvida su contraseña, el sistema enviará un enlace al correo para restablecerla.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RNF03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Google Shape;253;p20"/>
          <p:cNvGraphicFramePr/>
          <p:nvPr/>
        </p:nvGraphicFramePr>
        <p:xfrm>
          <a:off x="1210100" y="412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60875"/>
                <a:gridCol w="672740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RF04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Cierre de sesión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Seguridad de sesión.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usuario podrá cerrar sesión para proteger su cuenta e información.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/>
        </p:nvSpPr>
        <p:spPr>
          <a:xfrm>
            <a:off x="1540874" y="296875"/>
            <a:ext cx="9636641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60" name="Google Shape;260;p21"/>
          <p:cNvGraphicFramePr/>
          <p:nvPr/>
        </p:nvGraphicFramePr>
        <p:xfrm>
          <a:off x="2011925" y="173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54959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RF05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Visualización de servicios públicos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Información visible sin iniciar sesión.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Cualquier cliente podrá ver la lista de servicios y los precios en modo lectura.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Media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RF06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Visualización de productos públicos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Inventario en modo lectura.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Los clientes podrán ver los productos disponibles, su descripción y precio (solo lectura).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Media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/>
        </p:nvSpPr>
        <p:spPr>
          <a:xfrm>
            <a:off x="1540875" y="296875"/>
            <a:ext cx="93501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67" name="Google Shape;267;p22"/>
          <p:cNvGraphicFramePr/>
          <p:nvPr/>
        </p:nvGraphicFramePr>
        <p:xfrm>
          <a:off x="1841300" y="171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59531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requerimiento:}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RF07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Gestión de empleados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Manejo de datos del personal.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administrador podrá registrar, editar y eliminar empleados, y asociarles servicios.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RNF06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RF08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Gestión de servicios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Administrar catálogo de servicios.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administrador podrá agregar, modificar o eliminar servicios y asignarles precio y descripción.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RNF06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1540875" y="296875"/>
            <a:ext cx="962299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74" name="Google Shape;274;p23"/>
          <p:cNvGraphicFramePr/>
          <p:nvPr/>
        </p:nvGraphicFramePr>
        <p:xfrm>
          <a:off x="1039500" y="170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59531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RF09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Gestión de productos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Control de inventario.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administrador podrá agregar, editar o eliminar productos y definir unidades mínimas.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RNF04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5" name="Google Shape;275;p23"/>
          <p:cNvGraphicFramePr/>
          <p:nvPr/>
        </p:nvGraphicFramePr>
        <p:xfrm>
          <a:off x="1042175" y="405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82772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RF10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Registro de ventas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Historial de transacciones.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permitirá registrar ventas (servicio o producto) indicando fecha, hora, monto, cantidad (si aplica) y empleado responsable.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RNF07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/>
        </p:nvSpPr>
        <p:spPr>
          <a:xfrm>
            <a:off x="1540874" y="296875"/>
            <a:ext cx="9295447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82" name="Google Shape;282;p24"/>
          <p:cNvGraphicFramePr/>
          <p:nvPr/>
        </p:nvGraphicFramePr>
        <p:xfrm>
          <a:off x="785813" y="163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82772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Registro automático de fecha y hora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Marca temporal automática.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Cada venta o movimiento registrado quedará almacenado con fecha y hora automáticamente sin intervención del usuario.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RNF06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Validación de stock antes de venta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Control preventivo.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verificará el inventario antes de permitir registrar la venta de un producto y evitar ventas con stock insuficiente.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RNF10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/>
        </p:nvSpPr>
        <p:spPr>
          <a:xfrm>
            <a:off x="1540874" y="296875"/>
            <a:ext cx="9295447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89" name="Google Shape;289;p25"/>
          <p:cNvGraphicFramePr/>
          <p:nvPr/>
        </p:nvGraphicFramePr>
        <p:xfrm>
          <a:off x="425350" y="177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88106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RF13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Alerta de inventario bajo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Aviso preventivo para reabastecer.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generará una alerta cuando un producto llegue al nivel mínimo predefinido por el administrador.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RNF09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RF14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Consulta de historial de ventas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Filtrado por rangos y empleado.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administrador podrá consultar ventas por día, semana, mes, por empleado o por servicio/producto.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RNF08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 txBox="1"/>
          <p:nvPr/>
        </p:nvSpPr>
        <p:spPr>
          <a:xfrm>
            <a:off x="1540874" y="296875"/>
            <a:ext cx="92955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96" name="Google Shape;296;p26"/>
          <p:cNvGraphicFramePr/>
          <p:nvPr/>
        </p:nvGraphicFramePr>
        <p:xfrm>
          <a:off x="519113" y="19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88106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RF15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Cálculo automático de ganancias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División 60%/40% y totales por periodo.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calculará automáticamente la distribución de ganancias (60% empleado / 40% negocio) por empleado y por periodo seleccionado.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RNF10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Google Shape;297;p26"/>
          <p:cNvGraphicFramePr/>
          <p:nvPr/>
        </p:nvGraphicFramePr>
        <p:xfrm>
          <a:off x="519125" y="435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845820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RF16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Reporte de ingresos semanales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Informes automáticos según ventas.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generará un reporte semanal mostrando ingresos por servicios y productos, desglosado por empleado y por día.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Alta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RNF04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/>
        </p:nvSpPr>
        <p:spPr>
          <a:xfrm>
            <a:off x="1540874" y="296875"/>
            <a:ext cx="92955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304" name="Google Shape;304;p27"/>
          <p:cNvGraphicFramePr/>
          <p:nvPr/>
        </p:nvGraphicFramePr>
        <p:xfrm>
          <a:off x="510675" y="185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845820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RF17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Reportes personalizados (periodo)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Exportable y filtrable.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administrador podrá generar reportes por rango de fechas y exportarlos (PDF/Excel) con resumen de ventas, ganancias e inventario.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Media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RNF04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RF18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Historial personal de ventas (empleado)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Acceso limitado por rol.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empleado podrá consultar el historial de ventas que él mismo registró (fecha, monto, servicio/producto).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Media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/>
        </p:nvSpPr>
        <p:spPr>
          <a:xfrm>
            <a:off x="1540874" y="296875"/>
            <a:ext cx="92955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311" name="Google Shape;311;p28"/>
          <p:cNvGraphicFramePr/>
          <p:nvPr/>
        </p:nvGraphicFramePr>
        <p:xfrm>
          <a:off x="749525" y="173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715327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RF19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Subida de imagen opcional en ventas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Adjuntar evidencia (opcional).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empleado podrá adjuntar una foto opcional del servicio realizado o del producto vendido al registrar la venta.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Baja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RNF11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RF20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Reporte de inventario actualizado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Control de insumos.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mostrará un reporte con cantidades actuales, productos bajos y agotados.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Media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RNF10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/>
          <p:nvPr/>
        </p:nvSpPr>
        <p:spPr>
          <a:xfrm>
            <a:off x="1540874" y="296875"/>
            <a:ext cx="92955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318" name="Google Shape;318;p29"/>
          <p:cNvGraphicFramePr/>
          <p:nvPr/>
        </p:nvGraphicFramePr>
        <p:xfrm>
          <a:off x="1347788" y="163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2343150"/>
                <a:gridCol w="715327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RF21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Información pública del salón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Horarios, ubicación y contacto.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sistema mostrará datos públicos del salón (horarios, dirección, teléfono, promociones) visibles sin iniciar sesión.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Baja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RNF02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Google Shape;319;p29"/>
          <p:cNvGraphicFramePr/>
          <p:nvPr/>
        </p:nvGraphicFramePr>
        <p:xfrm>
          <a:off x="1347788" y="400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{2C05347D-6717-495E-85B5-09463775C1AC}</a:tableStyleId>
              </a:tblPr>
              <a:tblGrid>
                <a:gridCol w="1750900"/>
                <a:gridCol w="77455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RF22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Configuración y mantenimiento básico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Ajustes administrables.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El administrador podrá modificar información pública (logo, nombre, descripciones), parámetros de inventario (niveles mínimos) y configuraciones básicas del sistema.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Media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/>
                        <a:t>Requerimientos no funcionales:</a:t>
                      </a:r>
                      <a:endParaRPr b="1"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/>
                        <a:t>RNF12</a:t>
                      </a:r>
                      <a:endParaRPr sz="1000" u="none" cap="none" strike="noStrike"/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5050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/>
        </p:nvSpPr>
        <p:spPr>
          <a:xfrm>
            <a:off x="977428" y="267412"/>
            <a:ext cx="1023714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No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879350" y="2492825"/>
            <a:ext cx="139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Seguridad </a:t>
            </a:r>
            <a:endParaRPr b="1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7" name="Google Shape;327;p30"/>
          <p:cNvGraphicFramePr/>
          <p:nvPr/>
        </p:nvGraphicFramePr>
        <p:xfrm>
          <a:off x="2797250" y="1666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RNF01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Seguridad.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54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proteger los datos sensibles de usuarios y empleados.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implementar cifrado de contraseñas y autenticación segura para prevenir accesos no autorizados.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8" name="Google Shape;328;p30"/>
          <p:cNvGraphicFramePr/>
          <p:nvPr/>
        </p:nvGraphicFramePr>
        <p:xfrm>
          <a:off x="2797250" y="4269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RNF02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Usabilidad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ser fácil de usar por cualquier usuario sin necesidad de capacitación.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proceso de registro y navegación será intuitivo, con menús claros y pasos simplificados.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30"/>
          <p:cNvSpPr txBox="1"/>
          <p:nvPr/>
        </p:nvSpPr>
        <p:spPr>
          <a:xfrm>
            <a:off x="879350" y="5219538"/>
            <a:ext cx="127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1" i="0" lang="es-CO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Usabilidad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/>
        </p:nvSpPr>
        <p:spPr>
          <a:xfrm>
            <a:off x="477850" y="2592838"/>
            <a:ext cx="1617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Escalabilidad</a:t>
            </a:r>
            <a:endParaRPr b="1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6" name="Google Shape;336;p31"/>
          <p:cNvGraphicFramePr/>
          <p:nvPr/>
        </p:nvGraphicFramePr>
        <p:xfrm>
          <a:off x="2797250" y="1666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RNF03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Escalabilidad.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54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ser accesible desde múltiples dispositivos.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será compatible con computadores, tablets y smartphones, asegurando la misma funcionalidad en cada uno.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7" name="Google Shape;337;p31"/>
          <p:cNvGraphicFramePr/>
          <p:nvPr/>
        </p:nvGraphicFramePr>
        <p:xfrm>
          <a:off x="2797250" y="4269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RNF04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Rendimiento.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procesar múltiples solicitudes simultáneamente.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responderá en un tiempo máximo de 3 segundos bajo carga de usuarios concurrentes.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38" name="Google Shape;338;p31"/>
          <p:cNvSpPr txBox="1"/>
          <p:nvPr/>
        </p:nvSpPr>
        <p:spPr>
          <a:xfrm>
            <a:off x="477850" y="5219538"/>
            <a:ext cx="1746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b="1" i="0" lang="es-CO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Rendimiento.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977428" y="267412"/>
            <a:ext cx="1023714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No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/>
        </p:nvSpPr>
        <p:spPr>
          <a:xfrm>
            <a:off x="349450" y="2492825"/>
            <a:ext cx="1746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Disponibilidad</a:t>
            </a:r>
            <a:endParaRPr b="1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6" name="Google Shape;346;p32"/>
          <p:cNvGraphicFramePr/>
          <p:nvPr/>
        </p:nvGraphicFramePr>
        <p:xfrm>
          <a:off x="2797250" y="1666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RNF05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54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activo durante los horarios de trabajo de la peluquería.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tendrá una disponibilidad mínima del 95% en jornada laboral.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7" name="Google Shape;347;p32"/>
          <p:cNvGraphicFramePr/>
          <p:nvPr/>
        </p:nvGraphicFramePr>
        <p:xfrm>
          <a:off x="2797250" y="4269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RNF06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Interfaz.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ofrecer una interfaz clara y atractiva.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interfaz sera amigable, intuitiva y con diseño responsive para adaptarse a diferentes pantallas.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32"/>
          <p:cNvSpPr txBox="1"/>
          <p:nvPr/>
        </p:nvSpPr>
        <p:spPr>
          <a:xfrm>
            <a:off x="349450" y="5219538"/>
            <a:ext cx="1135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Interfaz 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977428" y="267412"/>
            <a:ext cx="1023714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No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/>
        </p:nvSpPr>
        <p:spPr>
          <a:xfrm>
            <a:off x="537600" y="2492825"/>
            <a:ext cx="1312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Validación</a:t>
            </a:r>
            <a:endParaRPr b="1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6" name="Google Shape;356;p33"/>
          <p:cNvGraphicFramePr/>
          <p:nvPr/>
        </p:nvGraphicFramePr>
        <p:xfrm>
          <a:off x="2797250" y="1666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RNF07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Validación.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54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garantizar que solo usuarios autorizados accedan.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incluirá autenticación por usuario y contraseña para el acceso a funciones críticas.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7" name="Google Shape;357;p33"/>
          <p:cNvGraphicFramePr/>
          <p:nvPr/>
        </p:nvGraphicFramePr>
        <p:xfrm>
          <a:off x="2797250" y="4269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RNF08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Compatibilidad.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funcionar en navegadores modernos.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Compatible con Chrome, Firefox, Edge y Safari en sus versiones actuales.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33"/>
          <p:cNvSpPr txBox="1"/>
          <p:nvPr/>
        </p:nvSpPr>
        <p:spPr>
          <a:xfrm>
            <a:off x="537600" y="5219538"/>
            <a:ext cx="1746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Compatibilidad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33"/>
          <p:cNvSpPr txBox="1"/>
          <p:nvPr/>
        </p:nvSpPr>
        <p:spPr>
          <a:xfrm>
            <a:off x="977428" y="267412"/>
            <a:ext cx="1023714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No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/>
        </p:nvSpPr>
        <p:spPr>
          <a:xfrm>
            <a:off x="542875" y="2492825"/>
            <a:ext cx="139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Fiabilidad</a:t>
            </a:r>
            <a:endParaRPr b="1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6" name="Google Shape;366;p34"/>
          <p:cNvGraphicFramePr/>
          <p:nvPr/>
        </p:nvGraphicFramePr>
        <p:xfrm>
          <a:off x="2797250" y="1666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RNF09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Fiabilidad.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54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responder de forma estable ante errores.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ocurrir un error, el sistema mostrará mensajes claros y permitirá recuperar el proceso sin pérdida de información.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7" name="Google Shape;367;p34"/>
          <p:cNvGraphicFramePr/>
          <p:nvPr/>
        </p:nvGraphicFramePr>
        <p:xfrm>
          <a:off x="2797250" y="4269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{72ACCA67-C14D-47B8-8F23-717DB967A16B}</a:tableStyleId>
              </a:tblPr>
              <a:tblGrid>
                <a:gridCol w="2580050"/>
                <a:gridCol w="4137450"/>
              </a:tblGrid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RNF10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Independencia de red.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almacenar información de manera local.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CCCCC"/>
                    </a:solidFill>
                  </a:tcPr>
                </a:tc>
              </a:tr>
              <a:tr h="6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datos se guardaran en bases locales para garantizar acceso incluso sin conexión externa.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37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 requerimiento: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CO" sz="1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Media.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34"/>
          <p:cNvSpPr txBox="1"/>
          <p:nvPr/>
        </p:nvSpPr>
        <p:spPr>
          <a:xfrm>
            <a:off x="496650" y="5219538"/>
            <a:ext cx="1746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Independencia de red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977428" y="267412"/>
            <a:ext cx="10237144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CO" sz="4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Requerimientos No funcionales</a:t>
            </a:r>
            <a:endParaRPr b="1" i="0" sz="4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Stakeholders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O"/>
              <a:t> </a:t>
            </a:r>
            <a:endParaRPr/>
          </a:p>
        </p:txBody>
      </p:sp>
      <p:pic>
        <p:nvPicPr>
          <p:cNvPr id="376" name="Google Shape;376;p35"/>
          <p:cNvPicPr preferRelativeResize="0"/>
          <p:nvPr/>
        </p:nvPicPr>
        <p:blipFill rotWithShape="1">
          <a:blip r:embed="rId3">
            <a:alphaModFix/>
          </a:blip>
          <a:srcRect b="45185" l="6346" r="36609" t="25083"/>
          <a:stretch/>
        </p:blipFill>
        <p:spPr>
          <a:xfrm>
            <a:off x="838200" y="2048748"/>
            <a:ext cx="9734024" cy="22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5"/>
          <p:cNvPicPr preferRelativeResize="0"/>
          <p:nvPr/>
        </p:nvPicPr>
        <p:blipFill rotWithShape="1">
          <a:blip r:embed="rId4">
            <a:alphaModFix/>
          </a:blip>
          <a:srcRect b="67532" l="28248" r="24185" t="20729"/>
          <a:stretch/>
        </p:blipFill>
        <p:spPr>
          <a:xfrm>
            <a:off x="838200" y="4809275"/>
            <a:ext cx="9734024" cy="1080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/>
          <p:nvPr>
            <p:ph type="title"/>
          </p:nvPr>
        </p:nvSpPr>
        <p:spPr>
          <a:xfrm>
            <a:off x="4744350" y="336700"/>
            <a:ext cx="27033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IEEE 830</a:t>
            </a:r>
            <a:endParaRPr/>
          </a:p>
        </p:txBody>
      </p:sp>
      <p:pic>
        <p:nvPicPr>
          <p:cNvPr id="384" name="Google Shape;384;p36"/>
          <p:cNvPicPr preferRelativeResize="0"/>
          <p:nvPr/>
        </p:nvPicPr>
        <p:blipFill rotWithShape="1">
          <a:blip r:embed="rId3">
            <a:alphaModFix/>
          </a:blip>
          <a:srcRect b="4832" l="0" r="0" t="4462"/>
          <a:stretch/>
        </p:blipFill>
        <p:spPr>
          <a:xfrm>
            <a:off x="3917350" y="2089925"/>
            <a:ext cx="4357299" cy="46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6"/>
          <p:cNvSpPr txBox="1"/>
          <p:nvPr/>
        </p:nvSpPr>
        <p:spPr>
          <a:xfrm>
            <a:off x="5493450" y="1503225"/>
            <a:ext cx="1697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O" sz="2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IEEE 830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/>
          <p:nvPr>
            <p:ph idx="4294967295" type="title"/>
          </p:nvPr>
        </p:nvSpPr>
        <p:spPr>
          <a:xfrm>
            <a:off x="985125" y="281725"/>
            <a:ext cx="4486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O" sz="6000">
                <a:latin typeface="Georgia"/>
                <a:ea typeface="Georgia"/>
                <a:cs typeface="Georgia"/>
                <a:sym typeface="Georgia"/>
              </a:rPr>
              <a:t>MOCKUPS</a:t>
            </a:r>
            <a:endParaRPr b="1" sz="6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2" name="Google Shape;392;p37"/>
          <p:cNvSpPr txBox="1"/>
          <p:nvPr/>
        </p:nvSpPr>
        <p:spPr>
          <a:xfrm>
            <a:off x="707924" y="3241575"/>
            <a:ext cx="50412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https://www.figma.com/proto/dO9TiJcJrI1Kh24n2RYkwy/Peluqueria-nellycita?node-id=0-1&amp;t=4wGCUHpt1ApEv50o-1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37" title="Screen_Recording_20251001_211907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5748" y="518100"/>
            <a:ext cx="2514476" cy="558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Normalización</a:t>
            </a:r>
            <a:endParaRPr/>
          </a:p>
        </p:txBody>
      </p:sp>
      <p:pic>
        <p:nvPicPr>
          <p:cNvPr id="400" name="Google Shape;400;p38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869425" y="1594500"/>
            <a:ext cx="10453150" cy="49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a64778d0d_1_1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Normalización</a:t>
            </a:r>
            <a:endParaRPr/>
          </a:p>
        </p:txBody>
      </p:sp>
      <p:pic>
        <p:nvPicPr>
          <p:cNvPr id="407" name="Google Shape;407;g3aa64778d0d_1_1"/>
          <p:cNvPicPr preferRelativeResize="0"/>
          <p:nvPr/>
        </p:nvPicPr>
        <p:blipFill rotWithShape="1">
          <a:blip r:embed="rId3">
            <a:alphaModFix/>
          </a:blip>
          <a:srcRect b="0" l="50658" r="0" t="0"/>
          <a:stretch/>
        </p:blipFill>
        <p:spPr>
          <a:xfrm>
            <a:off x="937313" y="1555750"/>
            <a:ext cx="10317376" cy="49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Normalización- 3FN</a:t>
            </a:r>
            <a:endParaRPr/>
          </a:p>
        </p:txBody>
      </p:sp>
      <p:pic>
        <p:nvPicPr>
          <p:cNvPr id="414" name="Google Shape;4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25" y="2198150"/>
            <a:ext cx="9734550" cy="34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Normalización 3 FN </a:t>
            </a:r>
            <a:endParaRPr/>
          </a:p>
        </p:txBody>
      </p:sp>
      <p:pic>
        <p:nvPicPr>
          <p:cNvPr id="421" name="Google Shape;42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85975"/>
            <a:ext cx="3871600" cy="2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000" y="3175000"/>
            <a:ext cx="7520349" cy="30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Normalización 3FN</a:t>
            </a:r>
            <a:endParaRPr/>
          </a:p>
        </p:txBody>
      </p:sp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325" y="1854200"/>
            <a:ext cx="11429351" cy="37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MER</a:t>
            </a:r>
            <a:endParaRPr/>
          </a:p>
        </p:txBody>
      </p:sp>
      <p:pic>
        <p:nvPicPr>
          <p:cNvPr id="436" name="Google Shape;43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125" y="1766025"/>
            <a:ext cx="11219476" cy="45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MERE</a:t>
            </a:r>
            <a:endParaRPr/>
          </a:p>
        </p:txBody>
      </p:sp>
      <p:pic>
        <p:nvPicPr>
          <p:cNvPr id="443" name="Google Shape;4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2950" y="1422925"/>
            <a:ext cx="8026098" cy="54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MODELO RELACIONAL</a:t>
            </a:r>
            <a:endParaRPr/>
          </a:p>
        </p:txBody>
      </p:sp>
      <p:pic>
        <p:nvPicPr>
          <p:cNvPr id="450" name="Google Shape;4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500" y="1488450"/>
            <a:ext cx="7522050" cy="52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0dd9669a6_0_2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MODELO RELACIONAL</a:t>
            </a:r>
            <a:endParaRPr/>
          </a:p>
        </p:txBody>
      </p:sp>
      <p:pic>
        <p:nvPicPr>
          <p:cNvPr id="457" name="Google Shape;457;g3b0dd9669a6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350" y="1518175"/>
            <a:ext cx="8451474" cy="53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 txBox="1"/>
          <p:nvPr>
            <p:ph type="title"/>
          </p:nvPr>
        </p:nvSpPr>
        <p:spPr>
          <a:xfrm>
            <a:off x="2341175" y="296875"/>
            <a:ext cx="59709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Diccionario de datos</a:t>
            </a:r>
            <a:endParaRPr/>
          </a:p>
        </p:txBody>
      </p:sp>
      <p:pic>
        <p:nvPicPr>
          <p:cNvPr id="464" name="Google Shape;46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7600"/>
            <a:ext cx="11887197" cy="4864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Diagrama de clases</a:t>
            </a:r>
            <a:endParaRPr/>
          </a:p>
        </p:txBody>
      </p:sp>
      <p:pic>
        <p:nvPicPr>
          <p:cNvPr id="471" name="Google Shape;471;p46"/>
          <p:cNvPicPr preferRelativeResize="0"/>
          <p:nvPr/>
        </p:nvPicPr>
        <p:blipFill rotWithShape="1">
          <a:blip r:embed="rId3">
            <a:alphaModFix/>
          </a:blip>
          <a:srcRect b="2959" l="6623" r="6108" t="0"/>
          <a:stretch/>
        </p:blipFill>
        <p:spPr>
          <a:xfrm>
            <a:off x="3387938" y="1449350"/>
            <a:ext cx="5416121" cy="540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7"/>
          <p:cNvSpPr txBox="1"/>
          <p:nvPr>
            <p:ph type="title"/>
          </p:nvPr>
        </p:nvSpPr>
        <p:spPr>
          <a:xfrm>
            <a:off x="3879900" y="296875"/>
            <a:ext cx="4432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Diagrama de Despliegue</a:t>
            </a:r>
            <a:endParaRPr/>
          </a:p>
        </p:txBody>
      </p:sp>
      <p:pic>
        <p:nvPicPr>
          <p:cNvPr id="478" name="Google Shape;47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450" y="1611800"/>
            <a:ext cx="8219025" cy="49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/>
          <p:nvPr>
            <p:ph type="title"/>
          </p:nvPr>
        </p:nvSpPr>
        <p:spPr>
          <a:xfrm>
            <a:off x="3591475" y="296875"/>
            <a:ext cx="44322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Diagrama de casos de uso</a:t>
            </a:r>
            <a:endParaRPr/>
          </a:p>
        </p:txBody>
      </p:sp>
      <p:pic>
        <p:nvPicPr>
          <p:cNvPr id="485" name="Google Shape;485;p48"/>
          <p:cNvPicPr preferRelativeResize="0"/>
          <p:nvPr/>
        </p:nvPicPr>
        <p:blipFill rotWithShape="1">
          <a:blip r:embed="rId3">
            <a:alphaModFix/>
          </a:blip>
          <a:srcRect b="7692" l="6623" r="3995" t="1596"/>
          <a:stretch/>
        </p:blipFill>
        <p:spPr>
          <a:xfrm>
            <a:off x="1725075" y="1460500"/>
            <a:ext cx="8985251" cy="53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"/>
          <p:cNvSpPr txBox="1"/>
          <p:nvPr>
            <p:ph type="title"/>
          </p:nvPr>
        </p:nvSpPr>
        <p:spPr>
          <a:xfrm>
            <a:off x="4240200" y="363458"/>
            <a:ext cx="37116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s-CO">
                <a:latin typeface="Georgia"/>
                <a:ea typeface="Georgia"/>
                <a:cs typeface="Georgia"/>
                <a:sym typeface="Georgia"/>
              </a:rPr>
              <a:t>Control de versiones</a:t>
            </a:r>
            <a:endParaRPr/>
          </a:p>
        </p:txBody>
      </p:sp>
      <p:graphicFrame>
        <p:nvGraphicFramePr>
          <p:cNvPr id="492" name="Google Shape;492;p49"/>
          <p:cNvGraphicFramePr/>
          <p:nvPr/>
        </p:nvGraphicFramePr>
        <p:xfrm>
          <a:off x="2238375" y="22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{EEAB0B2B-9C5B-4F86-9078-20AB51B1F84E}</a:tableStyleId>
              </a:tblPr>
              <a:tblGrid>
                <a:gridCol w="2188900"/>
                <a:gridCol w="2272150"/>
                <a:gridCol w="32542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s-CO" sz="2000" u="none" cap="none" strike="noStrike"/>
                        <a:t>Fecha</a:t>
                      </a:r>
                      <a:endParaRPr sz="20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s-CO" sz="2000" u="none" cap="none" strike="noStrike"/>
                        <a:t>Revisión</a:t>
                      </a:r>
                      <a:endParaRPr sz="20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s-CO" sz="2000" u="none" cap="none" strike="noStrike"/>
                        <a:t>Descripción</a:t>
                      </a:r>
                      <a:endParaRPr sz="20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2//09/2025</a:t>
                      </a:r>
                      <a:endParaRPr sz="20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1.0</a:t>
                      </a:r>
                      <a:endParaRPr sz="20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Módulos, RF y RNF</a:t>
                      </a:r>
                      <a:endParaRPr sz="20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4/09/2025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2.0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Árbol de problemas y objetivos específicos. 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23/09/2025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3.0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Técnicas de recolección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17/11/2025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4.0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RF,RNF y organización de datos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17/11/2025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5.0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O" sz="2000" u="none" cap="none" strike="noStrike"/>
                        <a:t>Control de versión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