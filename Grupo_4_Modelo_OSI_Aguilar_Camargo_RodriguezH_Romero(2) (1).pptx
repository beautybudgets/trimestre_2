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10287000" cx="18288000"/>
  <p:notesSz cx="6858000" cy="9144000"/>
  <p:embeddedFontLst>
    <p:embeddedFont>
      <p:font typeface="Schibsted Grotesk"/>
      <p:regular r:id="rId47"/>
      <p:bold r:id="rId48"/>
      <p:italic r:id="rId49"/>
      <p:boldItalic r:id="rId50"/>
    </p:embeddedFont>
    <p:embeddedFont>
      <p:font typeface="Inter"/>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5" roundtripDataSignature="AMtx7mil3V65oKf3EPbkIk7b8PtIC7Y0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SchibstedGrotesk-bold.fntdata"/><Relationship Id="rId47" Type="http://schemas.openxmlformats.org/officeDocument/2006/relationships/font" Target="fonts/SchibstedGrotesk-regular.fntdata"/><Relationship Id="rId49" Type="http://schemas.openxmlformats.org/officeDocument/2006/relationships/font" Target="fonts/SchibstedGrotes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Inter-regular.fntdata"/><Relationship Id="rId50" Type="http://schemas.openxmlformats.org/officeDocument/2006/relationships/font" Target="fonts/SchibstedGrotesk-boldItalic.fntdata"/><Relationship Id="rId53" Type="http://schemas.openxmlformats.org/officeDocument/2006/relationships/font" Target="fonts/Inter-italic.fntdata"/><Relationship Id="rId52" Type="http://schemas.openxmlformats.org/officeDocument/2006/relationships/font" Target="fonts/Inter-bold.fntdata"/><Relationship Id="rId11" Type="http://schemas.openxmlformats.org/officeDocument/2006/relationships/slide" Target="slides/slide6.xml"/><Relationship Id="rId55" Type="http://customschemas.google.com/relationships/presentationmetadata" Target="metadata"/><Relationship Id="rId10" Type="http://schemas.openxmlformats.org/officeDocument/2006/relationships/slide" Target="slides/slide5.xml"/><Relationship Id="rId54" Type="http://schemas.openxmlformats.org/officeDocument/2006/relationships/font" Target="fonts/Inter-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1"/>
          <p:cNvSpPr/>
          <p:nvPr>
            <p:ph idx="2" type="pic"/>
          </p:nvPr>
        </p:nvSpPr>
        <p:spPr>
          <a:xfrm>
            <a:off x="1792288" y="612775"/>
            <a:ext cx="5486400" cy="4114800"/>
          </a:xfrm>
          <a:prstGeom prst="rect">
            <a:avLst/>
          </a:prstGeom>
          <a:noFill/>
          <a:ln>
            <a:noFill/>
          </a:ln>
        </p:spPr>
      </p:sp>
      <p:sp>
        <p:nvSpPr>
          <p:cNvPr id="64" name="Google Shape;64;p5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6.png"/><Relationship Id="rId13" Type="http://schemas.openxmlformats.org/officeDocument/2006/relationships/image" Target="../media/image10.png"/><Relationship Id="rId12"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4.png"/><Relationship Id="rId9"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9.png"/><Relationship Id="rId7" Type="http://schemas.openxmlformats.org/officeDocument/2006/relationships/image" Target="../media/image18.png"/><Relationship Id="rId8"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view.genially.com/6916709c4272ffdca70fd83d/presentation-modelo-osi" TargetMode="External"/><Relationship Id="rId4"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9.png"/><Relationship Id="rId9" Type="http://schemas.openxmlformats.org/officeDocument/2006/relationships/hyperlink" Target="https://www.prored.es/el-modelo-osi/" TargetMode="External"/><Relationship Id="rId5" Type="http://schemas.openxmlformats.org/officeDocument/2006/relationships/image" Target="../media/image15.png"/><Relationship Id="rId6" Type="http://schemas.openxmlformats.org/officeDocument/2006/relationships/image" Target="../media/image6.png"/><Relationship Id="rId7" Type="http://schemas.openxmlformats.org/officeDocument/2006/relationships/image" Target="../media/image16.png"/><Relationship Id="rId8"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20.png"/><Relationship Id="rId6" Type="http://schemas.openxmlformats.org/officeDocument/2006/relationships/image" Target="../media/image31.png"/><Relationship Id="rId7"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20.png"/><Relationship Id="rId6" Type="http://schemas.openxmlformats.org/officeDocument/2006/relationships/image" Target="../media/image31.png"/><Relationship Id="rId7"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2.png"/><Relationship Id="rId5" Type="http://schemas.openxmlformats.org/officeDocument/2006/relationships/image" Target="../media/image30.png"/><Relationship Id="rId6" Type="http://schemas.openxmlformats.org/officeDocument/2006/relationships/hyperlink" Target="https://acortar.link/Kg7EHw"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2.png"/><Relationship Id="rId5" Type="http://schemas.openxmlformats.org/officeDocument/2006/relationships/image" Target="../media/image25.png"/></Relationships>
</file>

<file path=ppt/slides/_rels/slide8.xml.rels><?xml version="1.0" encoding="UTF-8" standalone="yes"?><Relationships xmlns="http://schemas.openxmlformats.org/package/2006/relationships"><Relationship Id="rId11" Type="http://schemas.openxmlformats.org/officeDocument/2006/relationships/image" Target="../media/image49.png"/><Relationship Id="rId10" Type="http://schemas.openxmlformats.org/officeDocument/2006/relationships/image" Target="../media/image42.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8.png"/><Relationship Id="rId4" Type="http://schemas.openxmlformats.org/officeDocument/2006/relationships/image" Target="../media/image27.png"/><Relationship Id="rId9" Type="http://schemas.openxmlformats.org/officeDocument/2006/relationships/image" Target="../media/image35.png"/><Relationship Id="rId5" Type="http://schemas.openxmlformats.org/officeDocument/2006/relationships/image" Target="../media/image37.png"/><Relationship Id="rId6" Type="http://schemas.openxmlformats.org/officeDocument/2006/relationships/image" Target="../media/image41.png"/><Relationship Id="rId7" Type="http://schemas.openxmlformats.org/officeDocument/2006/relationships/image" Target="../media/image33.png"/><Relationship Id="rId8" Type="http://schemas.openxmlformats.org/officeDocument/2006/relationships/image" Target="../media/image5.png"/></Relationships>
</file>

<file path=ppt/slides/_rels/slide9.xml.rels><?xml version="1.0" encoding="UTF-8" standalone="yes"?><Relationships xmlns="http://schemas.openxmlformats.org/package/2006/relationships"><Relationship Id="rId20" Type="http://schemas.openxmlformats.org/officeDocument/2006/relationships/slide" Target="/ppt/slides/slide14.xml"/><Relationship Id="rId11" Type="http://schemas.openxmlformats.org/officeDocument/2006/relationships/slide" Target="/ppt/slides/slide11.xml"/><Relationship Id="rId10" Type="http://schemas.openxmlformats.org/officeDocument/2006/relationships/image" Target="../media/image42.png"/><Relationship Id="rId13" Type="http://schemas.openxmlformats.org/officeDocument/2006/relationships/image" Target="../media/image49.png"/><Relationship Id="rId12" Type="http://schemas.openxmlformats.org/officeDocument/2006/relationships/image" Target="../media/image48.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8.png"/><Relationship Id="rId4" Type="http://schemas.openxmlformats.org/officeDocument/2006/relationships/image" Target="../media/image27.png"/><Relationship Id="rId9" Type="http://schemas.openxmlformats.org/officeDocument/2006/relationships/image" Target="../media/image50.png"/><Relationship Id="rId15" Type="http://schemas.openxmlformats.org/officeDocument/2006/relationships/image" Target="../media/image47.png"/><Relationship Id="rId14" Type="http://schemas.openxmlformats.org/officeDocument/2006/relationships/slide" Target="/ppt/slides/slide12.xml"/><Relationship Id="rId17" Type="http://schemas.openxmlformats.org/officeDocument/2006/relationships/slide" Target="/ppt/slides/slide13.xml"/><Relationship Id="rId16" Type="http://schemas.openxmlformats.org/officeDocument/2006/relationships/image" Target="../media/image35.png"/><Relationship Id="rId5" Type="http://schemas.openxmlformats.org/officeDocument/2006/relationships/image" Target="../media/image46.png"/><Relationship Id="rId19" Type="http://schemas.openxmlformats.org/officeDocument/2006/relationships/image" Target="../media/image5.png"/><Relationship Id="rId6" Type="http://schemas.openxmlformats.org/officeDocument/2006/relationships/image" Target="../media/image37.png"/><Relationship Id="rId18" Type="http://schemas.openxmlformats.org/officeDocument/2006/relationships/image" Target="../media/image57.png"/><Relationship Id="rId7" Type="http://schemas.openxmlformats.org/officeDocument/2006/relationships/image" Target="../media/image41.png"/><Relationship Id="rId8" Type="http://schemas.openxmlformats.org/officeDocument/2006/relationships/image" Target="../media/image33.png"/></Relationships>
</file>

<file path=ppt/slides/_rels/slide10.xml.rels><?xml version="1.0" encoding="UTF-8" standalone="yes"?><Relationships xmlns="http://schemas.openxmlformats.org/package/2006/relationships"><Relationship Id="rId20" Type="http://schemas.openxmlformats.org/officeDocument/2006/relationships/image" Target="../media/image59.png"/><Relationship Id="rId11" Type="http://schemas.openxmlformats.org/officeDocument/2006/relationships/image" Target="../media/image57.png"/><Relationship Id="rId10" Type="http://schemas.openxmlformats.org/officeDocument/2006/relationships/slide" Target="/ppt/slides/slide15.xml"/><Relationship Id="rId21" Type="http://schemas.openxmlformats.org/officeDocument/2006/relationships/hyperlink" Target="https://acortar.link/waSmoi" TargetMode="External"/><Relationship Id="rId13" Type="http://schemas.openxmlformats.org/officeDocument/2006/relationships/slide" Target="/ppt/slides/slide16.xml"/><Relationship Id="rId12" Type="http://schemas.openxmlformats.org/officeDocument/2006/relationships/image" Target="../media/image5.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8.png"/><Relationship Id="rId4" Type="http://schemas.openxmlformats.org/officeDocument/2006/relationships/image" Target="../media/image27.png"/><Relationship Id="rId9" Type="http://schemas.openxmlformats.org/officeDocument/2006/relationships/image" Target="../media/image49.png"/><Relationship Id="rId15" Type="http://schemas.openxmlformats.org/officeDocument/2006/relationships/image" Target="../media/image47.png"/><Relationship Id="rId14" Type="http://schemas.openxmlformats.org/officeDocument/2006/relationships/image" Target="../media/image37.png"/><Relationship Id="rId17" Type="http://schemas.openxmlformats.org/officeDocument/2006/relationships/slide" Target="/ppt/slides/slide17.xml"/><Relationship Id="rId16" Type="http://schemas.openxmlformats.org/officeDocument/2006/relationships/image" Target="../media/image35.png"/><Relationship Id="rId5" Type="http://schemas.openxmlformats.org/officeDocument/2006/relationships/image" Target="../media/image46.png"/><Relationship Id="rId19" Type="http://schemas.openxmlformats.org/officeDocument/2006/relationships/image" Target="../media/image60.png"/><Relationship Id="rId6" Type="http://schemas.openxmlformats.org/officeDocument/2006/relationships/image" Target="../media/image41.png"/><Relationship Id="rId18" Type="http://schemas.openxmlformats.org/officeDocument/2006/relationships/image" Target="../media/image50.png"/><Relationship Id="rId7" Type="http://schemas.openxmlformats.org/officeDocument/2006/relationships/image" Target="../media/image33.png"/><Relationship Id="rId8" Type="http://schemas.openxmlformats.org/officeDocument/2006/relationships/image" Target="../media/image4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6.png"/><Relationship Id="rId4" Type="http://schemas.openxmlformats.org/officeDocument/2006/relationships/image" Target="../media/image38.png"/><Relationship Id="rId5" Type="http://schemas.openxmlformats.org/officeDocument/2006/relationships/image" Target="../media/image33.png"/><Relationship Id="rId6" Type="http://schemas.openxmlformats.org/officeDocument/2006/relationships/image" Target="../media/image77.png"/><Relationship Id="rId7" Type="http://schemas.openxmlformats.org/officeDocument/2006/relationships/slide" Target="/ppt/slid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6.png"/><Relationship Id="rId4" Type="http://schemas.openxmlformats.org/officeDocument/2006/relationships/image" Target="../media/image38.png"/><Relationship Id="rId5" Type="http://schemas.openxmlformats.org/officeDocument/2006/relationships/image" Target="../media/image33.png"/><Relationship Id="rId6" Type="http://schemas.openxmlformats.org/officeDocument/2006/relationships/image" Target="../media/image61.png"/><Relationship Id="rId7" Type="http://schemas.openxmlformats.org/officeDocument/2006/relationships/slide" Target="/ppt/slid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6.png"/><Relationship Id="rId4" Type="http://schemas.openxmlformats.org/officeDocument/2006/relationships/image" Target="../media/image38.png"/><Relationship Id="rId5" Type="http://schemas.openxmlformats.org/officeDocument/2006/relationships/image" Target="../media/image33.png"/><Relationship Id="rId6" Type="http://schemas.openxmlformats.org/officeDocument/2006/relationships/image" Target="../media/image79.png"/><Relationship Id="rId7" Type="http://schemas.openxmlformats.org/officeDocument/2006/relationships/slide" Target="/ppt/slid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6.png"/><Relationship Id="rId4" Type="http://schemas.openxmlformats.org/officeDocument/2006/relationships/image" Target="../media/image38.png"/><Relationship Id="rId5" Type="http://schemas.openxmlformats.org/officeDocument/2006/relationships/image" Target="../media/image33.png"/><Relationship Id="rId6" Type="http://schemas.openxmlformats.org/officeDocument/2006/relationships/image" Target="../media/image82.png"/><Relationship Id="rId7" Type="http://schemas.openxmlformats.org/officeDocument/2006/relationships/slide" Target="/ppt/slid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6.png"/><Relationship Id="rId4" Type="http://schemas.openxmlformats.org/officeDocument/2006/relationships/image" Target="../media/image38.png"/><Relationship Id="rId5" Type="http://schemas.openxmlformats.org/officeDocument/2006/relationships/image" Target="../media/image33.png"/><Relationship Id="rId6" Type="http://schemas.openxmlformats.org/officeDocument/2006/relationships/image" Target="../media/image72.png"/><Relationship Id="rId7" Type="http://schemas.openxmlformats.org/officeDocument/2006/relationships/slide" Target="/ppt/slid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6.png"/><Relationship Id="rId4" Type="http://schemas.openxmlformats.org/officeDocument/2006/relationships/image" Target="../media/image38.png"/><Relationship Id="rId5" Type="http://schemas.openxmlformats.org/officeDocument/2006/relationships/image" Target="../media/image33.png"/><Relationship Id="rId6" Type="http://schemas.openxmlformats.org/officeDocument/2006/relationships/image" Target="../media/image68.png"/><Relationship Id="rId7" Type="http://schemas.openxmlformats.org/officeDocument/2006/relationships/slide" Target="/ppt/slid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6.png"/><Relationship Id="rId4" Type="http://schemas.openxmlformats.org/officeDocument/2006/relationships/image" Target="../media/image38.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slide" Target="/ppt/slides/slide10.xml"/></Relationships>
</file>

<file path=ppt/slides/_rels/slide18.xml.rels><?xml version="1.0" encoding="UTF-8" standalone="yes"?><Relationships xmlns="http://schemas.openxmlformats.org/package/2006/relationships"><Relationship Id="rId11" Type="http://schemas.openxmlformats.org/officeDocument/2006/relationships/slide" Target="/ppt/slides/slide19.xml"/><Relationship Id="rId10" Type="http://schemas.openxmlformats.org/officeDocument/2006/relationships/slide" Target="/ppt/slides/slide19.xml"/><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6.png"/><Relationship Id="rId4" Type="http://schemas.openxmlformats.org/officeDocument/2006/relationships/image" Target="../media/image19.png"/><Relationship Id="rId9" Type="http://schemas.openxmlformats.org/officeDocument/2006/relationships/slide" Target="/ppt/slides/slide19.xml"/><Relationship Id="rId5" Type="http://schemas.openxmlformats.org/officeDocument/2006/relationships/image" Target="../media/image11.png"/><Relationship Id="rId6" Type="http://schemas.openxmlformats.org/officeDocument/2006/relationships/image" Target="../media/image80.png"/><Relationship Id="rId7" Type="http://schemas.openxmlformats.org/officeDocument/2006/relationships/hyperlink" Target="https://datageneral.co/es/modelo-osi/" TargetMode="External"/><Relationship Id="rId8" Type="http://schemas.openxmlformats.org/officeDocument/2006/relationships/slide" Target="/ppt/slid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6.png"/><Relationship Id="rId4" Type="http://schemas.openxmlformats.org/officeDocument/2006/relationships/image" Target="../media/image63.png"/><Relationship Id="rId5" Type="http://schemas.openxmlformats.org/officeDocument/2006/relationships/image" Target="../media/image73.png"/><Relationship Id="rId6" Type="http://schemas.openxmlformats.org/officeDocument/2006/relationships/image" Target="../media/image6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6.png"/><Relationship Id="rId4" Type="http://schemas.openxmlformats.org/officeDocument/2006/relationships/image" Target="../media/image71.png"/><Relationship Id="rId5" Type="http://schemas.openxmlformats.org/officeDocument/2006/relationships/image" Target="../media/image63.png"/><Relationship Id="rId6" Type="http://schemas.openxmlformats.org/officeDocument/2006/relationships/image" Target="../media/image78.png"/><Relationship Id="rId7" Type="http://schemas.openxmlformats.org/officeDocument/2006/relationships/image" Target="../media/image65.png"/><Relationship Id="rId8" Type="http://schemas.openxmlformats.org/officeDocument/2006/relationships/image" Target="../media/image83.png"/></Relationships>
</file>

<file path=ppt/slides/_rels/slide21.xml.rels><?xml version="1.0" encoding="UTF-8" standalone="yes"?><Relationships xmlns="http://schemas.openxmlformats.org/package/2006/relationships"><Relationship Id="rId11" Type="http://schemas.openxmlformats.org/officeDocument/2006/relationships/slide" Target="/ppt/slides/slide22.xml"/><Relationship Id="rId10" Type="http://schemas.openxmlformats.org/officeDocument/2006/relationships/slide" Target="/ppt/slides/slide22.xml"/><Relationship Id="rId13" Type="http://schemas.openxmlformats.org/officeDocument/2006/relationships/slide" Target="/ppt/slides/slide22.xml"/><Relationship Id="rId12" Type="http://schemas.openxmlformats.org/officeDocument/2006/relationships/slide" Target="/ppt/slides/slide22.xml"/><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49.png"/><Relationship Id="rId9" Type="http://schemas.openxmlformats.org/officeDocument/2006/relationships/slide" Target="/ppt/slides/slide22.xml"/><Relationship Id="rId15" Type="http://schemas.openxmlformats.org/officeDocument/2006/relationships/slide" Target="/ppt/slides/slide22.xml"/><Relationship Id="rId14" Type="http://schemas.openxmlformats.org/officeDocument/2006/relationships/slide" Target="/ppt/slides/slide22.xml"/><Relationship Id="rId17" Type="http://schemas.openxmlformats.org/officeDocument/2006/relationships/slide" Target="/ppt/slides/slide22.xml"/><Relationship Id="rId16" Type="http://schemas.openxmlformats.org/officeDocument/2006/relationships/slide" Target="/ppt/slides/slide22.xml"/><Relationship Id="rId5" Type="http://schemas.openxmlformats.org/officeDocument/2006/relationships/image" Target="../media/image69.png"/><Relationship Id="rId6" Type="http://schemas.openxmlformats.org/officeDocument/2006/relationships/image" Target="../media/image75.png"/><Relationship Id="rId7" Type="http://schemas.openxmlformats.org/officeDocument/2006/relationships/slide" Target="/ppt/slides/slide22.xml"/><Relationship Id="rId8" Type="http://schemas.openxmlformats.org/officeDocument/2006/relationships/slide" Target="/ppt/slid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8.png"/><Relationship Id="rId4" Type="http://schemas.openxmlformats.org/officeDocument/2006/relationships/image" Target="../media/image33.png"/><Relationship Id="rId5" Type="http://schemas.openxmlformats.org/officeDocument/2006/relationships/image" Target="../media/image67.png"/><Relationship Id="rId6" Type="http://schemas.openxmlformats.org/officeDocument/2006/relationships/slide" Target="/ppt/slides/slide21.xml"/></Relationships>
</file>

<file path=ppt/slides/_rels/slide23.xml.rels><?xml version="1.0" encoding="UTF-8" standalone="yes"?><Relationships xmlns="http://schemas.openxmlformats.org/package/2006/relationships"><Relationship Id="rId11" Type="http://schemas.openxmlformats.org/officeDocument/2006/relationships/slide" Target="/ppt/slides/slide24.xml"/><Relationship Id="rId10" Type="http://schemas.openxmlformats.org/officeDocument/2006/relationships/slide" Target="/ppt/slides/slide24.xml"/><Relationship Id="rId13" Type="http://schemas.openxmlformats.org/officeDocument/2006/relationships/slide" Target="/ppt/slides/slide24.xml"/><Relationship Id="rId12" Type="http://schemas.openxmlformats.org/officeDocument/2006/relationships/slide" Target="/ppt/slides/slide24.xml"/><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slide" Target="/ppt/slides/slide24.xml"/><Relationship Id="rId9" Type="http://schemas.openxmlformats.org/officeDocument/2006/relationships/slide" Target="/ppt/slides/slide24.xml"/><Relationship Id="rId15" Type="http://schemas.openxmlformats.org/officeDocument/2006/relationships/image" Target="../media/image69.png"/><Relationship Id="rId14" Type="http://schemas.openxmlformats.org/officeDocument/2006/relationships/slide" Target="/ppt/slides/slide24.xml"/><Relationship Id="rId16" Type="http://schemas.openxmlformats.org/officeDocument/2006/relationships/image" Target="../media/image75.png"/><Relationship Id="rId5" Type="http://schemas.openxmlformats.org/officeDocument/2006/relationships/slide" Target="/ppt/slides/slide24.xml"/><Relationship Id="rId6" Type="http://schemas.openxmlformats.org/officeDocument/2006/relationships/slide" Target="/ppt/slides/slide24.xml"/><Relationship Id="rId7" Type="http://schemas.openxmlformats.org/officeDocument/2006/relationships/slide" Target="/ppt/slides/slide24.xml"/><Relationship Id="rId8" Type="http://schemas.openxmlformats.org/officeDocument/2006/relationships/slide" Target="/ppt/slid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8.png"/><Relationship Id="rId4" Type="http://schemas.openxmlformats.org/officeDocument/2006/relationships/image" Target="../media/image33.png"/><Relationship Id="rId5" Type="http://schemas.openxmlformats.org/officeDocument/2006/relationships/image" Target="../media/image91.png"/><Relationship Id="rId6" Type="http://schemas.openxmlformats.org/officeDocument/2006/relationships/slide" Target="/ppt/slid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69.png"/><Relationship Id="rId5" Type="http://schemas.openxmlformats.org/officeDocument/2006/relationships/image" Target="../media/image7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69.png"/><Relationship Id="rId5" Type="http://schemas.openxmlformats.org/officeDocument/2006/relationships/image" Target="../media/image75.png"/></Relationships>
</file>

<file path=ppt/slides/_rels/slide27.xml.rels><?xml version="1.0" encoding="UTF-8" standalone="yes"?><Relationships xmlns="http://schemas.openxmlformats.org/package/2006/relationships"><Relationship Id="rId11" Type="http://schemas.openxmlformats.org/officeDocument/2006/relationships/slide" Target="/ppt/slides/slide28.xml"/><Relationship Id="rId10" Type="http://schemas.openxmlformats.org/officeDocument/2006/relationships/slide" Target="/ppt/slides/slide28.xml"/><Relationship Id="rId13" Type="http://schemas.openxmlformats.org/officeDocument/2006/relationships/slide" Target="/ppt/slides/slide28.xml"/><Relationship Id="rId12" Type="http://schemas.openxmlformats.org/officeDocument/2006/relationships/slide" Target="/ppt/slides/slide28.xml"/><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49.png"/><Relationship Id="rId9" Type="http://schemas.openxmlformats.org/officeDocument/2006/relationships/slide" Target="/ppt/slides/slide28.xml"/><Relationship Id="rId15" Type="http://schemas.openxmlformats.org/officeDocument/2006/relationships/slide" Target="/ppt/slides/slide28.xml"/><Relationship Id="rId14" Type="http://schemas.openxmlformats.org/officeDocument/2006/relationships/slide" Target="/ppt/slides/slide28.xml"/><Relationship Id="rId16" Type="http://schemas.openxmlformats.org/officeDocument/2006/relationships/slide" Target="/ppt/slides/slide28.xml"/><Relationship Id="rId5" Type="http://schemas.openxmlformats.org/officeDocument/2006/relationships/image" Target="../media/image69.png"/><Relationship Id="rId6" Type="http://schemas.openxmlformats.org/officeDocument/2006/relationships/image" Target="../media/image75.png"/><Relationship Id="rId7" Type="http://schemas.openxmlformats.org/officeDocument/2006/relationships/slide" Target="/ppt/slides/slide28.xml"/><Relationship Id="rId8" Type="http://schemas.openxmlformats.org/officeDocument/2006/relationships/slide" Target="/ppt/slid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8.png"/><Relationship Id="rId4" Type="http://schemas.openxmlformats.org/officeDocument/2006/relationships/image" Target="../media/image33.png"/><Relationship Id="rId5" Type="http://schemas.openxmlformats.org/officeDocument/2006/relationships/image" Target="../media/image87.png"/><Relationship Id="rId6" Type="http://schemas.openxmlformats.org/officeDocument/2006/relationships/image" Target="../media/image112.png"/><Relationship Id="rId7" Type="http://schemas.openxmlformats.org/officeDocument/2006/relationships/image" Target="../media/image9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9.png"/><Relationship Id="rId4" Type="http://schemas.openxmlformats.org/officeDocument/2006/relationships/image" Target="../media/image9.png"/><Relationship Id="rId5" Type="http://schemas.openxmlformats.org/officeDocument/2006/relationships/image" Target="../media/image81.png"/><Relationship Id="rId6" Type="http://schemas.openxmlformats.org/officeDocument/2006/relationships/hyperlink" Target="https://es.wikipedia.org/wiki/Familia_de_protocolos_de_interne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9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97.png"/><Relationship Id="rId4" Type="http://schemas.openxmlformats.org/officeDocument/2006/relationships/image" Target="../media/image90.png"/><Relationship Id="rId5" Type="http://schemas.openxmlformats.org/officeDocument/2006/relationships/image" Target="../media/image8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92.png"/><Relationship Id="rId4" Type="http://schemas.openxmlformats.org/officeDocument/2006/relationships/image" Target="../media/image85.png"/><Relationship Id="rId5" Type="http://schemas.openxmlformats.org/officeDocument/2006/relationships/image" Target="../media/image8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98.png"/><Relationship Id="rId4" Type="http://schemas.openxmlformats.org/officeDocument/2006/relationships/image" Target="../media/image118.png"/><Relationship Id="rId5" Type="http://schemas.openxmlformats.org/officeDocument/2006/relationships/image" Target="../media/image10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96.png"/><Relationship Id="rId4" Type="http://schemas.openxmlformats.org/officeDocument/2006/relationships/image" Target="../media/image89.png"/><Relationship Id="rId5" Type="http://schemas.openxmlformats.org/officeDocument/2006/relationships/image" Target="../media/image103.png"/></Relationships>
</file>

<file path=ppt/slides/_rels/slide37.xml.rels><?xml version="1.0" encoding="UTF-8" standalone="yes"?><Relationships xmlns="http://schemas.openxmlformats.org/package/2006/relationships"><Relationship Id="rId11" Type="http://schemas.openxmlformats.org/officeDocument/2006/relationships/hyperlink" Target="https://youtube.com/shorts/idXZAzNxa8g?si=-Wtyk9t3lUqQSHlX" TargetMode="External"/><Relationship Id="rId10" Type="http://schemas.openxmlformats.org/officeDocument/2006/relationships/hyperlink" Target="https://youtu.be/-uIuOvbV7CE?si=0S9Q2jVBj1VK2OMy" TargetMode="External"/><Relationship Id="rId13" Type="http://schemas.openxmlformats.org/officeDocument/2006/relationships/hyperlink" Target="https://youtube.com/shorts/idXZAzNxa8g?si=-Wtyk9t3lUqQSHlX" TargetMode="External"/><Relationship Id="rId12" Type="http://schemas.openxmlformats.org/officeDocument/2006/relationships/image" Target="../media/image106.jpg"/><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9.png"/><Relationship Id="rId4" Type="http://schemas.openxmlformats.org/officeDocument/2006/relationships/image" Target="../media/image111.png"/><Relationship Id="rId9" Type="http://schemas.openxmlformats.org/officeDocument/2006/relationships/image" Target="../media/image101.jpg"/><Relationship Id="rId5" Type="http://schemas.openxmlformats.org/officeDocument/2006/relationships/image" Target="../media/image49.png"/><Relationship Id="rId6" Type="http://schemas.openxmlformats.org/officeDocument/2006/relationships/image" Target="../media/image100.png"/><Relationship Id="rId7" Type="http://schemas.openxmlformats.org/officeDocument/2006/relationships/image" Target="../media/image6.png"/><Relationship Id="rId8" Type="http://schemas.openxmlformats.org/officeDocument/2006/relationships/hyperlink" Target="https://youtu.be/-uIuOvbV7CE?si=0S9Q2jVBj1VK2OMy" TargetMode="External"/></Relationships>
</file>

<file path=ppt/slides/_rels/slide38.xml.rels><?xml version="1.0" encoding="UTF-8" standalone="yes"?><Relationships xmlns="http://schemas.openxmlformats.org/package/2006/relationships"><Relationship Id="rId20" Type="http://schemas.openxmlformats.org/officeDocument/2006/relationships/hyperlink" Target="https://www.opit.com/magazine/osi-model-in-computer-network/" TargetMode="External"/><Relationship Id="rId22" Type="http://schemas.openxmlformats.org/officeDocument/2006/relationships/hyperlink" Target="https://www.geeksforgeeks.org/computer-networks/transport-layer-in-osi-model/" TargetMode="External"/><Relationship Id="rId21" Type="http://schemas.openxmlformats.org/officeDocument/2006/relationships/hyperlink" Target="https://www.opit.com/magazine/osi-model-in-computer-network/" TargetMode="External"/><Relationship Id="rId24" Type="http://schemas.openxmlformats.org/officeDocument/2006/relationships/hyperlink" Target="https://data-flair.training/blogs/osi-model-in-computer-network/" TargetMode="External"/><Relationship Id="rId23" Type="http://schemas.openxmlformats.org/officeDocument/2006/relationships/hyperlink" Target="https://www.geeksforgeeks.org/computer-networks/transport-layer-in-osi-model/" TargetMode="External"/><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1.png"/><Relationship Id="rId4" Type="http://schemas.openxmlformats.org/officeDocument/2006/relationships/image" Target="../media/image15.png"/><Relationship Id="rId9" Type="http://schemas.openxmlformats.org/officeDocument/2006/relationships/hyperlink" Target="https://www.techtarget.com/searchnetworking/definition/OSI" TargetMode="External"/><Relationship Id="rId26" Type="http://schemas.openxmlformats.org/officeDocument/2006/relationships/hyperlink" Target="https://www.pynetlabs.com/what-is-the-difference-between-packet-and-frame/" TargetMode="External"/><Relationship Id="rId25" Type="http://schemas.openxmlformats.org/officeDocument/2006/relationships/hyperlink" Target="https://www.pynetlabs.com/what-is-the-difference-between-packet-and-frame/" TargetMode="External"/><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6.png"/><Relationship Id="rId8" Type="http://schemas.openxmlformats.org/officeDocument/2006/relationships/hyperlink" Target="https://www.techtarget.com/searchnetworking/definition/OSI" TargetMode="External"/><Relationship Id="rId11" Type="http://schemas.openxmlformats.org/officeDocument/2006/relationships/hyperlink" Target="https://www.deltaprotect.com/blog/modelo-osi" TargetMode="External"/><Relationship Id="rId10" Type="http://schemas.openxmlformats.org/officeDocument/2006/relationships/hyperlink" Target="https://www.deltaprotect.com/blog/modelo-osi" TargetMode="External"/><Relationship Id="rId13" Type="http://schemas.openxmlformats.org/officeDocument/2006/relationships/hyperlink" Target="https://learningnetwork.cisco.com/s/article/OSI-Model-Reference-Sheet" TargetMode="External"/><Relationship Id="rId12" Type="http://schemas.openxmlformats.org/officeDocument/2006/relationships/hyperlink" Target="https://learningnetwork.cisco.com/s/article/OSI-Model-Reference-Sheet" TargetMode="External"/><Relationship Id="rId15" Type="http://schemas.openxmlformats.org/officeDocument/2006/relationships/hyperlink" Target="https://www.cloudflare.com/es-es/learning/ddos/glossary/open-systems-interconnection-model-osi/" TargetMode="External"/><Relationship Id="rId14" Type="http://schemas.openxmlformats.org/officeDocument/2006/relationships/hyperlink" Target="https://www.cloudflare.com/es-es/learning/ddos/glossary/open-systems-interconnection-model-osi/" TargetMode="External"/><Relationship Id="rId17" Type="http://schemas.openxmlformats.org/officeDocument/2006/relationships/hyperlink" Target="https://data-flair.training/blogs/osi-model-in-computer-network/" TargetMode="External"/><Relationship Id="rId16" Type="http://schemas.openxmlformats.org/officeDocument/2006/relationships/hyperlink" Target="https://data-flair.training/blogs/osi-model-in-computer-network/" TargetMode="External"/><Relationship Id="rId19" Type="http://schemas.openxmlformats.org/officeDocument/2006/relationships/hyperlink" Target="https://www.pynetlabs.com/what-is-the-difference-between-packet-and-frame/" TargetMode="External"/><Relationship Id="rId18" Type="http://schemas.openxmlformats.org/officeDocument/2006/relationships/hyperlink" Target="https://www.pynetlabs.com/what-is-the-difference-between-packet-and-frame/"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9.png"/><Relationship Id="rId4" Type="http://schemas.openxmlformats.org/officeDocument/2006/relationships/image" Target="../media/image111.png"/><Relationship Id="rId9" Type="http://schemas.openxmlformats.org/officeDocument/2006/relationships/hyperlink" Target="https://www.opit.com/magazine/osi-model-in-computer-network/" TargetMode="External"/><Relationship Id="rId5" Type="http://schemas.openxmlformats.org/officeDocument/2006/relationships/image" Target="../media/image49.png"/><Relationship Id="rId6" Type="http://schemas.openxmlformats.org/officeDocument/2006/relationships/image" Target="../media/image100.png"/><Relationship Id="rId7" Type="http://schemas.openxmlformats.org/officeDocument/2006/relationships/image" Target="../media/image6.png"/><Relationship Id="rId8" Type="http://schemas.openxmlformats.org/officeDocument/2006/relationships/hyperlink" Target="https://www.opit.com/magazine/osi-model-in-computer-network/" TargetMode="External"/><Relationship Id="rId11" Type="http://schemas.openxmlformats.org/officeDocument/2006/relationships/hyperlink" Target="https://www.geeksforgeeks.org/computer-networks/transport-layer-in-osi-model/" TargetMode="External"/><Relationship Id="rId10" Type="http://schemas.openxmlformats.org/officeDocument/2006/relationships/hyperlink" Target="https://www.geeksforgeeks.org/computer-networks/transport-layer-in-osi-model/" TargetMode="External"/><Relationship Id="rId13" Type="http://schemas.openxmlformats.org/officeDocument/2006/relationships/hyperlink" Target="https://www.hostingtg.com/blog/modelo-osi/#Capas_y_Arquitectura_del_Modelo_OSI" TargetMode="External"/><Relationship Id="rId12" Type="http://schemas.openxmlformats.org/officeDocument/2006/relationships/hyperlink" Target="https://www.hostingtg.com/blog/modelo-osi/#Capas_y_Arquitectura_del_Modelo_OSI" TargetMode="External"/><Relationship Id="rId15" Type="http://schemas.openxmlformats.org/officeDocument/2006/relationships/hyperlink" Target="https://www.macverify.com/blog/protocol-reference.php?utm_source=chatgpt.com" TargetMode="External"/><Relationship Id="rId14" Type="http://schemas.openxmlformats.org/officeDocument/2006/relationships/hyperlink" Target="https://www.macverify.com/blog/protocol-reference.php?utm_source=chatgpt.com" TargetMode="External"/><Relationship Id="rId17" Type="http://schemas.openxmlformats.org/officeDocument/2006/relationships/hyperlink" Target="https://infocellar.com/networks/osi-model/#:~:text=de%20193%20bits).-,Comunicaci%C3%B3n%20entre%20capas%20(comunicaci%C3%B3n%20vertical),transmite%20los%20datos%20hacia%20arriba" TargetMode="External"/><Relationship Id="rId16" Type="http://schemas.openxmlformats.org/officeDocument/2006/relationships/hyperlink" Target="https://infocellar.com/networks/osi-model/#:~:text=de%20193%20bits).-,Comunicaci%C3%B3n%20entre%20capas%20(comunicaci%C3%B3n%20vertical),transmite%20los%20datos%20hacia%20arriba"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9.png"/><Relationship Id="rId4" Type="http://schemas.openxmlformats.org/officeDocument/2006/relationships/image" Target="../media/image111.png"/><Relationship Id="rId5" Type="http://schemas.openxmlformats.org/officeDocument/2006/relationships/image" Target="../media/image49.png"/><Relationship Id="rId6" Type="http://schemas.openxmlformats.org/officeDocument/2006/relationships/image" Target="../media/image100.png"/><Relationship Id="rId7"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 Id="rId4" Type="http://schemas.openxmlformats.org/officeDocument/2006/relationships/image" Target="../media/image14.png"/><Relationship Id="rId9"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9.png"/><Relationship Id="rId7" Type="http://schemas.openxmlformats.org/officeDocument/2006/relationships/image" Target="../media/image18.png"/><Relationship Id="rId8" Type="http://schemas.openxmlformats.org/officeDocument/2006/relationships/image" Target="../media/image3.png"/><Relationship Id="rId11" Type="http://schemas.openxmlformats.org/officeDocument/2006/relationships/image" Target="../media/image2.png"/><Relationship Id="rId10" Type="http://schemas.openxmlformats.org/officeDocument/2006/relationships/image" Target="../media/image16.png"/><Relationship Id="rId13" Type="http://schemas.openxmlformats.org/officeDocument/2006/relationships/image" Target="../media/image10.png"/><Relationship Id="rId12"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83" name="Shape 83"/>
        <p:cNvGrpSpPr/>
        <p:nvPr/>
      </p:nvGrpSpPr>
      <p:grpSpPr>
        <a:xfrm>
          <a:off x="0" y="0"/>
          <a:ext cx="0" cy="0"/>
          <a:chOff x="0" y="0"/>
          <a:chExt cx="0" cy="0"/>
        </a:xfrm>
      </p:grpSpPr>
      <p:sp>
        <p:nvSpPr>
          <p:cNvPr id="84" name="Google Shape;84;p1"/>
          <p:cNvSpPr/>
          <p:nvPr/>
        </p:nvSpPr>
        <p:spPr>
          <a:xfrm>
            <a:off x="3209606" y="-1899972"/>
            <a:ext cx="3033464" cy="2928672"/>
          </a:xfrm>
          <a:custGeom>
            <a:rect b="b" l="l" r="r" t="t"/>
            <a:pathLst>
              <a:path extrusionOk="0" h="2928672" w="3033464">
                <a:moveTo>
                  <a:pt x="0" y="0"/>
                </a:moveTo>
                <a:lnTo>
                  <a:pt x="3033464" y="0"/>
                </a:lnTo>
                <a:lnTo>
                  <a:pt x="3033464" y="2928672"/>
                </a:lnTo>
                <a:lnTo>
                  <a:pt x="0" y="2928672"/>
                </a:lnTo>
                <a:lnTo>
                  <a:pt x="0" y="0"/>
                </a:lnTo>
                <a:close/>
              </a:path>
            </a:pathLst>
          </a:custGeom>
          <a:blipFill rotWithShape="1">
            <a:blip r:embed="rId3">
              <a:alphaModFix/>
            </a:blip>
            <a:stretch>
              <a:fillRect b="0" l="0" r="0" t="0"/>
            </a:stretch>
          </a:blipFill>
          <a:ln>
            <a:noFill/>
          </a:ln>
        </p:spPr>
      </p:sp>
      <p:sp>
        <p:nvSpPr>
          <p:cNvPr id="85" name="Google Shape;85;p1"/>
          <p:cNvSpPr/>
          <p:nvPr/>
        </p:nvSpPr>
        <p:spPr>
          <a:xfrm rot="-5400000">
            <a:off x="16187865" y="-796535"/>
            <a:ext cx="2223155" cy="2693250"/>
          </a:xfrm>
          <a:custGeom>
            <a:rect b="b" l="l" r="r" t="t"/>
            <a:pathLst>
              <a:path extrusionOk="0" h="2693250" w="2223155">
                <a:moveTo>
                  <a:pt x="0" y="0"/>
                </a:moveTo>
                <a:lnTo>
                  <a:pt x="2223155" y="0"/>
                </a:lnTo>
                <a:lnTo>
                  <a:pt x="2223155" y="2693250"/>
                </a:lnTo>
                <a:lnTo>
                  <a:pt x="0" y="2693250"/>
                </a:lnTo>
                <a:lnTo>
                  <a:pt x="0" y="0"/>
                </a:lnTo>
                <a:close/>
              </a:path>
            </a:pathLst>
          </a:custGeom>
          <a:blipFill rotWithShape="1">
            <a:blip r:embed="rId4">
              <a:alphaModFix/>
            </a:blip>
            <a:stretch>
              <a:fillRect b="0" l="0" r="0" t="0"/>
            </a:stretch>
          </a:blipFill>
          <a:ln>
            <a:noFill/>
          </a:ln>
        </p:spPr>
      </p:sp>
      <p:sp>
        <p:nvSpPr>
          <p:cNvPr id="86" name="Google Shape;86;p1"/>
          <p:cNvSpPr/>
          <p:nvPr/>
        </p:nvSpPr>
        <p:spPr>
          <a:xfrm>
            <a:off x="17129335" y="5013990"/>
            <a:ext cx="2850752" cy="2936167"/>
          </a:xfrm>
          <a:custGeom>
            <a:rect b="b" l="l" r="r" t="t"/>
            <a:pathLst>
              <a:path extrusionOk="0" h="2936167" w="2850752">
                <a:moveTo>
                  <a:pt x="0" y="0"/>
                </a:moveTo>
                <a:lnTo>
                  <a:pt x="2850752" y="0"/>
                </a:lnTo>
                <a:lnTo>
                  <a:pt x="2850752" y="2936168"/>
                </a:lnTo>
                <a:lnTo>
                  <a:pt x="0" y="2936168"/>
                </a:lnTo>
                <a:lnTo>
                  <a:pt x="0" y="0"/>
                </a:lnTo>
                <a:close/>
              </a:path>
            </a:pathLst>
          </a:custGeom>
          <a:blipFill rotWithShape="1">
            <a:blip r:embed="rId5">
              <a:alphaModFix/>
            </a:blip>
            <a:stretch>
              <a:fillRect b="0" l="0" r="0" t="0"/>
            </a:stretch>
          </a:blipFill>
          <a:ln>
            <a:noFill/>
          </a:ln>
        </p:spPr>
      </p:sp>
      <p:sp>
        <p:nvSpPr>
          <p:cNvPr id="87" name="Google Shape;87;p1"/>
          <p:cNvSpPr/>
          <p:nvPr/>
        </p:nvSpPr>
        <p:spPr>
          <a:xfrm>
            <a:off x="16286747" y="8188283"/>
            <a:ext cx="3191605" cy="3428482"/>
          </a:xfrm>
          <a:custGeom>
            <a:rect b="b" l="l" r="r" t="t"/>
            <a:pathLst>
              <a:path extrusionOk="0" h="3428482" w="3191605">
                <a:moveTo>
                  <a:pt x="0" y="0"/>
                </a:moveTo>
                <a:lnTo>
                  <a:pt x="3191605" y="0"/>
                </a:lnTo>
                <a:lnTo>
                  <a:pt x="3191605" y="3428481"/>
                </a:lnTo>
                <a:lnTo>
                  <a:pt x="0" y="3428481"/>
                </a:lnTo>
                <a:lnTo>
                  <a:pt x="0" y="0"/>
                </a:lnTo>
                <a:close/>
              </a:path>
            </a:pathLst>
          </a:custGeom>
          <a:blipFill rotWithShape="1">
            <a:blip r:embed="rId6">
              <a:alphaModFix/>
            </a:blip>
            <a:stretch>
              <a:fillRect b="0" l="0" r="0" t="0"/>
            </a:stretch>
          </a:blipFill>
          <a:ln>
            <a:noFill/>
          </a:ln>
        </p:spPr>
      </p:sp>
      <p:sp>
        <p:nvSpPr>
          <p:cNvPr id="88" name="Google Shape;88;p1"/>
          <p:cNvSpPr/>
          <p:nvPr/>
        </p:nvSpPr>
        <p:spPr>
          <a:xfrm>
            <a:off x="10959138" y="9141564"/>
            <a:ext cx="4993680" cy="1897598"/>
          </a:xfrm>
          <a:custGeom>
            <a:rect b="b" l="l" r="r" t="t"/>
            <a:pathLst>
              <a:path extrusionOk="0" h="1897598" w="4993680">
                <a:moveTo>
                  <a:pt x="0" y="0"/>
                </a:moveTo>
                <a:lnTo>
                  <a:pt x="4993679" y="0"/>
                </a:lnTo>
                <a:lnTo>
                  <a:pt x="4993679" y="1897598"/>
                </a:lnTo>
                <a:lnTo>
                  <a:pt x="0" y="1897598"/>
                </a:lnTo>
                <a:lnTo>
                  <a:pt x="0" y="0"/>
                </a:lnTo>
                <a:close/>
              </a:path>
            </a:pathLst>
          </a:custGeom>
          <a:blipFill rotWithShape="1">
            <a:blip r:embed="rId7">
              <a:alphaModFix/>
            </a:blip>
            <a:stretch>
              <a:fillRect b="0" l="0" r="0" t="0"/>
            </a:stretch>
          </a:blipFill>
          <a:ln>
            <a:noFill/>
          </a:ln>
        </p:spPr>
      </p:sp>
      <p:sp>
        <p:nvSpPr>
          <p:cNvPr id="89" name="Google Shape;89;p1"/>
          <p:cNvSpPr/>
          <p:nvPr/>
        </p:nvSpPr>
        <p:spPr>
          <a:xfrm rot="1574984">
            <a:off x="11006399" y="-2101501"/>
            <a:ext cx="4375122" cy="3603510"/>
          </a:xfrm>
          <a:custGeom>
            <a:rect b="b" l="l" r="r" t="t"/>
            <a:pathLst>
              <a:path extrusionOk="0" h="3603510" w="4375122">
                <a:moveTo>
                  <a:pt x="0" y="0"/>
                </a:moveTo>
                <a:lnTo>
                  <a:pt x="4375123" y="0"/>
                </a:lnTo>
                <a:lnTo>
                  <a:pt x="4375123" y="3603510"/>
                </a:lnTo>
                <a:lnTo>
                  <a:pt x="0" y="3603510"/>
                </a:lnTo>
                <a:lnTo>
                  <a:pt x="0" y="0"/>
                </a:lnTo>
                <a:close/>
              </a:path>
            </a:pathLst>
          </a:custGeom>
          <a:blipFill rotWithShape="1">
            <a:blip r:embed="rId8">
              <a:alphaModFix/>
            </a:blip>
            <a:stretch>
              <a:fillRect b="0" l="0" r="0" t="0"/>
            </a:stretch>
          </a:blipFill>
          <a:ln>
            <a:noFill/>
          </a:ln>
        </p:spPr>
      </p:sp>
      <p:sp>
        <p:nvSpPr>
          <p:cNvPr id="90" name="Google Shape;90;p1"/>
          <p:cNvSpPr/>
          <p:nvPr/>
        </p:nvSpPr>
        <p:spPr>
          <a:xfrm>
            <a:off x="-1595802" y="2283727"/>
            <a:ext cx="3191605" cy="3428482"/>
          </a:xfrm>
          <a:custGeom>
            <a:rect b="b" l="l" r="r" t="t"/>
            <a:pathLst>
              <a:path extrusionOk="0" h="3428482" w="3191605">
                <a:moveTo>
                  <a:pt x="0" y="0"/>
                </a:moveTo>
                <a:lnTo>
                  <a:pt x="3191604" y="0"/>
                </a:lnTo>
                <a:lnTo>
                  <a:pt x="3191604" y="3428482"/>
                </a:lnTo>
                <a:lnTo>
                  <a:pt x="0" y="3428482"/>
                </a:lnTo>
                <a:lnTo>
                  <a:pt x="0" y="0"/>
                </a:lnTo>
                <a:close/>
              </a:path>
            </a:pathLst>
          </a:custGeom>
          <a:blipFill rotWithShape="1">
            <a:blip r:embed="rId9">
              <a:alphaModFix/>
            </a:blip>
            <a:stretch>
              <a:fillRect b="0" l="0" r="0" t="0"/>
            </a:stretch>
          </a:blipFill>
          <a:ln>
            <a:noFill/>
          </a:ln>
        </p:spPr>
      </p:sp>
      <p:sp>
        <p:nvSpPr>
          <p:cNvPr id="91" name="Google Shape;91;p1"/>
          <p:cNvSpPr/>
          <p:nvPr/>
        </p:nvSpPr>
        <p:spPr>
          <a:xfrm>
            <a:off x="-679615" y="8681974"/>
            <a:ext cx="3889222" cy="4005753"/>
          </a:xfrm>
          <a:custGeom>
            <a:rect b="b" l="l" r="r" t="t"/>
            <a:pathLst>
              <a:path extrusionOk="0" h="4005753" w="3889222">
                <a:moveTo>
                  <a:pt x="0" y="0"/>
                </a:moveTo>
                <a:lnTo>
                  <a:pt x="3889221" y="0"/>
                </a:lnTo>
                <a:lnTo>
                  <a:pt x="3889221" y="4005753"/>
                </a:lnTo>
                <a:lnTo>
                  <a:pt x="0" y="4005753"/>
                </a:lnTo>
                <a:lnTo>
                  <a:pt x="0" y="0"/>
                </a:lnTo>
                <a:close/>
              </a:path>
            </a:pathLst>
          </a:custGeom>
          <a:blipFill rotWithShape="1">
            <a:blip r:embed="rId5">
              <a:alphaModFix/>
            </a:blip>
            <a:stretch>
              <a:fillRect b="0" l="0" r="0" t="0"/>
            </a:stretch>
          </a:blipFill>
          <a:ln>
            <a:noFill/>
          </a:ln>
        </p:spPr>
      </p:sp>
      <p:sp>
        <p:nvSpPr>
          <p:cNvPr id="92" name="Google Shape;92;p1"/>
          <p:cNvSpPr/>
          <p:nvPr/>
        </p:nvSpPr>
        <p:spPr>
          <a:xfrm>
            <a:off x="3419244" y="9038123"/>
            <a:ext cx="3731631" cy="2313611"/>
          </a:xfrm>
          <a:custGeom>
            <a:rect b="b" l="l" r="r" t="t"/>
            <a:pathLst>
              <a:path extrusionOk="0" h="2313611" w="3731631">
                <a:moveTo>
                  <a:pt x="0" y="0"/>
                </a:moveTo>
                <a:lnTo>
                  <a:pt x="3731630" y="0"/>
                </a:lnTo>
                <a:lnTo>
                  <a:pt x="3731630" y="2313611"/>
                </a:lnTo>
                <a:lnTo>
                  <a:pt x="0" y="2313611"/>
                </a:lnTo>
                <a:lnTo>
                  <a:pt x="0" y="0"/>
                </a:lnTo>
                <a:close/>
              </a:path>
            </a:pathLst>
          </a:custGeom>
          <a:blipFill rotWithShape="1">
            <a:blip r:embed="rId10">
              <a:alphaModFix/>
            </a:blip>
            <a:stretch>
              <a:fillRect b="0" l="0" r="0" t="0"/>
            </a:stretch>
          </a:blipFill>
          <a:ln>
            <a:noFill/>
          </a:ln>
        </p:spPr>
      </p:sp>
      <p:sp>
        <p:nvSpPr>
          <p:cNvPr id="93" name="Google Shape;93;p1"/>
          <p:cNvSpPr/>
          <p:nvPr/>
        </p:nvSpPr>
        <p:spPr>
          <a:xfrm>
            <a:off x="6327049" y="-3202442"/>
            <a:ext cx="4108054" cy="4231142"/>
          </a:xfrm>
          <a:custGeom>
            <a:rect b="b" l="l" r="r" t="t"/>
            <a:pathLst>
              <a:path extrusionOk="0" h="4231142" w="4108054">
                <a:moveTo>
                  <a:pt x="0" y="0"/>
                </a:moveTo>
                <a:lnTo>
                  <a:pt x="4108055" y="0"/>
                </a:lnTo>
                <a:lnTo>
                  <a:pt x="4108055" y="4231142"/>
                </a:lnTo>
                <a:lnTo>
                  <a:pt x="0" y="4231142"/>
                </a:lnTo>
                <a:lnTo>
                  <a:pt x="0" y="0"/>
                </a:lnTo>
                <a:close/>
              </a:path>
            </a:pathLst>
          </a:custGeom>
          <a:blipFill rotWithShape="1">
            <a:blip r:embed="rId5">
              <a:alphaModFix/>
            </a:blip>
            <a:stretch>
              <a:fillRect b="0" l="0" r="0" t="0"/>
            </a:stretch>
          </a:blipFill>
          <a:ln>
            <a:noFill/>
          </a:ln>
        </p:spPr>
      </p:sp>
      <p:sp>
        <p:nvSpPr>
          <p:cNvPr id="94" name="Google Shape;94;p1"/>
          <p:cNvSpPr/>
          <p:nvPr/>
        </p:nvSpPr>
        <p:spPr>
          <a:xfrm rot="-5400000">
            <a:off x="16563555" y="2451040"/>
            <a:ext cx="3164136" cy="1961764"/>
          </a:xfrm>
          <a:custGeom>
            <a:rect b="b" l="l" r="r" t="t"/>
            <a:pathLst>
              <a:path extrusionOk="0" h="1961764" w="3164136">
                <a:moveTo>
                  <a:pt x="0" y="0"/>
                </a:moveTo>
                <a:lnTo>
                  <a:pt x="3164136" y="0"/>
                </a:lnTo>
                <a:lnTo>
                  <a:pt x="3164136" y="1961765"/>
                </a:lnTo>
                <a:lnTo>
                  <a:pt x="0" y="1961765"/>
                </a:lnTo>
                <a:lnTo>
                  <a:pt x="0" y="0"/>
                </a:lnTo>
                <a:close/>
              </a:path>
            </a:pathLst>
          </a:custGeom>
          <a:blipFill rotWithShape="1">
            <a:blip r:embed="rId11">
              <a:alphaModFix/>
            </a:blip>
            <a:stretch>
              <a:fillRect b="0" l="0" r="0" t="0"/>
            </a:stretch>
          </a:blipFill>
          <a:ln>
            <a:noFill/>
          </a:ln>
        </p:spPr>
      </p:sp>
      <p:sp>
        <p:nvSpPr>
          <p:cNvPr id="95" name="Google Shape;95;p1"/>
          <p:cNvSpPr/>
          <p:nvPr/>
        </p:nvSpPr>
        <p:spPr>
          <a:xfrm>
            <a:off x="-1245662" y="5549340"/>
            <a:ext cx="2274362" cy="4114800"/>
          </a:xfrm>
          <a:custGeom>
            <a:rect b="b" l="l" r="r" t="t"/>
            <a:pathLst>
              <a:path extrusionOk="0" h="4114800" w="2274362">
                <a:moveTo>
                  <a:pt x="0" y="0"/>
                </a:moveTo>
                <a:lnTo>
                  <a:pt x="2274362" y="0"/>
                </a:lnTo>
                <a:lnTo>
                  <a:pt x="2274362" y="4114800"/>
                </a:lnTo>
                <a:lnTo>
                  <a:pt x="0" y="4114800"/>
                </a:lnTo>
                <a:lnTo>
                  <a:pt x="0" y="0"/>
                </a:lnTo>
                <a:close/>
              </a:path>
            </a:pathLst>
          </a:custGeom>
          <a:blipFill rotWithShape="1">
            <a:blip r:embed="rId12">
              <a:alphaModFix/>
            </a:blip>
            <a:stretch>
              <a:fillRect b="0" l="0" r="0" t="0"/>
            </a:stretch>
          </a:blipFill>
          <a:ln>
            <a:noFill/>
          </a:ln>
        </p:spPr>
      </p:sp>
      <p:sp>
        <p:nvSpPr>
          <p:cNvPr id="96" name="Google Shape;96;p1"/>
          <p:cNvSpPr/>
          <p:nvPr/>
        </p:nvSpPr>
        <p:spPr>
          <a:xfrm rot="1522295">
            <a:off x="-502845" y="-1664538"/>
            <a:ext cx="3194581" cy="4114800"/>
          </a:xfrm>
          <a:custGeom>
            <a:rect b="b" l="l" r="r" t="t"/>
            <a:pathLst>
              <a:path extrusionOk="0" h="4114800" w="3194581">
                <a:moveTo>
                  <a:pt x="0" y="0"/>
                </a:moveTo>
                <a:lnTo>
                  <a:pt x="3194581" y="0"/>
                </a:lnTo>
                <a:lnTo>
                  <a:pt x="3194581" y="4114800"/>
                </a:lnTo>
                <a:lnTo>
                  <a:pt x="0" y="4114800"/>
                </a:lnTo>
                <a:lnTo>
                  <a:pt x="0" y="0"/>
                </a:lnTo>
                <a:close/>
              </a:path>
            </a:pathLst>
          </a:custGeom>
          <a:blipFill rotWithShape="1">
            <a:blip r:embed="rId13">
              <a:alphaModFix/>
            </a:blip>
            <a:stretch>
              <a:fillRect b="0" l="0" r="0" t="0"/>
            </a:stretch>
          </a:blipFill>
          <a:ln>
            <a:noFill/>
          </a:ln>
        </p:spPr>
      </p:sp>
      <p:sp>
        <p:nvSpPr>
          <p:cNvPr id="97" name="Google Shape;97;p1"/>
          <p:cNvSpPr/>
          <p:nvPr/>
        </p:nvSpPr>
        <p:spPr>
          <a:xfrm>
            <a:off x="5726606" y="9021600"/>
            <a:ext cx="4899156" cy="4035123"/>
          </a:xfrm>
          <a:custGeom>
            <a:rect b="b" l="l" r="r" t="t"/>
            <a:pathLst>
              <a:path extrusionOk="0" h="4035123" w="4899156">
                <a:moveTo>
                  <a:pt x="0" y="0"/>
                </a:moveTo>
                <a:lnTo>
                  <a:pt x="4899157" y="0"/>
                </a:lnTo>
                <a:lnTo>
                  <a:pt x="4899157" y="4035124"/>
                </a:lnTo>
                <a:lnTo>
                  <a:pt x="0" y="4035124"/>
                </a:lnTo>
                <a:lnTo>
                  <a:pt x="0" y="0"/>
                </a:lnTo>
                <a:close/>
              </a:path>
            </a:pathLst>
          </a:custGeom>
          <a:blipFill rotWithShape="1">
            <a:blip r:embed="rId8">
              <a:alphaModFix/>
            </a:blip>
            <a:stretch>
              <a:fillRect b="0" l="0" r="0" t="0"/>
            </a:stretch>
          </a:blipFill>
          <a:ln>
            <a:noFill/>
          </a:ln>
        </p:spPr>
      </p:sp>
      <p:grpSp>
        <p:nvGrpSpPr>
          <p:cNvPr id="98" name="Google Shape;98;p1"/>
          <p:cNvGrpSpPr/>
          <p:nvPr/>
        </p:nvGrpSpPr>
        <p:grpSpPr>
          <a:xfrm>
            <a:off x="3499877" y="6847401"/>
            <a:ext cx="11288246" cy="3055122"/>
            <a:chOff x="0" y="-38100"/>
            <a:chExt cx="3014918" cy="815977"/>
          </a:xfrm>
        </p:grpSpPr>
        <p:sp>
          <p:nvSpPr>
            <p:cNvPr id="99" name="Google Shape;99;p1"/>
            <p:cNvSpPr/>
            <p:nvPr/>
          </p:nvSpPr>
          <p:spPr>
            <a:xfrm>
              <a:off x="0" y="0"/>
              <a:ext cx="3014918" cy="777877"/>
            </a:xfrm>
            <a:custGeom>
              <a:rect b="b" l="l" r="r" t="t"/>
              <a:pathLst>
                <a:path extrusionOk="0" h="777877" w="3014918">
                  <a:moveTo>
                    <a:pt x="34978" y="0"/>
                  </a:moveTo>
                  <a:lnTo>
                    <a:pt x="2979941" y="0"/>
                  </a:lnTo>
                  <a:cubicBezTo>
                    <a:pt x="2989217" y="0"/>
                    <a:pt x="2998114" y="3685"/>
                    <a:pt x="3004674" y="10245"/>
                  </a:cubicBezTo>
                  <a:cubicBezTo>
                    <a:pt x="3011233" y="16804"/>
                    <a:pt x="3014918" y="25701"/>
                    <a:pt x="3014918" y="34978"/>
                  </a:cubicBezTo>
                  <a:lnTo>
                    <a:pt x="3014918" y="742899"/>
                  </a:lnTo>
                  <a:cubicBezTo>
                    <a:pt x="3014918" y="752176"/>
                    <a:pt x="3011233" y="761072"/>
                    <a:pt x="3004674" y="767632"/>
                  </a:cubicBezTo>
                  <a:cubicBezTo>
                    <a:pt x="2998114" y="774192"/>
                    <a:pt x="2989217" y="777877"/>
                    <a:pt x="2979941" y="777877"/>
                  </a:cubicBezTo>
                  <a:lnTo>
                    <a:pt x="34978" y="777877"/>
                  </a:lnTo>
                  <a:cubicBezTo>
                    <a:pt x="25701" y="777877"/>
                    <a:pt x="16804" y="774192"/>
                    <a:pt x="10245" y="767632"/>
                  </a:cubicBezTo>
                  <a:cubicBezTo>
                    <a:pt x="3685" y="761072"/>
                    <a:pt x="0" y="752176"/>
                    <a:pt x="0" y="742899"/>
                  </a:cubicBezTo>
                  <a:lnTo>
                    <a:pt x="0" y="34978"/>
                  </a:lnTo>
                  <a:cubicBezTo>
                    <a:pt x="0" y="25701"/>
                    <a:pt x="3685" y="16804"/>
                    <a:pt x="10245" y="10245"/>
                  </a:cubicBezTo>
                  <a:cubicBezTo>
                    <a:pt x="16804" y="3685"/>
                    <a:pt x="25701" y="0"/>
                    <a:pt x="34978" y="0"/>
                  </a:cubicBezTo>
                  <a:close/>
                </a:path>
              </a:pathLst>
            </a:custGeom>
            <a:solidFill>
              <a:srgbClr val="E5DD7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
            <p:cNvSpPr txBox="1"/>
            <p:nvPr/>
          </p:nvSpPr>
          <p:spPr>
            <a:xfrm>
              <a:off x="0" y="-38100"/>
              <a:ext cx="3014918" cy="81597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1" name="Google Shape;101;p1"/>
          <p:cNvSpPr txBox="1"/>
          <p:nvPr/>
        </p:nvSpPr>
        <p:spPr>
          <a:xfrm>
            <a:off x="3419250" y="3794700"/>
            <a:ext cx="11545500" cy="22077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i="0" lang="en-US" sz="15589" u="none" cap="none" strike="noStrike">
                <a:solidFill>
                  <a:srgbClr val="503C30"/>
                </a:solidFill>
                <a:latin typeface="Calibri"/>
                <a:ea typeface="Calibri"/>
                <a:cs typeface="Calibri"/>
                <a:sym typeface="Calibri"/>
              </a:rPr>
              <a:t>MODELO OSI</a:t>
            </a:r>
            <a:endParaRPr sz="500">
              <a:latin typeface="Calibri"/>
              <a:ea typeface="Calibri"/>
              <a:cs typeface="Calibri"/>
              <a:sym typeface="Calibri"/>
            </a:endParaRPr>
          </a:p>
        </p:txBody>
      </p:sp>
      <p:sp>
        <p:nvSpPr>
          <p:cNvPr id="102" name="Google Shape;102;p1"/>
          <p:cNvSpPr txBox="1"/>
          <p:nvPr/>
        </p:nvSpPr>
        <p:spPr>
          <a:xfrm>
            <a:off x="4483804" y="7199332"/>
            <a:ext cx="9320391" cy="2215515"/>
          </a:xfrm>
          <a:prstGeom prst="rect">
            <a:avLst/>
          </a:prstGeom>
          <a:noFill/>
          <a:ln>
            <a:noFill/>
          </a:ln>
        </p:spPr>
        <p:txBody>
          <a:bodyPr anchorCtr="0" anchor="t" bIns="0" lIns="0" spcFirstLastPara="1" rIns="0" wrap="square" tIns="0">
            <a:spAutoFit/>
          </a:bodyPr>
          <a:lstStyle/>
          <a:p>
            <a:pPr indent="0" lvl="0" marL="0" marR="0" rtl="0" algn="ctr">
              <a:lnSpc>
                <a:spcPct val="104999"/>
              </a:lnSpc>
              <a:spcBef>
                <a:spcPts val="0"/>
              </a:spcBef>
              <a:spcAft>
                <a:spcPts val="0"/>
              </a:spcAft>
              <a:buNone/>
            </a:pPr>
            <a:r>
              <a:rPr b="0" i="0" lang="en-US" sz="3300" u="none" cap="none" strike="noStrike">
                <a:solidFill>
                  <a:srgbClr val="503C30"/>
                </a:solidFill>
                <a:latin typeface="Inter"/>
                <a:ea typeface="Inter"/>
                <a:cs typeface="Inter"/>
                <a:sym typeface="Inter"/>
              </a:rPr>
              <a:t>Presentado por </a:t>
            </a:r>
            <a:endParaRPr/>
          </a:p>
          <a:p>
            <a:pPr indent="0" lvl="0" marL="0" marR="0" rtl="0" algn="ctr">
              <a:lnSpc>
                <a:spcPct val="104999"/>
              </a:lnSpc>
              <a:spcBef>
                <a:spcPts val="0"/>
              </a:spcBef>
              <a:spcAft>
                <a:spcPts val="0"/>
              </a:spcAft>
              <a:buNone/>
            </a:pPr>
            <a:r>
              <a:rPr b="0" i="0" lang="en-US" sz="3300" u="none" cap="none" strike="noStrike">
                <a:solidFill>
                  <a:srgbClr val="503C30"/>
                </a:solidFill>
                <a:latin typeface="Inter"/>
                <a:ea typeface="Inter"/>
                <a:cs typeface="Inter"/>
                <a:sym typeface="Inter"/>
              </a:rPr>
              <a:t>Xavier Aguilar Arcila</a:t>
            </a:r>
            <a:endParaRPr/>
          </a:p>
          <a:p>
            <a:pPr indent="0" lvl="0" marL="0" marR="0" rtl="0" algn="ctr">
              <a:lnSpc>
                <a:spcPct val="104999"/>
              </a:lnSpc>
              <a:spcBef>
                <a:spcPts val="0"/>
              </a:spcBef>
              <a:spcAft>
                <a:spcPts val="0"/>
              </a:spcAft>
              <a:buNone/>
            </a:pPr>
            <a:r>
              <a:rPr b="0" i="0" lang="en-US" sz="3300" u="none" cap="none" strike="noStrike">
                <a:solidFill>
                  <a:srgbClr val="503C30"/>
                </a:solidFill>
                <a:latin typeface="Inter"/>
                <a:ea typeface="Inter"/>
                <a:cs typeface="Inter"/>
                <a:sym typeface="Inter"/>
              </a:rPr>
              <a:t>Karol Nicolle Camargo Gutiérrez</a:t>
            </a:r>
            <a:endParaRPr/>
          </a:p>
          <a:p>
            <a:pPr indent="0" lvl="0" marL="0" marR="0" rtl="0" algn="ctr">
              <a:lnSpc>
                <a:spcPct val="104999"/>
              </a:lnSpc>
              <a:spcBef>
                <a:spcPts val="0"/>
              </a:spcBef>
              <a:spcAft>
                <a:spcPts val="0"/>
              </a:spcAft>
              <a:buNone/>
            </a:pPr>
            <a:r>
              <a:rPr b="0" i="0" lang="en-US" sz="3300" u="none" cap="none" strike="noStrike">
                <a:solidFill>
                  <a:srgbClr val="503C30"/>
                </a:solidFill>
                <a:latin typeface="Inter"/>
                <a:ea typeface="Inter"/>
                <a:cs typeface="Inter"/>
                <a:sym typeface="Inter"/>
              </a:rPr>
              <a:t>Koren Yosara Rock Rodriguez Hernandez</a:t>
            </a:r>
            <a:endParaRPr/>
          </a:p>
          <a:p>
            <a:pPr indent="0" lvl="0" marL="0" marR="0" rtl="0" algn="ctr">
              <a:lnSpc>
                <a:spcPct val="104999"/>
              </a:lnSpc>
              <a:spcBef>
                <a:spcPts val="0"/>
              </a:spcBef>
              <a:spcAft>
                <a:spcPts val="0"/>
              </a:spcAft>
              <a:buNone/>
            </a:pPr>
            <a:r>
              <a:rPr b="0" i="0" lang="en-US" sz="3300" u="none" cap="none" strike="noStrike">
                <a:solidFill>
                  <a:srgbClr val="503C30"/>
                </a:solidFill>
                <a:latin typeface="Inter"/>
                <a:ea typeface="Inter"/>
                <a:cs typeface="Inter"/>
                <a:sym typeface="Inter"/>
              </a:rPr>
              <a:t>Karol Yuliana Romero Barrera</a:t>
            </a:r>
            <a:endParaRPr/>
          </a:p>
        </p:txBody>
      </p:sp>
      <p:sp>
        <p:nvSpPr>
          <p:cNvPr id="103" name="Google Shape;103;p1"/>
          <p:cNvSpPr txBox="1"/>
          <p:nvPr/>
        </p:nvSpPr>
        <p:spPr>
          <a:xfrm>
            <a:off x="4753376" y="2254973"/>
            <a:ext cx="8781248" cy="441960"/>
          </a:xfrm>
          <a:prstGeom prst="rect">
            <a:avLst/>
          </a:prstGeom>
          <a:noFill/>
          <a:ln>
            <a:noFill/>
          </a:ln>
        </p:spPr>
        <p:txBody>
          <a:bodyPr anchorCtr="0" anchor="t" bIns="0" lIns="0" spcFirstLastPara="1" rIns="0" wrap="square" tIns="0">
            <a:spAutoFit/>
          </a:bodyPr>
          <a:lstStyle/>
          <a:p>
            <a:pPr indent="0" lvl="0" marL="0" marR="0" rtl="0" algn="ctr">
              <a:lnSpc>
                <a:spcPct val="104999"/>
              </a:lnSpc>
              <a:spcBef>
                <a:spcPts val="0"/>
              </a:spcBef>
              <a:spcAft>
                <a:spcPts val="0"/>
              </a:spcAft>
              <a:buNone/>
            </a:pPr>
            <a:r>
              <a:rPr b="0" i="0" lang="en-US" sz="3200" u="none" cap="none" strike="noStrike">
                <a:solidFill>
                  <a:srgbClr val="503C30"/>
                </a:solidFill>
                <a:latin typeface="Inter"/>
                <a:ea typeface="Inter"/>
                <a:cs typeface="Inter"/>
                <a:sym typeface="Inter"/>
              </a:rPr>
              <a:t>3278643</a:t>
            </a:r>
            <a:endParaRPr/>
          </a:p>
        </p:txBody>
      </p:sp>
    </p:spTree>
  </p:cSld>
  <p:clrMapOvr>
    <a:masterClrMapping/>
  </p:clrMapOvr>
  <mc:AlternateContent>
    <mc:Choice Requires="p14">
      <p:transition advTm="5000" spd="slow" p14:dur="1400">
        <p14:doors dir="vert"/>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1000"/>
                                        <p:tgtEl>
                                          <p:spTgt spid="84"/>
                                        </p:tgtEl>
                                      </p:cBhvr>
                                    </p:animEffect>
                                  </p:childTnLst>
                                </p:cTn>
                              </p:par>
                              <p:par>
                                <p:cTn fill="hold" nodeType="with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1000"/>
                                        <p:tgtEl>
                                          <p:spTgt spid="85"/>
                                        </p:tgtEl>
                                      </p:cBhvr>
                                    </p:animEffect>
                                  </p:childTnLst>
                                </p:cTn>
                              </p:par>
                              <p:par>
                                <p:cTn fill="hold" nodeType="with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1000"/>
                                        <p:tgtEl>
                                          <p:spTgt spid="86"/>
                                        </p:tgtEl>
                                      </p:cBhvr>
                                    </p:animEffect>
                                  </p:childTnLst>
                                </p:cTn>
                              </p:par>
                              <p:par>
                                <p:cTn fill="hold" nodeType="with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1000"/>
                                        <p:tgtEl>
                                          <p:spTgt spid="87"/>
                                        </p:tgtEl>
                                      </p:cBhvr>
                                    </p:animEffect>
                                  </p:childTnLst>
                                </p:cTn>
                              </p:par>
                              <p:par>
                                <p:cTn fill="hold" nodeType="with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par>
                                <p:cTn fill="hold" nodeType="with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1000"/>
                                        <p:tgtEl>
                                          <p:spTgt spid="89"/>
                                        </p:tgtEl>
                                      </p:cBhvr>
                                    </p:animEffect>
                                  </p:childTnLst>
                                </p:cTn>
                              </p:par>
                              <p:par>
                                <p:cTn fill="hold" nodeType="with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1000"/>
                                        <p:tgtEl>
                                          <p:spTgt spid="90"/>
                                        </p:tgtEl>
                                      </p:cBhvr>
                                    </p:animEffect>
                                  </p:childTnLst>
                                </p:cTn>
                              </p:par>
                              <p:par>
                                <p:cTn fill="hold" nodeType="with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000"/>
                                        <p:tgtEl>
                                          <p:spTgt spid="91"/>
                                        </p:tgtEl>
                                      </p:cBhvr>
                                    </p:animEffect>
                                  </p:childTnLst>
                                </p:cTn>
                              </p:par>
                              <p:par>
                                <p:cTn fill="hold" nodeType="with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1000"/>
                                        <p:tgtEl>
                                          <p:spTgt spid="92"/>
                                        </p:tgtEl>
                                      </p:cBhvr>
                                    </p:animEffect>
                                  </p:childTnLst>
                                </p:cTn>
                              </p:par>
                              <p:par>
                                <p:cTn fill="hold" nodeType="with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1000"/>
                                        <p:tgtEl>
                                          <p:spTgt spid="93"/>
                                        </p:tgtEl>
                                      </p:cBhvr>
                                    </p:animEffect>
                                  </p:childTnLst>
                                </p:cTn>
                              </p:par>
                              <p:par>
                                <p:cTn fill="hold" nodeType="with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1000"/>
                                        <p:tgtEl>
                                          <p:spTgt spid="94"/>
                                        </p:tgtEl>
                                      </p:cBhvr>
                                    </p:animEffect>
                                  </p:childTnLst>
                                </p:cTn>
                              </p:par>
                              <p:par>
                                <p:cTn fill="hold" nodeType="with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000"/>
                                        <p:tgtEl>
                                          <p:spTgt spid="95"/>
                                        </p:tgtEl>
                                      </p:cBhvr>
                                    </p:animEffect>
                                  </p:childTnLst>
                                </p:cTn>
                              </p:par>
                              <p:par>
                                <p:cTn fill="hold" nodeType="with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1000"/>
                                        <p:tgtEl>
                                          <p:spTgt spid="96"/>
                                        </p:tgtEl>
                                      </p:cBhvr>
                                    </p:animEffect>
                                  </p:childTnLst>
                                </p:cTn>
                              </p:par>
                              <p:par>
                                <p:cTn fill="hold" nodeType="with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par>
                                <p:cTn fill="hold" nodeType="with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000"/>
                                        <p:tgtEl>
                                          <p:spTgt spid="101"/>
                                        </p:tgtEl>
                                      </p:cBhvr>
                                    </p:animEffect>
                                  </p:childTnLst>
                                </p:cTn>
                              </p:par>
                              <p:par>
                                <p:cTn fill="hold" nodeType="with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000"/>
                                        <p:tgtEl>
                                          <p:spTgt spid="102"/>
                                        </p:tgtEl>
                                      </p:cBhvr>
                                    </p:animEffect>
                                  </p:childTnLst>
                                </p:cTn>
                              </p:par>
                              <p:par>
                                <p:cTn fill="hold" nodeType="with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1000"/>
                                        <p:tgtEl>
                                          <p:spTgt spid="103"/>
                                        </p:tgtEl>
                                      </p:cBhvr>
                                    </p:animEffect>
                                  </p:childTnLst>
                                </p:cTn>
                              </p:par>
                              <p:par>
                                <p:cTn fill="hold" nodeType="with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107" name="Shape 107"/>
        <p:cNvGrpSpPr/>
        <p:nvPr/>
      </p:nvGrpSpPr>
      <p:grpSpPr>
        <a:xfrm>
          <a:off x="0" y="0"/>
          <a:ext cx="0" cy="0"/>
          <a:chOff x="0" y="0"/>
          <a:chExt cx="0" cy="0"/>
        </a:xfrm>
      </p:grpSpPr>
      <p:sp>
        <p:nvSpPr>
          <p:cNvPr id="108" name="Google Shape;108;p2"/>
          <p:cNvSpPr/>
          <p:nvPr/>
        </p:nvSpPr>
        <p:spPr>
          <a:xfrm>
            <a:off x="8848598" y="3550503"/>
            <a:ext cx="87630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600" u="sng" cap="none" strike="noStrike">
                <a:solidFill>
                  <a:srgbClr val="121212"/>
                </a:solidFill>
                <a:latin typeface="Schibsted Grotesk"/>
                <a:ea typeface="Schibsted Grotesk"/>
                <a:cs typeface="Schibsted Grotesk"/>
                <a:sym typeface="Schibsted Grotesk"/>
                <a:hlinkClick r:id="rId3">
                  <a:extLst>
                    <a:ext uri="{A12FA001-AC4F-418D-AE19-62706E023703}">
                      <ahyp:hlinkClr val="tx"/>
                    </a:ext>
                  </a:extLst>
                </a:hlinkClick>
              </a:rPr>
              <a:t>https://view.genially.com/6916709c4272ffdca70fd83d/presentation-modelo-osi</a:t>
            </a:r>
            <a:endParaRPr sz="3600">
              <a:solidFill>
                <a:schemeClr val="dk1"/>
              </a:solidFill>
              <a:latin typeface="Calibri"/>
              <a:ea typeface="Calibri"/>
              <a:cs typeface="Calibri"/>
              <a:sym typeface="Calibri"/>
            </a:endParaRPr>
          </a:p>
        </p:txBody>
      </p:sp>
      <p:pic>
        <p:nvPicPr>
          <p:cNvPr id="109" name="Google Shape;109;p2"/>
          <p:cNvPicPr preferRelativeResize="0"/>
          <p:nvPr/>
        </p:nvPicPr>
        <p:blipFill rotWithShape="1">
          <a:blip r:embed="rId4">
            <a:alphaModFix/>
          </a:blip>
          <a:srcRect b="0" l="0" r="0" t="0"/>
          <a:stretch/>
        </p:blipFill>
        <p:spPr>
          <a:xfrm>
            <a:off x="740264" y="2655332"/>
            <a:ext cx="8108334" cy="4191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par>
                                <p:cTn fill="hold" nodeType="with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113" name="Shape 113"/>
        <p:cNvGrpSpPr/>
        <p:nvPr/>
      </p:nvGrpSpPr>
      <p:grpSpPr>
        <a:xfrm>
          <a:off x="0" y="0"/>
          <a:ext cx="0" cy="0"/>
          <a:chOff x="0" y="0"/>
          <a:chExt cx="0" cy="0"/>
        </a:xfrm>
      </p:grpSpPr>
      <p:sp>
        <p:nvSpPr>
          <p:cNvPr id="114" name="Google Shape;114;p3"/>
          <p:cNvSpPr/>
          <p:nvPr/>
        </p:nvSpPr>
        <p:spPr>
          <a:xfrm rot="4094958">
            <a:off x="13277749" y="5345832"/>
            <a:ext cx="3421747" cy="3524272"/>
          </a:xfrm>
          <a:custGeom>
            <a:rect b="b" l="l" r="r" t="t"/>
            <a:pathLst>
              <a:path extrusionOk="0" h="3524272" w="3421747">
                <a:moveTo>
                  <a:pt x="0" y="0"/>
                </a:moveTo>
                <a:lnTo>
                  <a:pt x="3421748" y="0"/>
                </a:lnTo>
                <a:lnTo>
                  <a:pt x="3421748" y="3524272"/>
                </a:lnTo>
                <a:lnTo>
                  <a:pt x="0" y="3524272"/>
                </a:lnTo>
                <a:lnTo>
                  <a:pt x="0" y="0"/>
                </a:lnTo>
                <a:close/>
              </a:path>
            </a:pathLst>
          </a:custGeom>
          <a:blipFill rotWithShape="1">
            <a:blip r:embed="rId3">
              <a:alphaModFix/>
            </a:blip>
            <a:stretch>
              <a:fillRect b="0" l="0" r="0" t="0"/>
            </a:stretch>
          </a:blipFill>
          <a:ln>
            <a:noFill/>
          </a:ln>
        </p:spPr>
      </p:sp>
      <p:sp>
        <p:nvSpPr>
          <p:cNvPr id="115" name="Google Shape;115;p3"/>
          <p:cNvSpPr/>
          <p:nvPr/>
        </p:nvSpPr>
        <p:spPr>
          <a:xfrm rot="-8183573">
            <a:off x="12760048" y="1690431"/>
            <a:ext cx="3170628" cy="3405948"/>
          </a:xfrm>
          <a:custGeom>
            <a:rect b="b" l="l" r="r" t="t"/>
            <a:pathLst>
              <a:path extrusionOk="0" h="3405948" w="3170628">
                <a:moveTo>
                  <a:pt x="0" y="0"/>
                </a:moveTo>
                <a:lnTo>
                  <a:pt x="3170628" y="0"/>
                </a:lnTo>
                <a:lnTo>
                  <a:pt x="3170628" y="3405948"/>
                </a:lnTo>
                <a:lnTo>
                  <a:pt x="0" y="3405948"/>
                </a:lnTo>
                <a:lnTo>
                  <a:pt x="0" y="0"/>
                </a:lnTo>
                <a:close/>
              </a:path>
            </a:pathLst>
          </a:custGeom>
          <a:blipFill rotWithShape="1">
            <a:blip r:embed="rId4">
              <a:alphaModFix/>
            </a:blip>
            <a:stretch>
              <a:fillRect b="0" l="0" r="0" t="0"/>
            </a:stretch>
          </a:blipFill>
          <a:ln>
            <a:noFill/>
          </a:ln>
        </p:spPr>
      </p:sp>
      <p:sp>
        <p:nvSpPr>
          <p:cNvPr id="116" name="Google Shape;116;p3"/>
          <p:cNvSpPr/>
          <p:nvPr/>
        </p:nvSpPr>
        <p:spPr>
          <a:xfrm rot="-5400000">
            <a:off x="14335320" y="9100512"/>
            <a:ext cx="6244674" cy="2372976"/>
          </a:xfrm>
          <a:custGeom>
            <a:rect b="b" l="l" r="r" t="t"/>
            <a:pathLst>
              <a:path extrusionOk="0" h="2372976" w="6244674">
                <a:moveTo>
                  <a:pt x="0" y="0"/>
                </a:moveTo>
                <a:lnTo>
                  <a:pt x="6244673" y="0"/>
                </a:lnTo>
                <a:lnTo>
                  <a:pt x="6244673" y="2372976"/>
                </a:lnTo>
                <a:lnTo>
                  <a:pt x="0" y="2372976"/>
                </a:lnTo>
                <a:lnTo>
                  <a:pt x="0" y="0"/>
                </a:lnTo>
                <a:close/>
              </a:path>
            </a:pathLst>
          </a:custGeom>
          <a:blipFill rotWithShape="1">
            <a:blip r:embed="rId5">
              <a:alphaModFix/>
            </a:blip>
            <a:stretch>
              <a:fillRect b="0" l="0" r="0" t="0"/>
            </a:stretch>
          </a:blipFill>
          <a:ln>
            <a:noFill/>
          </a:ln>
        </p:spPr>
      </p:sp>
      <p:sp>
        <p:nvSpPr>
          <p:cNvPr id="117" name="Google Shape;117;p3"/>
          <p:cNvSpPr/>
          <p:nvPr/>
        </p:nvSpPr>
        <p:spPr>
          <a:xfrm rot="1574984">
            <a:off x="13404765" y="-1924409"/>
            <a:ext cx="5259824" cy="4332182"/>
          </a:xfrm>
          <a:custGeom>
            <a:rect b="b" l="l" r="r" t="t"/>
            <a:pathLst>
              <a:path extrusionOk="0" h="4332182" w="5259824">
                <a:moveTo>
                  <a:pt x="0" y="0"/>
                </a:moveTo>
                <a:lnTo>
                  <a:pt x="5259824" y="0"/>
                </a:lnTo>
                <a:lnTo>
                  <a:pt x="5259824" y="4332182"/>
                </a:lnTo>
                <a:lnTo>
                  <a:pt x="0" y="4332182"/>
                </a:lnTo>
                <a:lnTo>
                  <a:pt x="0" y="0"/>
                </a:lnTo>
                <a:close/>
              </a:path>
            </a:pathLst>
          </a:custGeom>
          <a:blipFill rotWithShape="1">
            <a:blip r:embed="rId6">
              <a:alphaModFix/>
            </a:blip>
            <a:stretch>
              <a:fillRect b="0" l="0" r="0" t="0"/>
            </a:stretch>
          </a:blipFill>
          <a:ln>
            <a:noFill/>
          </a:ln>
        </p:spPr>
      </p:sp>
      <p:sp>
        <p:nvSpPr>
          <p:cNvPr id="118" name="Google Shape;118;p3"/>
          <p:cNvSpPr/>
          <p:nvPr/>
        </p:nvSpPr>
        <p:spPr>
          <a:xfrm rot="-5400000">
            <a:off x="15192640" y="2983107"/>
            <a:ext cx="4732561" cy="2934188"/>
          </a:xfrm>
          <a:custGeom>
            <a:rect b="b" l="l" r="r" t="t"/>
            <a:pathLst>
              <a:path extrusionOk="0" h="2934188" w="4732561">
                <a:moveTo>
                  <a:pt x="0" y="0"/>
                </a:moveTo>
                <a:lnTo>
                  <a:pt x="4732561" y="0"/>
                </a:lnTo>
                <a:lnTo>
                  <a:pt x="4732561" y="2934187"/>
                </a:lnTo>
                <a:lnTo>
                  <a:pt x="0" y="2934187"/>
                </a:lnTo>
                <a:lnTo>
                  <a:pt x="0" y="0"/>
                </a:lnTo>
                <a:close/>
              </a:path>
            </a:pathLst>
          </a:custGeom>
          <a:blipFill rotWithShape="1">
            <a:blip r:embed="rId7">
              <a:alphaModFix/>
            </a:blip>
            <a:stretch>
              <a:fillRect b="0" l="0" r="0" t="0"/>
            </a:stretch>
          </a:blipFill>
          <a:ln>
            <a:noFill/>
          </a:ln>
        </p:spPr>
      </p:sp>
      <p:sp>
        <p:nvSpPr>
          <p:cNvPr id="119" name="Google Shape;119;p3"/>
          <p:cNvSpPr/>
          <p:nvPr/>
        </p:nvSpPr>
        <p:spPr>
          <a:xfrm>
            <a:off x="11242483" y="9258300"/>
            <a:ext cx="5024829" cy="4138632"/>
          </a:xfrm>
          <a:custGeom>
            <a:rect b="b" l="l" r="r" t="t"/>
            <a:pathLst>
              <a:path extrusionOk="0" h="4138632" w="5024829">
                <a:moveTo>
                  <a:pt x="0" y="0"/>
                </a:moveTo>
                <a:lnTo>
                  <a:pt x="5024830" y="0"/>
                </a:lnTo>
                <a:lnTo>
                  <a:pt x="5024830" y="4138632"/>
                </a:lnTo>
                <a:lnTo>
                  <a:pt x="0" y="4138632"/>
                </a:lnTo>
                <a:lnTo>
                  <a:pt x="0" y="0"/>
                </a:lnTo>
                <a:close/>
              </a:path>
            </a:pathLst>
          </a:custGeom>
          <a:blipFill rotWithShape="1">
            <a:blip r:embed="rId6">
              <a:alphaModFix/>
            </a:blip>
            <a:stretch>
              <a:fillRect b="0" l="0" r="0" t="0"/>
            </a:stretch>
          </a:blipFill>
          <a:ln>
            <a:noFill/>
          </a:ln>
        </p:spPr>
      </p:sp>
      <p:sp>
        <p:nvSpPr>
          <p:cNvPr id="120" name="Google Shape;120;p3"/>
          <p:cNvSpPr txBox="1"/>
          <p:nvPr/>
        </p:nvSpPr>
        <p:spPr>
          <a:xfrm>
            <a:off x="1591313" y="2209950"/>
            <a:ext cx="7928836" cy="1828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lang="en-US" sz="7500">
                <a:solidFill>
                  <a:srgbClr val="503C30"/>
                </a:solidFill>
                <a:latin typeface="Arial"/>
                <a:ea typeface="Arial"/>
                <a:cs typeface="Arial"/>
                <a:sym typeface="Arial"/>
              </a:rPr>
              <a:t>INTRODUCCIÓN</a:t>
            </a:r>
            <a:endParaRPr/>
          </a:p>
          <a:p>
            <a:pPr indent="0" lvl="0" marL="0" marR="0" rtl="0" algn="l">
              <a:lnSpc>
                <a:spcPct val="92000"/>
              </a:lnSpc>
              <a:spcBef>
                <a:spcPts val="0"/>
              </a:spcBef>
              <a:spcAft>
                <a:spcPts val="0"/>
              </a:spcAft>
              <a:buNone/>
            </a:pPr>
            <a:r>
              <a:t/>
            </a:r>
            <a:endParaRPr sz="7500">
              <a:solidFill>
                <a:srgbClr val="503C30"/>
              </a:solidFill>
              <a:latin typeface="Arial"/>
              <a:ea typeface="Arial"/>
              <a:cs typeface="Arial"/>
              <a:sym typeface="Arial"/>
            </a:endParaRPr>
          </a:p>
        </p:txBody>
      </p:sp>
      <p:sp>
        <p:nvSpPr>
          <p:cNvPr id="121" name="Google Shape;121;p3"/>
          <p:cNvSpPr txBox="1"/>
          <p:nvPr/>
        </p:nvSpPr>
        <p:spPr>
          <a:xfrm>
            <a:off x="1591313" y="3494023"/>
            <a:ext cx="10431587" cy="58578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u="none">
                <a:solidFill>
                  <a:srgbClr val="503C30"/>
                </a:solidFill>
                <a:latin typeface="Inter"/>
                <a:ea typeface="Inter"/>
                <a:cs typeface="Inter"/>
                <a:sym typeface="Inter"/>
              </a:rPr>
              <a:t>La comunicación entre computadoras se asemeja al envío de una carta, con pasos específicos como identificar al destinatario y enviar el correo. El modelo OSI organiza estos pasos en capas, facilitando la comprensión y colaboración de los sistemas de red. Su objetivo no es establecer un único protocolo, sino dividir la comunicación en tareas definidas, simplificando el diseño, las pruebas y la resolución de problemas.(Tanenbaum &amp; Wetherall, 2021).</a:t>
            </a:r>
            <a:endParaRPr/>
          </a:p>
          <a:p>
            <a:pPr indent="0" lvl="0" marL="0" marR="0" rtl="0" algn="just">
              <a:lnSpc>
                <a:spcPct val="140000"/>
              </a:lnSpc>
              <a:spcBef>
                <a:spcPts val="0"/>
              </a:spcBef>
              <a:spcAft>
                <a:spcPts val="0"/>
              </a:spcAft>
              <a:buNone/>
            </a:pPr>
            <a:r>
              <a:t/>
            </a:r>
            <a:endParaRPr sz="3000" u="none">
              <a:solidFill>
                <a:srgbClr val="503C30"/>
              </a:solidFill>
              <a:latin typeface="Inter"/>
              <a:ea typeface="Inter"/>
              <a:cs typeface="Inter"/>
              <a:sym typeface="Inter"/>
            </a:endParaRPr>
          </a:p>
        </p:txBody>
      </p:sp>
      <p:sp>
        <p:nvSpPr>
          <p:cNvPr id="122" name="Google Shape;122;p3"/>
          <p:cNvSpPr/>
          <p:nvPr/>
        </p:nvSpPr>
        <p:spPr>
          <a:xfrm>
            <a:off x="12717946" y="2405894"/>
            <a:ext cx="5236233" cy="6628033"/>
          </a:xfrm>
          <a:custGeom>
            <a:rect b="b" l="l" r="r" t="t"/>
            <a:pathLst>
              <a:path extrusionOk="0" h="1163126" w="918885">
                <a:moveTo>
                  <a:pt x="0" y="0"/>
                </a:moveTo>
                <a:lnTo>
                  <a:pt x="918885" y="0"/>
                </a:lnTo>
                <a:lnTo>
                  <a:pt x="918885" y="1163126"/>
                </a:lnTo>
                <a:lnTo>
                  <a:pt x="0" y="1163126"/>
                </a:lnTo>
                <a:close/>
              </a:path>
            </a:pathLst>
          </a:custGeom>
          <a:blipFill rotWithShape="1">
            <a:blip r:embed="rId8">
              <a:alphaModFix/>
            </a:blip>
            <a:stretch>
              <a:fillRect b="-9621" l="0" r="0" t="-9621"/>
            </a:stretch>
          </a:blipFill>
          <a:ln>
            <a:noFill/>
          </a:ln>
        </p:spPr>
      </p:sp>
      <p:sp>
        <p:nvSpPr>
          <p:cNvPr id="123" name="Google Shape;123;p3"/>
          <p:cNvSpPr txBox="1"/>
          <p:nvPr/>
        </p:nvSpPr>
        <p:spPr>
          <a:xfrm>
            <a:off x="12684678" y="981075"/>
            <a:ext cx="1621334" cy="737325"/>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rPr lang="en-US" sz="2096">
                <a:solidFill>
                  <a:srgbClr val="503C30"/>
                </a:solidFill>
                <a:latin typeface="Inter"/>
                <a:ea typeface="Inter"/>
                <a:cs typeface="Inter"/>
                <a:sym typeface="Inter"/>
              </a:rPr>
              <a:t>Figura 1</a:t>
            </a:r>
            <a:endParaRPr/>
          </a:p>
          <a:p>
            <a:pPr indent="0" lvl="0" marL="0" marR="0" rtl="0" algn="l">
              <a:lnSpc>
                <a:spcPct val="140028"/>
              </a:lnSpc>
              <a:spcBef>
                <a:spcPts val="0"/>
              </a:spcBef>
              <a:spcAft>
                <a:spcPts val="0"/>
              </a:spcAft>
              <a:buNone/>
            </a:pPr>
            <a:r>
              <a:rPr lang="en-US" sz="2096">
                <a:solidFill>
                  <a:srgbClr val="503C30"/>
                </a:solidFill>
                <a:latin typeface="Inter"/>
                <a:ea typeface="Inter"/>
                <a:cs typeface="Inter"/>
                <a:sym typeface="Inter"/>
              </a:rPr>
              <a:t>Modelo OSI</a:t>
            </a:r>
            <a:endParaRPr/>
          </a:p>
        </p:txBody>
      </p:sp>
      <p:sp>
        <p:nvSpPr>
          <p:cNvPr id="124" name="Google Shape;124;p3"/>
          <p:cNvSpPr txBox="1"/>
          <p:nvPr/>
        </p:nvSpPr>
        <p:spPr>
          <a:xfrm>
            <a:off x="12717946" y="8995828"/>
            <a:ext cx="4840974" cy="692240"/>
          </a:xfrm>
          <a:prstGeom prst="rect">
            <a:avLst/>
          </a:prstGeom>
          <a:noFill/>
          <a:ln>
            <a:noFill/>
          </a:ln>
        </p:spPr>
        <p:txBody>
          <a:bodyPr anchorCtr="0" anchor="t" bIns="0" lIns="0" spcFirstLastPara="1" rIns="0" wrap="square" tIns="0">
            <a:spAutoFit/>
          </a:bodyPr>
          <a:lstStyle/>
          <a:p>
            <a:pPr indent="0" lvl="0" marL="0" marR="0" rtl="0" algn="l">
              <a:lnSpc>
                <a:spcPct val="140100"/>
              </a:lnSpc>
              <a:spcBef>
                <a:spcPts val="0"/>
              </a:spcBef>
              <a:spcAft>
                <a:spcPts val="0"/>
              </a:spcAft>
              <a:buNone/>
            </a:pPr>
            <a:r>
              <a:rPr lang="en-US" sz="1995">
                <a:solidFill>
                  <a:srgbClr val="503C30"/>
                </a:solidFill>
                <a:latin typeface="Inter"/>
                <a:ea typeface="Inter"/>
                <a:cs typeface="Inter"/>
                <a:sym typeface="Inter"/>
              </a:rPr>
              <a:t>(Martínez &amp; Martínez, 2018) </a:t>
            </a:r>
            <a:endParaRPr/>
          </a:p>
          <a:p>
            <a:pPr indent="0" lvl="0" marL="0" marR="0" rtl="0" algn="l">
              <a:lnSpc>
                <a:spcPct val="140100"/>
              </a:lnSpc>
              <a:spcBef>
                <a:spcPts val="0"/>
              </a:spcBef>
              <a:spcAft>
                <a:spcPts val="0"/>
              </a:spcAft>
              <a:buNone/>
            </a:pPr>
            <a:r>
              <a:rPr lang="en-US" sz="1995" u="sng">
                <a:solidFill>
                  <a:srgbClr val="503C30"/>
                </a:solidFill>
                <a:latin typeface="Inter"/>
                <a:ea typeface="Inter"/>
                <a:cs typeface="Inter"/>
                <a:sym typeface="Inter"/>
                <a:hlinkClick r:id="rId9">
                  <a:extLst>
                    <a:ext uri="{A12FA001-AC4F-418D-AE19-62706E023703}">
                      <ahyp:hlinkClr val="tx"/>
                    </a:ext>
                  </a:extLst>
                </a:hlinkClick>
              </a:rPr>
              <a:t>https://acortar.link/Kg7EHw</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par>
                                <p:cTn fill="hold" nodeType="with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par>
                                <p:cTn fill="hold" nodeType="with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par>
                                <p:cTn fill="hold" nodeType="with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par>
                                <p:cTn fill="hold" nodeType="with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par>
                                <p:cTn fill="hold" nodeType="with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par>
                                <p:cTn fill="hold" nodeType="with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par>
                                <p:cTn fill="hold" nodeType="with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par>
                                <p:cTn fill="hold" nodeType="with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par>
                                <p:cTn fill="hold" nodeType="with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128" name="Shape 128"/>
        <p:cNvGrpSpPr/>
        <p:nvPr/>
      </p:nvGrpSpPr>
      <p:grpSpPr>
        <a:xfrm>
          <a:off x="0" y="0"/>
          <a:ext cx="0" cy="0"/>
          <a:chOff x="0" y="0"/>
          <a:chExt cx="0" cy="0"/>
        </a:xfrm>
      </p:grpSpPr>
      <p:sp>
        <p:nvSpPr>
          <p:cNvPr id="129" name="Google Shape;129;p4"/>
          <p:cNvSpPr/>
          <p:nvPr/>
        </p:nvSpPr>
        <p:spPr>
          <a:xfrm rot="-6705041">
            <a:off x="1800639" y="1916165"/>
            <a:ext cx="3421747" cy="3524272"/>
          </a:xfrm>
          <a:custGeom>
            <a:rect b="b" l="l" r="r" t="t"/>
            <a:pathLst>
              <a:path extrusionOk="0" h="3524272" w="3421747">
                <a:moveTo>
                  <a:pt x="0" y="0"/>
                </a:moveTo>
                <a:lnTo>
                  <a:pt x="3421748" y="0"/>
                </a:lnTo>
                <a:lnTo>
                  <a:pt x="3421748" y="3524272"/>
                </a:lnTo>
                <a:lnTo>
                  <a:pt x="0" y="3524272"/>
                </a:lnTo>
                <a:lnTo>
                  <a:pt x="0" y="0"/>
                </a:lnTo>
                <a:close/>
              </a:path>
            </a:pathLst>
          </a:custGeom>
          <a:blipFill rotWithShape="1">
            <a:blip r:embed="rId3">
              <a:alphaModFix/>
            </a:blip>
            <a:stretch>
              <a:fillRect b="0" l="0" r="0" t="0"/>
            </a:stretch>
          </a:blipFill>
          <a:ln>
            <a:noFill/>
          </a:ln>
        </p:spPr>
      </p:sp>
      <p:sp>
        <p:nvSpPr>
          <p:cNvPr id="130" name="Google Shape;130;p4"/>
          <p:cNvSpPr/>
          <p:nvPr/>
        </p:nvSpPr>
        <p:spPr>
          <a:xfrm rot="2616426">
            <a:off x="2569461" y="5689891"/>
            <a:ext cx="3170628" cy="3405948"/>
          </a:xfrm>
          <a:custGeom>
            <a:rect b="b" l="l" r="r" t="t"/>
            <a:pathLst>
              <a:path extrusionOk="0" h="3405948" w="3170628">
                <a:moveTo>
                  <a:pt x="0" y="0"/>
                </a:moveTo>
                <a:lnTo>
                  <a:pt x="3170628" y="0"/>
                </a:lnTo>
                <a:lnTo>
                  <a:pt x="3170628" y="3405948"/>
                </a:lnTo>
                <a:lnTo>
                  <a:pt x="0" y="3405948"/>
                </a:lnTo>
                <a:lnTo>
                  <a:pt x="0" y="0"/>
                </a:lnTo>
                <a:close/>
              </a:path>
            </a:pathLst>
          </a:custGeom>
          <a:blipFill rotWithShape="1">
            <a:blip r:embed="rId4">
              <a:alphaModFix/>
            </a:blip>
            <a:stretch>
              <a:fillRect b="0" l="0" r="0" t="0"/>
            </a:stretch>
          </a:blipFill>
          <a:ln>
            <a:noFill/>
          </a:ln>
        </p:spPr>
      </p:sp>
      <p:sp>
        <p:nvSpPr>
          <p:cNvPr id="131" name="Google Shape;131;p4"/>
          <p:cNvSpPr/>
          <p:nvPr/>
        </p:nvSpPr>
        <p:spPr>
          <a:xfrm rot="5400000">
            <a:off x="-2200785" y="-674813"/>
            <a:ext cx="6244674" cy="2372976"/>
          </a:xfrm>
          <a:custGeom>
            <a:rect b="b" l="l" r="r" t="t"/>
            <a:pathLst>
              <a:path extrusionOk="0" h="2372976" w="6244674">
                <a:moveTo>
                  <a:pt x="0" y="0"/>
                </a:moveTo>
                <a:lnTo>
                  <a:pt x="6244674" y="0"/>
                </a:lnTo>
                <a:lnTo>
                  <a:pt x="6244674" y="2372976"/>
                </a:lnTo>
                <a:lnTo>
                  <a:pt x="0" y="2372976"/>
                </a:lnTo>
                <a:lnTo>
                  <a:pt x="0" y="0"/>
                </a:lnTo>
                <a:close/>
              </a:path>
            </a:pathLst>
          </a:custGeom>
          <a:blipFill rotWithShape="1">
            <a:blip r:embed="rId5">
              <a:alphaModFix/>
            </a:blip>
            <a:stretch>
              <a:fillRect b="0" l="0" r="0" t="0"/>
            </a:stretch>
          </a:blipFill>
          <a:ln>
            <a:noFill/>
          </a:ln>
        </p:spPr>
      </p:sp>
      <p:sp>
        <p:nvSpPr>
          <p:cNvPr id="132" name="Google Shape;132;p4"/>
          <p:cNvSpPr/>
          <p:nvPr/>
        </p:nvSpPr>
        <p:spPr>
          <a:xfrm rot="-9225015">
            <a:off x="-164452" y="8378497"/>
            <a:ext cx="5259824" cy="4332182"/>
          </a:xfrm>
          <a:custGeom>
            <a:rect b="b" l="l" r="r" t="t"/>
            <a:pathLst>
              <a:path extrusionOk="0" h="4332182" w="5259824">
                <a:moveTo>
                  <a:pt x="0" y="0"/>
                </a:moveTo>
                <a:lnTo>
                  <a:pt x="5259824" y="0"/>
                </a:lnTo>
                <a:lnTo>
                  <a:pt x="5259824" y="4332182"/>
                </a:lnTo>
                <a:lnTo>
                  <a:pt x="0" y="4332182"/>
                </a:lnTo>
                <a:lnTo>
                  <a:pt x="0" y="0"/>
                </a:lnTo>
                <a:close/>
              </a:path>
            </a:pathLst>
          </a:custGeom>
          <a:blipFill rotWithShape="1">
            <a:blip r:embed="rId6">
              <a:alphaModFix/>
            </a:blip>
            <a:stretch>
              <a:fillRect b="0" l="0" r="0" t="0"/>
            </a:stretch>
          </a:blipFill>
          <a:ln>
            <a:noFill/>
          </a:ln>
        </p:spPr>
      </p:sp>
      <p:sp>
        <p:nvSpPr>
          <p:cNvPr id="133" name="Google Shape;133;p4"/>
          <p:cNvSpPr/>
          <p:nvPr/>
        </p:nvSpPr>
        <p:spPr>
          <a:xfrm rot="5400000">
            <a:off x="-1425064" y="4868975"/>
            <a:ext cx="4732561" cy="2934188"/>
          </a:xfrm>
          <a:custGeom>
            <a:rect b="b" l="l" r="r" t="t"/>
            <a:pathLst>
              <a:path extrusionOk="0" h="2934188" w="4732561">
                <a:moveTo>
                  <a:pt x="0" y="0"/>
                </a:moveTo>
                <a:lnTo>
                  <a:pt x="4732560" y="0"/>
                </a:lnTo>
                <a:lnTo>
                  <a:pt x="4732560" y="2934188"/>
                </a:lnTo>
                <a:lnTo>
                  <a:pt x="0" y="2934188"/>
                </a:lnTo>
                <a:lnTo>
                  <a:pt x="0" y="0"/>
                </a:lnTo>
                <a:close/>
              </a:path>
            </a:pathLst>
          </a:custGeom>
          <a:blipFill rotWithShape="1">
            <a:blip r:embed="rId7">
              <a:alphaModFix/>
            </a:blip>
            <a:stretch>
              <a:fillRect b="0" l="0" r="0" t="0"/>
            </a:stretch>
          </a:blipFill>
          <a:ln>
            <a:noFill/>
          </a:ln>
        </p:spPr>
      </p:sp>
      <p:sp>
        <p:nvSpPr>
          <p:cNvPr id="134" name="Google Shape;134;p4"/>
          <p:cNvSpPr/>
          <p:nvPr/>
        </p:nvSpPr>
        <p:spPr>
          <a:xfrm rot="10800000">
            <a:off x="2232824" y="-2610662"/>
            <a:ext cx="5024829" cy="4138632"/>
          </a:xfrm>
          <a:custGeom>
            <a:rect b="b" l="l" r="r" t="t"/>
            <a:pathLst>
              <a:path extrusionOk="0" h="4138632" w="5024829">
                <a:moveTo>
                  <a:pt x="0" y="0"/>
                </a:moveTo>
                <a:lnTo>
                  <a:pt x="5024829" y="0"/>
                </a:lnTo>
                <a:lnTo>
                  <a:pt x="5024829" y="4138632"/>
                </a:lnTo>
                <a:lnTo>
                  <a:pt x="0" y="4138632"/>
                </a:lnTo>
                <a:lnTo>
                  <a:pt x="0" y="0"/>
                </a:lnTo>
                <a:close/>
              </a:path>
            </a:pathLst>
          </a:custGeom>
          <a:blipFill rotWithShape="1">
            <a:blip r:embed="rId6">
              <a:alphaModFix/>
            </a:blip>
            <a:stretch>
              <a:fillRect b="0" l="0" r="0" t="0"/>
            </a:stretch>
          </a:blipFill>
          <a:ln>
            <a:noFill/>
          </a:ln>
        </p:spPr>
      </p:sp>
      <p:sp>
        <p:nvSpPr>
          <p:cNvPr id="135" name="Google Shape;135;p4"/>
          <p:cNvSpPr txBox="1"/>
          <p:nvPr/>
        </p:nvSpPr>
        <p:spPr>
          <a:xfrm>
            <a:off x="9987920" y="1219200"/>
            <a:ext cx="7271380" cy="9525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lang="en-US" sz="7500">
                <a:solidFill>
                  <a:srgbClr val="503C30"/>
                </a:solidFill>
                <a:latin typeface="Arial"/>
                <a:ea typeface="Arial"/>
                <a:cs typeface="Arial"/>
                <a:sym typeface="Arial"/>
              </a:rPr>
              <a:t>MODELO OSI</a:t>
            </a:r>
            <a:endParaRPr/>
          </a:p>
        </p:txBody>
      </p:sp>
      <p:sp>
        <p:nvSpPr>
          <p:cNvPr id="136" name="Google Shape;136;p4"/>
          <p:cNvSpPr txBox="1"/>
          <p:nvPr/>
        </p:nvSpPr>
        <p:spPr>
          <a:xfrm>
            <a:off x="5868745" y="2947483"/>
            <a:ext cx="11390555" cy="5960109"/>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100">
                <a:solidFill>
                  <a:srgbClr val="503C30"/>
                </a:solidFill>
                <a:latin typeface="Inter"/>
                <a:ea typeface="Inter"/>
                <a:cs typeface="Inter"/>
                <a:sym typeface="Inter"/>
              </a:rPr>
              <a:t>El m</a:t>
            </a:r>
            <a:r>
              <a:rPr lang="en-US" sz="3100" u="none">
                <a:solidFill>
                  <a:srgbClr val="503C30"/>
                </a:solidFill>
                <a:latin typeface="Inter"/>
                <a:ea typeface="Inter"/>
                <a:cs typeface="Inter"/>
                <a:sym typeface="Inter"/>
              </a:rPr>
              <a:t>odelo OSI (Modelo de Interconexión de Sistemas Abiertos) es un marco conceptual que explica cómo los sistemas informáticos se comunican dentro de una red. Este modelo divide el proceso de comunicación en siete capas: física, enlace de datos, red, transporte, sesión, presentación y aplicación. Cada una de estas capas cumple funciones específicas que permiten que los dispositivos y programas puedan conectarse y compartir información de forma ordenada y eficiente.(Barbosa, 2025).</a:t>
            </a:r>
            <a:endParaRPr/>
          </a:p>
          <a:p>
            <a:pPr indent="0" lvl="0" marL="0" marR="0" rtl="0" algn="just">
              <a:lnSpc>
                <a:spcPct val="140000"/>
              </a:lnSpc>
              <a:spcBef>
                <a:spcPts val="0"/>
              </a:spcBef>
              <a:spcAft>
                <a:spcPts val="0"/>
              </a:spcAft>
              <a:buNone/>
            </a:pPr>
            <a:r>
              <a:t/>
            </a:r>
            <a:endParaRPr sz="3100" u="none">
              <a:solidFill>
                <a:srgbClr val="503C30"/>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par>
                                <p:cTn fill="hold" nodeType="with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par>
                                <p:cTn fill="hold" nodeType="with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par>
                                <p:cTn fill="hold" nodeType="with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par>
                                <p:cTn fill="hold" nodeType="with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par>
                                <p:cTn fill="hold" nodeType="with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140" name="Shape 140"/>
        <p:cNvGrpSpPr/>
        <p:nvPr/>
      </p:nvGrpSpPr>
      <p:grpSpPr>
        <a:xfrm>
          <a:off x="0" y="0"/>
          <a:ext cx="0" cy="0"/>
          <a:chOff x="0" y="0"/>
          <a:chExt cx="0" cy="0"/>
        </a:xfrm>
      </p:grpSpPr>
      <p:sp>
        <p:nvSpPr>
          <p:cNvPr id="141" name="Google Shape;141;p5"/>
          <p:cNvSpPr/>
          <p:nvPr/>
        </p:nvSpPr>
        <p:spPr>
          <a:xfrm rot="-6705041">
            <a:off x="1800639" y="1916165"/>
            <a:ext cx="3421747" cy="3524272"/>
          </a:xfrm>
          <a:custGeom>
            <a:rect b="b" l="l" r="r" t="t"/>
            <a:pathLst>
              <a:path extrusionOk="0" h="3524272" w="3421747">
                <a:moveTo>
                  <a:pt x="0" y="0"/>
                </a:moveTo>
                <a:lnTo>
                  <a:pt x="3421748" y="0"/>
                </a:lnTo>
                <a:lnTo>
                  <a:pt x="3421748" y="3524272"/>
                </a:lnTo>
                <a:lnTo>
                  <a:pt x="0" y="3524272"/>
                </a:lnTo>
                <a:lnTo>
                  <a:pt x="0" y="0"/>
                </a:lnTo>
                <a:close/>
              </a:path>
            </a:pathLst>
          </a:custGeom>
          <a:blipFill rotWithShape="1">
            <a:blip r:embed="rId3">
              <a:alphaModFix/>
            </a:blip>
            <a:stretch>
              <a:fillRect b="0" l="0" r="0" t="0"/>
            </a:stretch>
          </a:blipFill>
          <a:ln>
            <a:noFill/>
          </a:ln>
        </p:spPr>
      </p:sp>
      <p:sp>
        <p:nvSpPr>
          <p:cNvPr id="142" name="Google Shape;142;p5"/>
          <p:cNvSpPr/>
          <p:nvPr/>
        </p:nvSpPr>
        <p:spPr>
          <a:xfrm rot="2616426">
            <a:off x="2569461" y="5689891"/>
            <a:ext cx="3170628" cy="3405948"/>
          </a:xfrm>
          <a:custGeom>
            <a:rect b="b" l="l" r="r" t="t"/>
            <a:pathLst>
              <a:path extrusionOk="0" h="3405948" w="3170628">
                <a:moveTo>
                  <a:pt x="0" y="0"/>
                </a:moveTo>
                <a:lnTo>
                  <a:pt x="3170628" y="0"/>
                </a:lnTo>
                <a:lnTo>
                  <a:pt x="3170628" y="3405948"/>
                </a:lnTo>
                <a:lnTo>
                  <a:pt x="0" y="3405948"/>
                </a:lnTo>
                <a:lnTo>
                  <a:pt x="0" y="0"/>
                </a:lnTo>
                <a:close/>
              </a:path>
            </a:pathLst>
          </a:custGeom>
          <a:blipFill rotWithShape="1">
            <a:blip r:embed="rId4">
              <a:alphaModFix/>
            </a:blip>
            <a:stretch>
              <a:fillRect b="0" l="0" r="0" t="0"/>
            </a:stretch>
          </a:blipFill>
          <a:ln>
            <a:noFill/>
          </a:ln>
        </p:spPr>
      </p:sp>
      <p:sp>
        <p:nvSpPr>
          <p:cNvPr id="143" name="Google Shape;143;p5"/>
          <p:cNvSpPr/>
          <p:nvPr/>
        </p:nvSpPr>
        <p:spPr>
          <a:xfrm rot="5400000">
            <a:off x="-2200785" y="-674813"/>
            <a:ext cx="6244674" cy="2372976"/>
          </a:xfrm>
          <a:custGeom>
            <a:rect b="b" l="l" r="r" t="t"/>
            <a:pathLst>
              <a:path extrusionOk="0" h="2372976" w="6244674">
                <a:moveTo>
                  <a:pt x="0" y="0"/>
                </a:moveTo>
                <a:lnTo>
                  <a:pt x="6244674" y="0"/>
                </a:lnTo>
                <a:lnTo>
                  <a:pt x="6244674" y="2372976"/>
                </a:lnTo>
                <a:lnTo>
                  <a:pt x="0" y="2372976"/>
                </a:lnTo>
                <a:lnTo>
                  <a:pt x="0" y="0"/>
                </a:lnTo>
                <a:close/>
              </a:path>
            </a:pathLst>
          </a:custGeom>
          <a:blipFill rotWithShape="1">
            <a:blip r:embed="rId5">
              <a:alphaModFix/>
            </a:blip>
            <a:stretch>
              <a:fillRect b="0" l="0" r="0" t="0"/>
            </a:stretch>
          </a:blipFill>
          <a:ln>
            <a:noFill/>
          </a:ln>
        </p:spPr>
      </p:sp>
      <p:sp>
        <p:nvSpPr>
          <p:cNvPr id="144" name="Google Shape;144;p5"/>
          <p:cNvSpPr/>
          <p:nvPr/>
        </p:nvSpPr>
        <p:spPr>
          <a:xfrm rot="-9225015">
            <a:off x="-164452" y="8378497"/>
            <a:ext cx="5259824" cy="4332182"/>
          </a:xfrm>
          <a:custGeom>
            <a:rect b="b" l="l" r="r" t="t"/>
            <a:pathLst>
              <a:path extrusionOk="0" h="4332182" w="5259824">
                <a:moveTo>
                  <a:pt x="0" y="0"/>
                </a:moveTo>
                <a:lnTo>
                  <a:pt x="5259824" y="0"/>
                </a:lnTo>
                <a:lnTo>
                  <a:pt x="5259824" y="4332182"/>
                </a:lnTo>
                <a:lnTo>
                  <a:pt x="0" y="4332182"/>
                </a:lnTo>
                <a:lnTo>
                  <a:pt x="0" y="0"/>
                </a:lnTo>
                <a:close/>
              </a:path>
            </a:pathLst>
          </a:custGeom>
          <a:blipFill rotWithShape="1">
            <a:blip r:embed="rId6">
              <a:alphaModFix/>
            </a:blip>
            <a:stretch>
              <a:fillRect b="0" l="0" r="0" t="0"/>
            </a:stretch>
          </a:blipFill>
          <a:ln>
            <a:noFill/>
          </a:ln>
        </p:spPr>
      </p:sp>
      <p:sp>
        <p:nvSpPr>
          <p:cNvPr id="145" name="Google Shape;145;p5"/>
          <p:cNvSpPr/>
          <p:nvPr/>
        </p:nvSpPr>
        <p:spPr>
          <a:xfrm rot="5400000">
            <a:off x="-1425064" y="4868975"/>
            <a:ext cx="4732561" cy="2934188"/>
          </a:xfrm>
          <a:custGeom>
            <a:rect b="b" l="l" r="r" t="t"/>
            <a:pathLst>
              <a:path extrusionOk="0" h="2934188" w="4732561">
                <a:moveTo>
                  <a:pt x="0" y="0"/>
                </a:moveTo>
                <a:lnTo>
                  <a:pt x="4732560" y="0"/>
                </a:lnTo>
                <a:lnTo>
                  <a:pt x="4732560" y="2934188"/>
                </a:lnTo>
                <a:lnTo>
                  <a:pt x="0" y="2934188"/>
                </a:lnTo>
                <a:lnTo>
                  <a:pt x="0" y="0"/>
                </a:lnTo>
                <a:close/>
              </a:path>
            </a:pathLst>
          </a:custGeom>
          <a:blipFill rotWithShape="1">
            <a:blip r:embed="rId7">
              <a:alphaModFix/>
            </a:blip>
            <a:stretch>
              <a:fillRect b="0" l="0" r="0" t="0"/>
            </a:stretch>
          </a:blipFill>
          <a:ln>
            <a:noFill/>
          </a:ln>
        </p:spPr>
      </p:sp>
      <p:sp>
        <p:nvSpPr>
          <p:cNvPr id="146" name="Google Shape;146;p5"/>
          <p:cNvSpPr/>
          <p:nvPr/>
        </p:nvSpPr>
        <p:spPr>
          <a:xfrm rot="10800000">
            <a:off x="2232824" y="-2610662"/>
            <a:ext cx="5024829" cy="4138632"/>
          </a:xfrm>
          <a:custGeom>
            <a:rect b="b" l="l" r="r" t="t"/>
            <a:pathLst>
              <a:path extrusionOk="0" h="4138632" w="5024829">
                <a:moveTo>
                  <a:pt x="0" y="0"/>
                </a:moveTo>
                <a:lnTo>
                  <a:pt x="5024829" y="0"/>
                </a:lnTo>
                <a:lnTo>
                  <a:pt x="5024829" y="4138632"/>
                </a:lnTo>
                <a:lnTo>
                  <a:pt x="0" y="4138632"/>
                </a:lnTo>
                <a:lnTo>
                  <a:pt x="0" y="0"/>
                </a:lnTo>
                <a:close/>
              </a:path>
            </a:pathLst>
          </a:custGeom>
          <a:blipFill rotWithShape="1">
            <a:blip r:embed="rId6">
              <a:alphaModFix/>
            </a:blip>
            <a:stretch>
              <a:fillRect b="0" l="0" r="0" t="0"/>
            </a:stretch>
          </a:blipFill>
          <a:ln>
            <a:noFill/>
          </a:ln>
        </p:spPr>
      </p:sp>
      <p:sp>
        <p:nvSpPr>
          <p:cNvPr id="147" name="Google Shape;147;p5"/>
          <p:cNvSpPr txBox="1"/>
          <p:nvPr/>
        </p:nvSpPr>
        <p:spPr>
          <a:xfrm>
            <a:off x="9987920" y="1219200"/>
            <a:ext cx="7271380" cy="9525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lang="en-US" sz="7500">
                <a:solidFill>
                  <a:srgbClr val="503C30"/>
                </a:solidFill>
                <a:latin typeface="Arial"/>
                <a:ea typeface="Arial"/>
                <a:cs typeface="Arial"/>
                <a:sym typeface="Arial"/>
              </a:rPr>
              <a:t>MODELO OSI</a:t>
            </a:r>
            <a:endParaRPr/>
          </a:p>
        </p:txBody>
      </p:sp>
      <p:sp>
        <p:nvSpPr>
          <p:cNvPr id="148" name="Google Shape;148;p5"/>
          <p:cNvSpPr txBox="1"/>
          <p:nvPr/>
        </p:nvSpPr>
        <p:spPr>
          <a:xfrm>
            <a:off x="5868745" y="2947483"/>
            <a:ext cx="11390555" cy="4331335"/>
          </a:xfrm>
          <a:prstGeom prst="rect">
            <a:avLst/>
          </a:prstGeom>
          <a:noFill/>
          <a:ln>
            <a:noFill/>
          </a:ln>
        </p:spPr>
        <p:txBody>
          <a:bodyPr anchorCtr="0" anchor="t" bIns="0" lIns="0" spcFirstLastPara="1" rIns="0" wrap="square" tIns="0">
            <a:spAutoFit/>
          </a:bodyPr>
          <a:lstStyle/>
          <a:p>
            <a:pPr indent="0" lvl="0" marL="0" marR="0" rtl="0" algn="just">
              <a:lnSpc>
                <a:spcPct val="140012"/>
              </a:lnSpc>
              <a:spcBef>
                <a:spcPts val="0"/>
              </a:spcBef>
              <a:spcAft>
                <a:spcPts val="0"/>
              </a:spcAft>
              <a:buNone/>
            </a:pPr>
            <a:r>
              <a:rPr lang="en-US" sz="3099">
                <a:solidFill>
                  <a:srgbClr val="503C30"/>
                </a:solidFill>
                <a:latin typeface="Inter"/>
                <a:ea typeface="Inter"/>
                <a:cs typeface="Inter"/>
                <a:sym typeface="Inter"/>
              </a:rPr>
              <a:t>El modelo OSI facilita la interoperabilidad entre diferentes sistemas, ya que define claramente cómo deben transmitirse los datos entre un emisor y un receptor. Aunque en la práctica muchas redes actuales se basan en el modelo TCP/IP, el OSI sigue siendo esencial para comprender el funcionamiento interno de las redes y para el aprendizaje en áreas de telecomunicaciones y tecnología (Barbosa, 2025).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par>
                                <p:cTn fill="hold" nodeType="with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par>
                                <p:cTn fill="hold" nodeType="with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par>
                                <p:cTn fill="hold" nodeType="with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par>
                                <p:cTn fill="hold" nodeType="with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par>
                                <p:cTn fill="hold" nodeType="with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par>
                                <p:cTn fill="hold" nodeType="with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152" name="Shape 152"/>
        <p:cNvGrpSpPr/>
        <p:nvPr/>
      </p:nvGrpSpPr>
      <p:grpSpPr>
        <a:xfrm>
          <a:off x="0" y="0"/>
          <a:ext cx="0" cy="0"/>
          <a:chOff x="0" y="0"/>
          <a:chExt cx="0" cy="0"/>
        </a:xfrm>
      </p:grpSpPr>
      <p:sp>
        <p:nvSpPr>
          <p:cNvPr id="153" name="Google Shape;153;p6"/>
          <p:cNvSpPr/>
          <p:nvPr/>
        </p:nvSpPr>
        <p:spPr>
          <a:xfrm rot="4094958">
            <a:off x="690733" y="680406"/>
            <a:ext cx="1910240" cy="1967476"/>
          </a:xfrm>
          <a:custGeom>
            <a:rect b="b" l="l" r="r" t="t"/>
            <a:pathLst>
              <a:path extrusionOk="0" h="1967476" w="1910240">
                <a:moveTo>
                  <a:pt x="0" y="0"/>
                </a:moveTo>
                <a:lnTo>
                  <a:pt x="1910240" y="0"/>
                </a:lnTo>
                <a:lnTo>
                  <a:pt x="1910240" y="1967476"/>
                </a:lnTo>
                <a:lnTo>
                  <a:pt x="0" y="1967476"/>
                </a:lnTo>
                <a:lnTo>
                  <a:pt x="0" y="0"/>
                </a:lnTo>
                <a:close/>
              </a:path>
            </a:pathLst>
          </a:custGeom>
          <a:blipFill rotWithShape="1">
            <a:blip r:embed="rId3">
              <a:alphaModFix/>
            </a:blip>
            <a:stretch>
              <a:fillRect b="0" l="0" r="0" t="0"/>
            </a:stretch>
          </a:blipFill>
          <a:ln>
            <a:noFill/>
          </a:ln>
        </p:spPr>
      </p:sp>
      <p:sp>
        <p:nvSpPr>
          <p:cNvPr id="154" name="Google Shape;154;p6"/>
          <p:cNvSpPr/>
          <p:nvPr/>
        </p:nvSpPr>
        <p:spPr>
          <a:xfrm>
            <a:off x="5893777" y="6577240"/>
            <a:ext cx="2463395" cy="2646226"/>
          </a:xfrm>
          <a:custGeom>
            <a:rect b="b" l="l" r="r" t="t"/>
            <a:pathLst>
              <a:path extrusionOk="0" h="2646226" w="2463395">
                <a:moveTo>
                  <a:pt x="0" y="0"/>
                </a:moveTo>
                <a:lnTo>
                  <a:pt x="2463395" y="0"/>
                </a:lnTo>
                <a:lnTo>
                  <a:pt x="2463395" y="2646226"/>
                </a:lnTo>
                <a:lnTo>
                  <a:pt x="0" y="2646226"/>
                </a:lnTo>
                <a:lnTo>
                  <a:pt x="0" y="0"/>
                </a:lnTo>
                <a:close/>
              </a:path>
            </a:pathLst>
          </a:custGeom>
          <a:blipFill rotWithShape="1">
            <a:blip r:embed="rId4">
              <a:alphaModFix/>
            </a:blip>
            <a:stretch>
              <a:fillRect b="0" l="0" r="0" t="0"/>
            </a:stretch>
          </a:blipFill>
          <a:ln>
            <a:noFill/>
          </a:ln>
        </p:spPr>
      </p:sp>
      <p:sp>
        <p:nvSpPr>
          <p:cNvPr id="155" name="Google Shape;155;p6"/>
          <p:cNvSpPr/>
          <p:nvPr/>
        </p:nvSpPr>
        <p:spPr>
          <a:xfrm>
            <a:off x="1524048" y="2394222"/>
            <a:ext cx="6727325" cy="5246370"/>
          </a:xfrm>
          <a:custGeom>
            <a:rect b="b" l="l" r="r" t="t"/>
            <a:pathLst>
              <a:path extrusionOk="0" h="812800" w="1042239">
                <a:moveTo>
                  <a:pt x="0" y="0"/>
                </a:moveTo>
                <a:lnTo>
                  <a:pt x="1042239" y="0"/>
                </a:lnTo>
                <a:lnTo>
                  <a:pt x="1042239" y="812800"/>
                </a:lnTo>
                <a:lnTo>
                  <a:pt x="0" y="812800"/>
                </a:lnTo>
                <a:close/>
              </a:path>
            </a:pathLst>
          </a:custGeom>
          <a:blipFill rotWithShape="1">
            <a:blip r:embed="rId5">
              <a:alphaModFix/>
            </a:blip>
            <a:stretch>
              <a:fillRect b="0" l="-1988" r="-1988" t="0"/>
            </a:stretch>
          </a:blipFill>
          <a:ln>
            <a:noFill/>
          </a:ln>
        </p:spPr>
      </p:sp>
      <p:sp>
        <p:nvSpPr>
          <p:cNvPr id="156" name="Google Shape;156;p6"/>
          <p:cNvSpPr txBox="1"/>
          <p:nvPr/>
        </p:nvSpPr>
        <p:spPr>
          <a:xfrm>
            <a:off x="9987920" y="1175362"/>
            <a:ext cx="7271380" cy="9525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lang="en-US" sz="7500">
                <a:solidFill>
                  <a:srgbClr val="503C30"/>
                </a:solidFill>
                <a:latin typeface="Arial"/>
                <a:ea typeface="Arial"/>
                <a:cs typeface="Arial"/>
                <a:sym typeface="Arial"/>
              </a:rPr>
              <a:t>HISTORIA</a:t>
            </a:r>
            <a:endParaRPr/>
          </a:p>
        </p:txBody>
      </p:sp>
      <p:sp>
        <p:nvSpPr>
          <p:cNvPr id="157" name="Google Shape;157;p6"/>
          <p:cNvSpPr txBox="1"/>
          <p:nvPr/>
        </p:nvSpPr>
        <p:spPr>
          <a:xfrm>
            <a:off x="9716138" y="2615928"/>
            <a:ext cx="7552687" cy="69246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503C30"/>
                </a:solidFill>
                <a:latin typeface="Inter"/>
                <a:ea typeface="Inter"/>
                <a:cs typeface="Inter"/>
                <a:sym typeface="Inter"/>
              </a:rPr>
              <a:t>El</a:t>
            </a:r>
            <a:r>
              <a:rPr lang="en-US" sz="3000" u="none">
                <a:solidFill>
                  <a:srgbClr val="503C30"/>
                </a:solidFill>
                <a:latin typeface="Inter"/>
                <a:ea typeface="Inter"/>
                <a:cs typeface="Inter"/>
                <a:sym typeface="Inter"/>
              </a:rPr>
              <a:t> modelo OSI (Open Systems Interconnection) fue desarrollado por la ISO a finales de los años 70 para resolver los problemas de comunicación entre computadoras de distintos fabricantes. Su objetivo era crear un estándar que organizara la transmisión de datos en siete capas, desde la física hasta la aplicación (Data-Flair, 2021; Cisco Learning Network, 2021).</a:t>
            </a:r>
            <a:endParaRPr/>
          </a:p>
          <a:p>
            <a:pPr indent="0" lvl="0" marL="0" marR="0" rtl="0" algn="just">
              <a:lnSpc>
                <a:spcPct val="140000"/>
              </a:lnSpc>
              <a:spcBef>
                <a:spcPts val="0"/>
              </a:spcBef>
              <a:spcAft>
                <a:spcPts val="0"/>
              </a:spcAft>
              <a:buNone/>
            </a:pPr>
            <a:r>
              <a:t/>
            </a:r>
            <a:endParaRPr sz="3000" u="none">
              <a:solidFill>
                <a:srgbClr val="503C30"/>
              </a:solidFill>
              <a:latin typeface="Inter"/>
              <a:ea typeface="Inter"/>
              <a:cs typeface="Inter"/>
              <a:sym typeface="Inter"/>
            </a:endParaRPr>
          </a:p>
          <a:p>
            <a:pPr indent="0" lvl="0" marL="0" marR="0" rtl="0" algn="just">
              <a:lnSpc>
                <a:spcPct val="140000"/>
              </a:lnSpc>
              <a:spcBef>
                <a:spcPts val="0"/>
              </a:spcBef>
              <a:spcAft>
                <a:spcPts val="0"/>
              </a:spcAft>
              <a:buNone/>
            </a:pPr>
            <a:r>
              <a:t/>
            </a:r>
            <a:endParaRPr sz="3000" u="none">
              <a:solidFill>
                <a:srgbClr val="503C30"/>
              </a:solidFill>
              <a:latin typeface="Inter"/>
              <a:ea typeface="Inter"/>
              <a:cs typeface="Inter"/>
              <a:sym typeface="Inter"/>
            </a:endParaRPr>
          </a:p>
        </p:txBody>
      </p:sp>
      <p:sp>
        <p:nvSpPr>
          <p:cNvPr id="158" name="Google Shape;158;p6"/>
          <p:cNvSpPr txBox="1"/>
          <p:nvPr/>
        </p:nvSpPr>
        <p:spPr>
          <a:xfrm>
            <a:off x="1524048" y="1508737"/>
            <a:ext cx="3321248" cy="737325"/>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rPr lang="en-US" sz="2096">
                <a:solidFill>
                  <a:srgbClr val="503C30"/>
                </a:solidFill>
                <a:latin typeface="Inter"/>
                <a:ea typeface="Inter"/>
                <a:cs typeface="Inter"/>
                <a:sym typeface="Inter"/>
              </a:rPr>
              <a:t>Figura 2</a:t>
            </a:r>
            <a:endParaRPr/>
          </a:p>
          <a:p>
            <a:pPr indent="0" lvl="0" marL="0" marR="0" rtl="0" algn="l">
              <a:lnSpc>
                <a:spcPct val="140028"/>
              </a:lnSpc>
              <a:spcBef>
                <a:spcPts val="0"/>
              </a:spcBef>
              <a:spcAft>
                <a:spcPts val="0"/>
              </a:spcAft>
              <a:buNone/>
            </a:pPr>
            <a:r>
              <a:rPr lang="en-US" sz="2096">
                <a:solidFill>
                  <a:srgbClr val="503C30"/>
                </a:solidFill>
                <a:latin typeface="Inter"/>
                <a:ea typeface="Inter"/>
                <a:cs typeface="Inter"/>
                <a:sym typeface="Inter"/>
              </a:rPr>
              <a:t>¿Qué es el modelo OSI?</a:t>
            </a:r>
            <a:endParaRPr/>
          </a:p>
        </p:txBody>
      </p:sp>
      <p:sp>
        <p:nvSpPr>
          <p:cNvPr id="159" name="Google Shape;159;p6"/>
          <p:cNvSpPr txBox="1"/>
          <p:nvPr/>
        </p:nvSpPr>
        <p:spPr>
          <a:xfrm>
            <a:off x="1524048" y="7602492"/>
            <a:ext cx="3707249" cy="692240"/>
          </a:xfrm>
          <a:prstGeom prst="rect">
            <a:avLst/>
          </a:prstGeom>
          <a:noFill/>
          <a:ln>
            <a:noFill/>
          </a:ln>
        </p:spPr>
        <p:txBody>
          <a:bodyPr anchorCtr="0" anchor="t" bIns="0" lIns="0" spcFirstLastPara="1" rIns="0" wrap="square" tIns="0">
            <a:spAutoFit/>
          </a:bodyPr>
          <a:lstStyle/>
          <a:p>
            <a:pPr indent="0" lvl="0" marL="0" marR="0" rtl="0" algn="l">
              <a:lnSpc>
                <a:spcPct val="140100"/>
              </a:lnSpc>
              <a:spcBef>
                <a:spcPts val="0"/>
              </a:spcBef>
              <a:spcAft>
                <a:spcPts val="0"/>
              </a:spcAft>
              <a:buNone/>
            </a:pPr>
            <a:r>
              <a:rPr lang="en-US" sz="1995">
                <a:solidFill>
                  <a:srgbClr val="503C30"/>
                </a:solidFill>
                <a:latin typeface="Inter"/>
                <a:ea typeface="Inter"/>
                <a:cs typeface="Inter"/>
                <a:sym typeface="Inter"/>
              </a:rPr>
              <a:t>(HostingTG, s.f)</a:t>
            </a:r>
            <a:endParaRPr/>
          </a:p>
          <a:p>
            <a:pPr indent="0" lvl="0" marL="0" marR="0" rtl="0" algn="l">
              <a:lnSpc>
                <a:spcPct val="140100"/>
              </a:lnSpc>
              <a:spcBef>
                <a:spcPts val="0"/>
              </a:spcBef>
              <a:spcAft>
                <a:spcPts val="0"/>
              </a:spcAft>
              <a:buNone/>
            </a:pPr>
            <a:r>
              <a:rPr lang="en-US" sz="1995" u="sng">
                <a:solidFill>
                  <a:srgbClr val="503C30"/>
                </a:solidFill>
                <a:latin typeface="Inter"/>
                <a:ea typeface="Inter"/>
                <a:cs typeface="Inter"/>
                <a:sym typeface="Inter"/>
                <a:hlinkClick r:id="rId6">
                  <a:extLst>
                    <a:ext uri="{A12FA001-AC4F-418D-AE19-62706E023703}">
                      <ahyp:hlinkClr val="tx"/>
                    </a:ext>
                  </a:extLst>
                </a:hlinkClick>
              </a:rPr>
              <a:t>https://acortar.link/Kg7EHw</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par>
                                <p:cTn fill="hold" nodeType="with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par>
                                <p:cTn fill="hold" nodeType="with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par>
                                <p:cTn fill="hold" nodeType="with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par>
                                <p:cTn fill="hold" nodeType="with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000"/>
                                        <p:tgtEl>
                                          <p:spTgt spid="158"/>
                                        </p:tgtEl>
                                      </p:cBhvr>
                                    </p:animEffect>
                                  </p:childTnLst>
                                </p:cTn>
                              </p:par>
                              <p:par>
                                <p:cTn fill="hold" nodeType="with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163" name="Shape 163"/>
        <p:cNvGrpSpPr/>
        <p:nvPr/>
      </p:nvGrpSpPr>
      <p:grpSpPr>
        <a:xfrm>
          <a:off x="0" y="0"/>
          <a:ext cx="0" cy="0"/>
          <a:chOff x="0" y="0"/>
          <a:chExt cx="0" cy="0"/>
        </a:xfrm>
      </p:grpSpPr>
      <p:sp>
        <p:nvSpPr>
          <p:cNvPr id="164" name="Google Shape;164;p7"/>
          <p:cNvSpPr/>
          <p:nvPr/>
        </p:nvSpPr>
        <p:spPr>
          <a:xfrm rot="4094958">
            <a:off x="690733" y="680406"/>
            <a:ext cx="1910240" cy="1967476"/>
          </a:xfrm>
          <a:custGeom>
            <a:rect b="b" l="l" r="r" t="t"/>
            <a:pathLst>
              <a:path extrusionOk="0" h="1967476" w="1910240">
                <a:moveTo>
                  <a:pt x="0" y="0"/>
                </a:moveTo>
                <a:lnTo>
                  <a:pt x="1910240" y="0"/>
                </a:lnTo>
                <a:lnTo>
                  <a:pt x="1910240" y="1967476"/>
                </a:lnTo>
                <a:lnTo>
                  <a:pt x="0" y="1967476"/>
                </a:lnTo>
                <a:lnTo>
                  <a:pt x="0" y="0"/>
                </a:lnTo>
                <a:close/>
              </a:path>
            </a:pathLst>
          </a:custGeom>
          <a:blipFill rotWithShape="1">
            <a:blip r:embed="rId3">
              <a:alphaModFix/>
            </a:blip>
            <a:stretch>
              <a:fillRect b="0" l="0" r="0" t="0"/>
            </a:stretch>
          </a:blipFill>
          <a:ln>
            <a:noFill/>
          </a:ln>
        </p:spPr>
      </p:sp>
      <p:sp>
        <p:nvSpPr>
          <p:cNvPr id="165" name="Google Shape;165;p7"/>
          <p:cNvSpPr/>
          <p:nvPr/>
        </p:nvSpPr>
        <p:spPr>
          <a:xfrm>
            <a:off x="5893777" y="6577240"/>
            <a:ext cx="2463395" cy="2646226"/>
          </a:xfrm>
          <a:custGeom>
            <a:rect b="b" l="l" r="r" t="t"/>
            <a:pathLst>
              <a:path extrusionOk="0" h="2646226" w="2463395">
                <a:moveTo>
                  <a:pt x="0" y="0"/>
                </a:moveTo>
                <a:lnTo>
                  <a:pt x="2463395" y="0"/>
                </a:lnTo>
                <a:lnTo>
                  <a:pt x="2463395" y="2646226"/>
                </a:lnTo>
                <a:lnTo>
                  <a:pt x="0" y="2646226"/>
                </a:lnTo>
                <a:lnTo>
                  <a:pt x="0" y="0"/>
                </a:lnTo>
                <a:close/>
              </a:path>
            </a:pathLst>
          </a:custGeom>
          <a:blipFill rotWithShape="1">
            <a:blip r:embed="rId4">
              <a:alphaModFix/>
            </a:blip>
            <a:stretch>
              <a:fillRect b="0" l="0" r="0" t="0"/>
            </a:stretch>
          </a:blipFill>
          <a:ln>
            <a:noFill/>
          </a:ln>
        </p:spPr>
      </p:sp>
      <p:sp>
        <p:nvSpPr>
          <p:cNvPr id="166" name="Google Shape;166;p7"/>
          <p:cNvSpPr/>
          <p:nvPr/>
        </p:nvSpPr>
        <p:spPr>
          <a:xfrm>
            <a:off x="1364805" y="2394222"/>
            <a:ext cx="6727325" cy="5246370"/>
          </a:xfrm>
          <a:custGeom>
            <a:rect b="b" l="l" r="r" t="t"/>
            <a:pathLst>
              <a:path extrusionOk="0" h="812800" w="1042239">
                <a:moveTo>
                  <a:pt x="0" y="0"/>
                </a:moveTo>
                <a:lnTo>
                  <a:pt x="1042239" y="0"/>
                </a:lnTo>
                <a:lnTo>
                  <a:pt x="1042239" y="812800"/>
                </a:lnTo>
                <a:lnTo>
                  <a:pt x="0" y="812800"/>
                </a:lnTo>
                <a:close/>
              </a:path>
            </a:pathLst>
          </a:custGeom>
          <a:blipFill rotWithShape="1">
            <a:blip r:embed="rId5">
              <a:alphaModFix/>
            </a:blip>
            <a:stretch>
              <a:fillRect b="0" l="-3340" r="-3340" t="0"/>
            </a:stretch>
          </a:blipFill>
          <a:ln>
            <a:noFill/>
          </a:ln>
        </p:spPr>
      </p:sp>
      <p:sp>
        <p:nvSpPr>
          <p:cNvPr id="167" name="Google Shape;167;p7"/>
          <p:cNvSpPr txBox="1"/>
          <p:nvPr/>
        </p:nvSpPr>
        <p:spPr>
          <a:xfrm>
            <a:off x="9987920" y="1175362"/>
            <a:ext cx="7271380" cy="9525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lang="en-US" sz="7500">
                <a:solidFill>
                  <a:srgbClr val="503C30"/>
                </a:solidFill>
                <a:latin typeface="Arial"/>
                <a:ea typeface="Arial"/>
                <a:cs typeface="Arial"/>
                <a:sym typeface="Arial"/>
              </a:rPr>
              <a:t>HISTORIA</a:t>
            </a:r>
            <a:endParaRPr/>
          </a:p>
        </p:txBody>
      </p:sp>
      <p:sp>
        <p:nvSpPr>
          <p:cNvPr id="168" name="Google Shape;168;p7"/>
          <p:cNvSpPr txBox="1"/>
          <p:nvPr/>
        </p:nvSpPr>
        <p:spPr>
          <a:xfrm>
            <a:off x="9706613" y="2615928"/>
            <a:ext cx="7552687" cy="532447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000">
                <a:solidFill>
                  <a:srgbClr val="503C30"/>
                </a:solidFill>
                <a:latin typeface="Inter"/>
                <a:ea typeface="Inter"/>
                <a:cs typeface="Inter"/>
                <a:sym typeface="Inter"/>
              </a:rPr>
              <a:t>En 1984, la ISO publicó la norma ISO 7498, que formalizó el modelo OSI como referencia global en redes (OPIT, 2023). Aunque no se usa directamente en la práctica, sigue siendo esencial para comprender, diseñar y enseñar cómo se comunican los sistemas informáticos (TechTarget, 2025).</a:t>
            </a:r>
            <a:endParaRPr/>
          </a:p>
          <a:p>
            <a:pPr indent="0" lvl="0" marL="0" marR="0" rtl="0" algn="just">
              <a:lnSpc>
                <a:spcPct val="140000"/>
              </a:lnSpc>
              <a:spcBef>
                <a:spcPts val="0"/>
              </a:spcBef>
              <a:spcAft>
                <a:spcPts val="0"/>
              </a:spcAft>
              <a:buNone/>
            </a:pPr>
            <a:r>
              <a:t/>
            </a:r>
            <a:endParaRPr sz="3000">
              <a:solidFill>
                <a:srgbClr val="503C30"/>
              </a:solidFill>
              <a:latin typeface="Inter"/>
              <a:ea typeface="Inter"/>
              <a:cs typeface="Inter"/>
              <a:sym typeface="Inter"/>
            </a:endParaRPr>
          </a:p>
        </p:txBody>
      </p:sp>
      <p:sp>
        <p:nvSpPr>
          <p:cNvPr id="169" name="Google Shape;169;p7"/>
          <p:cNvSpPr txBox="1"/>
          <p:nvPr/>
        </p:nvSpPr>
        <p:spPr>
          <a:xfrm>
            <a:off x="1524048" y="1508737"/>
            <a:ext cx="3321248" cy="737325"/>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rPr lang="en-US" sz="2096">
                <a:solidFill>
                  <a:srgbClr val="503C30"/>
                </a:solidFill>
                <a:latin typeface="Inter"/>
                <a:ea typeface="Inter"/>
                <a:cs typeface="Inter"/>
                <a:sym typeface="Inter"/>
              </a:rPr>
              <a:t>Figura 3</a:t>
            </a:r>
            <a:endParaRPr/>
          </a:p>
          <a:p>
            <a:pPr indent="0" lvl="0" marL="0" marR="0" rtl="0" algn="l">
              <a:lnSpc>
                <a:spcPct val="140028"/>
              </a:lnSpc>
              <a:spcBef>
                <a:spcPts val="0"/>
              </a:spcBef>
              <a:spcAft>
                <a:spcPts val="0"/>
              </a:spcAft>
              <a:buNone/>
            </a:pPr>
            <a:r>
              <a:rPr lang="en-US" sz="2096">
                <a:solidFill>
                  <a:srgbClr val="503C30"/>
                </a:solidFill>
                <a:latin typeface="Inter"/>
                <a:ea typeface="Inter"/>
                <a:cs typeface="Inter"/>
                <a:sym typeface="Inter"/>
              </a:rPr>
              <a:t>¿Qué es el modelo OSI?</a:t>
            </a:r>
            <a:endParaRPr/>
          </a:p>
        </p:txBody>
      </p:sp>
      <p:sp>
        <p:nvSpPr>
          <p:cNvPr id="170" name="Google Shape;170;p7"/>
          <p:cNvSpPr txBox="1"/>
          <p:nvPr/>
        </p:nvSpPr>
        <p:spPr>
          <a:xfrm>
            <a:off x="1524048" y="7602492"/>
            <a:ext cx="3706564" cy="692240"/>
          </a:xfrm>
          <a:prstGeom prst="rect">
            <a:avLst/>
          </a:prstGeom>
          <a:noFill/>
          <a:ln>
            <a:noFill/>
          </a:ln>
        </p:spPr>
        <p:txBody>
          <a:bodyPr anchorCtr="0" anchor="t" bIns="0" lIns="0" spcFirstLastPara="1" rIns="0" wrap="square" tIns="0">
            <a:spAutoFit/>
          </a:bodyPr>
          <a:lstStyle/>
          <a:p>
            <a:pPr indent="0" lvl="0" marL="0" marR="0" rtl="0" algn="l">
              <a:lnSpc>
                <a:spcPct val="140100"/>
              </a:lnSpc>
              <a:spcBef>
                <a:spcPts val="0"/>
              </a:spcBef>
              <a:spcAft>
                <a:spcPts val="0"/>
              </a:spcAft>
              <a:buNone/>
            </a:pPr>
            <a:r>
              <a:rPr lang="en-US" sz="1995" u="sng">
                <a:solidFill>
                  <a:srgbClr val="503C30"/>
                </a:solidFill>
                <a:latin typeface="Inter"/>
                <a:ea typeface="Inter"/>
                <a:cs typeface="Inter"/>
                <a:sym typeface="Inter"/>
              </a:rPr>
              <a:t>(HostingTG, s.f)</a:t>
            </a:r>
            <a:endParaRPr/>
          </a:p>
          <a:p>
            <a:pPr indent="0" lvl="0" marL="0" marR="0" rtl="0" algn="l">
              <a:lnSpc>
                <a:spcPct val="140100"/>
              </a:lnSpc>
              <a:spcBef>
                <a:spcPts val="0"/>
              </a:spcBef>
              <a:spcAft>
                <a:spcPts val="0"/>
              </a:spcAft>
              <a:buNone/>
            </a:pPr>
            <a:r>
              <a:rPr lang="en-US" sz="1995" u="sng">
                <a:solidFill>
                  <a:srgbClr val="503C30"/>
                </a:solidFill>
                <a:latin typeface="Inter"/>
                <a:ea typeface="Inter"/>
                <a:cs typeface="Inter"/>
                <a:sym typeface="Inter"/>
              </a:rPr>
              <a:t>https://acortar.link/Kg7EHw</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par>
                                <p:cTn fill="hold" nodeType="with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par>
                                <p:cTn fill="hold" nodeType="with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par>
                                <p:cTn fill="hold" nodeType="with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174" name="Shape 174"/>
        <p:cNvGrpSpPr/>
        <p:nvPr/>
      </p:nvGrpSpPr>
      <p:grpSpPr>
        <a:xfrm>
          <a:off x="0" y="0"/>
          <a:ext cx="0" cy="0"/>
          <a:chOff x="0" y="0"/>
          <a:chExt cx="0" cy="0"/>
        </a:xfrm>
      </p:grpSpPr>
      <p:sp>
        <p:nvSpPr>
          <p:cNvPr id="175" name="Google Shape;175;p8"/>
          <p:cNvSpPr/>
          <p:nvPr/>
        </p:nvSpPr>
        <p:spPr>
          <a:xfrm>
            <a:off x="14388404" y="9114315"/>
            <a:ext cx="4913679" cy="1876132"/>
          </a:xfrm>
          <a:custGeom>
            <a:rect b="b" l="l" r="r" t="t"/>
            <a:pathLst>
              <a:path extrusionOk="0" h="1876132" w="4913679">
                <a:moveTo>
                  <a:pt x="0" y="0"/>
                </a:moveTo>
                <a:lnTo>
                  <a:pt x="4913678" y="0"/>
                </a:lnTo>
                <a:lnTo>
                  <a:pt x="4913678" y="1876132"/>
                </a:lnTo>
                <a:lnTo>
                  <a:pt x="0" y="1876132"/>
                </a:lnTo>
                <a:lnTo>
                  <a:pt x="0" y="0"/>
                </a:lnTo>
                <a:close/>
              </a:path>
            </a:pathLst>
          </a:custGeom>
          <a:blipFill rotWithShape="1">
            <a:blip r:embed="rId3">
              <a:alphaModFix/>
            </a:blip>
            <a:stretch>
              <a:fillRect b="0" l="0" r="0" t="0"/>
            </a:stretch>
          </a:blipFill>
          <a:ln>
            <a:noFill/>
          </a:ln>
        </p:spPr>
      </p:sp>
      <p:sp>
        <p:nvSpPr>
          <p:cNvPr id="176" name="Google Shape;176;p8"/>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3">
              <a:alphaModFix/>
            </a:blip>
            <a:stretch>
              <a:fillRect b="0" l="0" r="0" t="0"/>
            </a:stretch>
          </a:blipFill>
          <a:ln>
            <a:noFill/>
          </a:ln>
        </p:spPr>
      </p:sp>
      <p:sp>
        <p:nvSpPr>
          <p:cNvPr id="177" name="Google Shape;177;p8"/>
          <p:cNvSpPr/>
          <p:nvPr/>
        </p:nvSpPr>
        <p:spPr>
          <a:xfrm>
            <a:off x="1976489" y="1629111"/>
            <a:ext cx="1415394" cy="1255840"/>
          </a:xfrm>
          <a:custGeom>
            <a:rect b="b" l="l" r="r" t="t"/>
            <a:pathLst>
              <a:path extrusionOk="0" h="1255840" w="1415394">
                <a:moveTo>
                  <a:pt x="0" y="0"/>
                </a:moveTo>
                <a:lnTo>
                  <a:pt x="1415393" y="0"/>
                </a:lnTo>
                <a:lnTo>
                  <a:pt x="1415393" y="1255840"/>
                </a:lnTo>
                <a:lnTo>
                  <a:pt x="0" y="1255840"/>
                </a:lnTo>
                <a:lnTo>
                  <a:pt x="0" y="0"/>
                </a:lnTo>
                <a:close/>
              </a:path>
            </a:pathLst>
          </a:custGeom>
          <a:blipFill rotWithShape="1">
            <a:blip r:embed="rId4">
              <a:alphaModFix/>
            </a:blip>
            <a:stretch>
              <a:fillRect b="0" l="0" r="0" t="0"/>
            </a:stretch>
          </a:blipFill>
          <a:ln>
            <a:noFill/>
          </a:ln>
        </p:spPr>
      </p:sp>
      <p:sp>
        <p:nvSpPr>
          <p:cNvPr id="178" name="Google Shape;178;p8"/>
          <p:cNvSpPr/>
          <p:nvPr/>
        </p:nvSpPr>
        <p:spPr>
          <a:xfrm>
            <a:off x="8921322" y="8051537"/>
            <a:ext cx="445356" cy="931353"/>
          </a:xfrm>
          <a:custGeom>
            <a:rect b="b" l="l" r="r" t="t"/>
            <a:pathLst>
              <a:path extrusionOk="0" h="931353" w="445356">
                <a:moveTo>
                  <a:pt x="0" y="0"/>
                </a:moveTo>
                <a:lnTo>
                  <a:pt x="445356" y="0"/>
                </a:lnTo>
                <a:lnTo>
                  <a:pt x="445356" y="931354"/>
                </a:lnTo>
                <a:lnTo>
                  <a:pt x="0" y="931354"/>
                </a:lnTo>
                <a:lnTo>
                  <a:pt x="0" y="0"/>
                </a:lnTo>
                <a:close/>
              </a:path>
            </a:pathLst>
          </a:custGeom>
          <a:blipFill rotWithShape="1">
            <a:blip r:embed="rId5">
              <a:alphaModFix/>
            </a:blip>
            <a:stretch>
              <a:fillRect b="0" l="0" r="0" t="0"/>
            </a:stretch>
          </a:blipFill>
          <a:ln>
            <a:noFill/>
          </a:ln>
        </p:spPr>
      </p:sp>
      <p:sp>
        <p:nvSpPr>
          <p:cNvPr id="179" name="Google Shape;179;p8"/>
          <p:cNvSpPr/>
          <p:nvPr/>
        </p:nvSpPr>
        <p:spPr>
          <a:xfrm>
            <a:off x="13738652" y="8133096"/>
            <a:ext cx="1253466" cy="1498709"/>
          </a:xfrm>
          <a:custGeom>
            <a:rect b="b" l="l" r="r" t="t"/>
            <a:pathLst>
              <a:path extrusionOk="0" h="1498709" w="1253466">
                <a:moveTo>
                  <a:pt x="0" y="0"/>
                </a:moveTo>
                <a:lnTo>
                  <a:pt x="1253466" y="0"/>
                </a:lnTo>
                <a:lnTo>
                  <a:pt x="1253466" y="1498709"/>
                </a:lnTo>
                <a:lnTo>
                  <a:pt x="0" y="1498709"/>
                </a:lnTo>
                <a:lnTo>
                  <a:pt x="0" y="0"/>
                </a:lnTo>
                <a:close/>
              </a:path>
            </a:pathLst>
          </a:custGeom>
          <a:blipFill rotWithShape="1">
            <a:blip r:embed="rId6">
              <a:alphaModFix/>
            </a:blip>
            <a:stretch>
              <a:fillRect b="0" l="0" r="0" t="0"/>
            </a:stretch>
          </a:blipFill>
          <a:ln>
            <a:noFill/>
          </a:ln>
        </p:spPr>
      </p:sp>
      <p:sp>
        <p:nvSpPr>
          <p:cNvPr id="180" name="Google Shape;180;p8"/>
          <p:cNvSpPr/>
          <p:nvPr/>
        </p:nvSpPr>
        <p:spPr>
          <a:xfrm rot="5089641">
            <a:off x="16728159" y="152511"/>
            <a:ext cx="1700877" cy="1549344"/>
          </a:xfrm>
          <a:custGeom>
            <a:rect b="b" l="l" r="r" t="t"/>
            <a:pathLst>
              <a:path extrusionOk="0" h="1549344" w="1700877">
                <a:moveTo>
                  <a:pt x="0" y="0"/>
                </a:moveTo>
                <a:lnTo>
                  <a:pt x="1700878" y="0"/>
                </a:lnTo>
                <a:lnTo>
                  <a:pt x="1700878" y="1549344"/>
                </a:lnTo>
                <a:lnTo>
                  <a:pt x="0" y="1549344"/>
                </a:lnTo>
                <a:lnTo>
                  <a:pt x="0" y="0"/>
                </a:lnTo>
                <a:close/>
              </a:path>
            </a:pathLst>
          </a:custGeom>
          <a:blipFill rotWithShape="1">
            <a:blip r:embed="rId7">
              <a:alphaModFix/>
            </a:blip>
            <a:stretch>
              <a:fillRect b="0" l="0" r="0" t="0"/>
            </a:stretch>
          </a:blipFill>
          <a:ln>
            <a:noFill/>
          </a:ln>
        </p:spPr>
      </p:sp>
      <p:sp>
        <p:nvSpPr>
          <p:cNvPr id="181" name="Google Shape;181;p8"/>
          <p:cNvSpPr txBox="1"/>
          <p:nvPr/>
        </p:nvSpPr>
        <p:spPr>
          <a:xfrm>
            <a:off x="3660836" y="865083"/>
            <a:ext cx="10539443" cy="1709031"/>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None/>
            </a:pPr>
            <a:r>
              <a:rPr lang="en-US" sz="7078">
                <a:solidFill>
                  <a:srgbClr val="503C30"/>
                </a:solidFill>
                <a:latin typeface="Arial"/>
                <a:ea typeface="Arial"/>
                <a:cs typeface="Arial"/>
                <a:sym typeface="Arial"/>
              </a:rPr>
              <a:t>¿QUE SON LAS CAPAS DEL MODELO OSI?</a:t>
            </a:r>
            <a:endParaRPr/>
          </a:p>
        </p:txBody>
      </p:sp>
      <p:sp>
        <p:nvSpPr>
          <p:cNvPr id="182" name="Google Shape;182;p8"/>
          <p:cNvSpPr/>
          <p:nvPr/>
        </p:nvSpPr>
        <p:spPr>
          <a:xfrm rot="-5399999">
            <a:off x="5078237" y="7606166"/>
            <a:ext cx="1700877" cy="1549344"/>
          </a:xfrm>
          <a:custGeom>
            <a:rect b="b" l="l" r="r" t="t"/>
            <a:pathLst>
              <a:path extrusionOk="0" h="1549344" w="1700877">
                <a:moveTo>
                  <a:pt x="0" y="0"/>
                </a:moveTo>
                <a:lnTo>
                  <a:pt x="1700877" y="0"/>
                </a:lnTo>
                <a:lnTo>
                  <a:pt x="1700877" y="1549344"/>
                </a:lnTo>
                <a:lnTo>
                  <a:pt x="0" y="1549344"/>
                </a:lnTo>
                <a:lnTo>
                  <a:pt x="0" y="0"/>
                </a:lnTo>
                <a:close/>
              </a:path>
            </a:pathLst>
          </a:custGeom>
          <a:blipFill rotWithShape="1">
            <a:blip r:embed="rId7">
              <a:alphaModFix/>
            </a:blip>
            <a:stretch>
              <a:fillRect b="0" l="0" r="0" t="0"/>
            </a:stretch>
          </a:blipFill>
          <a:ln>
            <a:noFill/>
          </a:ln>
        </p:spPr>
      </p:sp>
      <p:sp>
        <p:nvSpPr>
          <p:cNvPr id="183" name="Google Shape;183;p8"/>
          <p:cNvSpPr/>
          <p:nvPr/>
        </p:nvSpPr>
        <p:spPr>
          <a:xfrm>
            <a:off x="2346715" y="2884951"/>
            <a:ext cx="3396953" cy="3498735"/>
          </a:xfrm>
          <a:custGeom>
            <a:rect b="b" l="l" r="r" t="t"/>
            <a:pathLst>
              <a:path extrusionOk="0" h="3498735" w="3396953">
                <a:moveTo>
                  <a:pt x="0" y="0"/>
                </a:moveTo>
                <a:lnTo>
                  <a:pt x="3396953" y="0"/>
                </a:lnTo>
                <a:lnTo>
                  <a:pt x="3396953" y="3498735"/>
                </a:lnTo>
                <a:lnTo>
                  <a:pt x="0" y="3498735"/>
                </a:lnTo>
                <a:lnTo>
                  <a:pt x="0" y="0"/>
                </a:lnTo>
                <a:close/>
              </a:path>
            </a:pathLst>
          </a:custGeom>
          <a:blipFill rotWithShape="1">
            <a:blip r:embed="rId8">
              <a:alphaModFix/>
            </a:blip>
            <a:stretch>
              <a:fillRect b="0" l="0" r="0" t="0"/>
            </a:stretch>
          </a:blipFill>
          <a:ln>
            <a:noFill/>
          </a:ln>
        </p:spPr>
      </p:sp>
      <p:sp>
        <p:nvSpPr>
          <p:cNvPr id="184" name="Google Shape;184;p8"/>
          <p:cNvSpPr/>
          <p:nvPr/>
        </p:nvSpPr>
        <p:spPr>
          <a:xfrm>
            <a:off x="9865876" y="6500749"/>
            <a:ext cx="3294431" cy="3393141"/>
          </a:xfrm>
          <a:custGeom>
            <a:rect b="b" l="l" r="r" t="t"/>
            <a:pathLst>
              <a:path extrusionOk="0" h="3393141" w="3294431">
                <a:moveTo>
                  <a:pt x="0" y="0"/>
                </a:moveTo>
                <a:lnTo>
                  <a:pt x="3294431" y="0"/>
                </a:lnTo>
                <a:lnTo>
                  <a:pt x="3294431" y="3393140"/>
                </a:lnTo>
                <a:lnTo>
                  <a:pt x="0" y="3393140"/>
                </a:lnTo>
                <a:lnTo>
                  <a:pt x="0" y="0"/>
                </a:lnTo>
                <a:close/>
              </a:path>
            </a:pathLst>
          </a:custGeom>
          <a:blipFill rotWithShape="1">
            <a:blip r:embed="rId9">
              <a:alphaModFix/>
            </a:blip>
            <a:stretch>
              <a:fillRect b="0" l="0" r="0" t="0"/>
            </a:stretch>
          </a:blipFill>
          <a:ln>
            <a:noFill/>
          </a:ln>
        </p:spPr>
      </p:sp>
      <p:sp>
        <p:nvSpPr>
          <p:cNvPr id="185" name="Google Shape;185;p8"/>
          <p:cNvSpPr txBox="1"/>
          <p:nvPr/>
        </p:nvSpPr>
        <p:spPr>
          <a:xfrm>
            <a:off x="2693147" y="3528480"/>
            <a:ext cx="2524689" cy="2201163"/>
          </a:xfrm>
          <a:prstGeom prst="rect">
            <a:avLst/>
          </a:prstGeom>
          <a:noFill/>
          <a:ln>
            <a:noFill/>
          </a:ln>
        </p:spPr>
        <p:txBody>
          <a:bodyPr anchorCtr="0" anchor="t" bIns="0" lIns="0" spcFirstLastPara="1" rIns="0" wrap="square" tIns="0">
            <a:spAutoFit/>
          </a:bodyPr>
          <a:lstStyle/>
          <a:p>
            <a:pPr indent="0" lvl="0" marL="0" marR="0" rtl="0" algn="ctr">
              <a:lnSpc>
                <a:spcPct val="156050"/>
              </a:lnSpc>
              <a:spcBef>
                <a:spcPts val="0"/>
              </a:spcBef>
              <a:spcAft>
                <a:spcPts val="0"/>
              </a:spcAft>
              <a:buNone/>
            </a:pPr>
            <a:r>
              <a:rPr lang="en-US" sz="1438">
                <a:solidFill>
                  <a:srgbClr val="503C30"/>
                </a:solidFill>
                <a:latin typeface="Inter"/>
                <a:ea typeface="Inter"/>
                <a:cs typeface="Inter"/>
                <a:sym typeface="Inter"/>
              </a:rPr>
              <a:t>El modelo OSI divide la red en capas con funciones específicas, lo que permite organizar la transmisión de datos y la comunicación entre dispositivos.</a:t>
            </a:r>
            <a:endParaRPr/>
          </a:p>
          <a:p>
            <a:pPr indent="0" lvl="0" marL="0" marR="0" rtl="0" algn="ctr">
              <a:lnSpc>
                <a:spcPct val="156050"/>
              </a:lnSpc>
              <a:spcBef>
                <a:spcPts val="0"/>
              </a:spcBef>
              <a:spcAft>
                <a:spcPts val="0"/>
              </a:spcAft>
              <a:buNone/>
            </a:pPr>
            <a:r>
              <a:t/>
            </a:r>
            <a:endParaRPr sz="1438">
              <a:solidFill>
                <a:srgbClr val="503C30"/>
              </a:solidFill>
              <a:latin typeface="Inter"/>
              <a:ea typeface="Inter"/>
              <a:cs typeface="Inter"/>
              <a:sym typeface="Inter"/>
            </a:endParaRPr>
          </a:p>
        </p:txBody>
      </p:sp>
      <p:sp>
        <p:nvSpPr>
          <p:cNvPr id="186" name="Google Shape;186;p8"/>
          <p:cNvSpPr txBox="1"/>
          <p:nvPr/>
        </p:nvSpPr>
        <p:spPr>
          <a:xfrm>
            <a:off x="10054391" y="7156924"/>
            <a:ext cx="2838855" cy="2201653"/>
          </a:xfrm>
          <a:prstGeom prst="rect">
            <a:avLst/>
          </a:prstGeom>
          <a:noFill/>
          <a:ln>
            <a:noFill/>
          </a:ln>
        </p:spPr>
        <p:txBody>
          <a:bodyPr anchorCtr="0" anchor="t" bIns="0" lIns="0" spcFirstLastPara="1" rIns="0" wrap="square" tIns="0">
            <a:spAutoFit/>
          </a:bodyPr>
          <a:lstStyle/>
          <a:p>
            <a:pPr indent="0" lvl="0" marL="0" marR="0" rtl="0" algn="ctr">
              <a:lnSpc>
                <a:spcPct val="155952"/>
              </a:lnSpc>
              <a:spcBef>
                <a:spcPts val="0"/>
              </a:spcBef>
              <a:spcAft>
                <a:spcPts val="0"/>
              </a:spcAft>
              <a:buNone/>
            </a:pPr>
            <a:r>
              <a:rPr lang="en-US" sz="1428">
                <a:solidFill>
                  <a:srgbClr val="503C30"/>
                </a:solidFill>
                <a:latin typeface="Inter"/>
                <a:ea typeface="Inter"/>
                <a:cs typeface="Inter"/>
                <a:sym typeface="Inter"/>
              </a:rPr>
              <a:t>En el diseño del sistema CCTV para personas con discapacidad motriz, se aplicaron VLAN para separar sensores y cámaras IP, mejorando el rendimiento y la seguridad (Romero Lázaro et al., 2023).</a:t>
            </a:r>
            <a:endParaRPr/>
          </a:p>
        </p:txBody>
      </p:sp>
      <p:sp>
        <p:nvSpPr>
          <p:cNvPr id="187" name="Google Shape;187;p8"/>
          <p:cNvSpPr/>
          <p:nvPr/>
        </p:nvSpPr>
        <p:spPr>
          <a:xfrm>
            <a:off x="11798137" y="2884951"/>
            <a:ext cx="3351674" cy="3452099"/>
          </a:xfrm>
          <a:custGeom>
            <a:rect b="b" l="l" r="r" t="t"/>
            <a:pathLst>
              <a:path extrusionOk="0" h="3452099" w="3351674">
                <a:moveTo>
                  <a:pt x="0" y="0"/>
                </a:moveTo>
                <a:lnTo>
                  <a:pt x="3351674" y="0"/>
                </a:lnTo>
                <a:lnTo>
                  <a:pt x="3351674" y="3452099"/>
                </a:lnTo>
                <a:lnTo>
                  <a:pt x="0" y="3452099"/>
                </a:lnTo>
                <a:lnTo>
                  <a:pt x="0" y="0"/>
                </a:lnTo>
                <a:close/>
              </a:path>
            </a:pathLst>
          </a:custGeom>
          <a:blipFill rotWithShape="1">
            <a:blip r:embed="rId10">
              <a:alphaModFix/>
            </a:blip>
            <a:stretch>
              <a:fillRect b="0" l="0" r="0" t="0"/>
            </a:stretch>
          </a:blipFill>
          <a:ln>
            <a:noFill/>
          </a:ln>
        </p:spPr>
      </p:sp>
      <p:sp>
        <p:nvSpPr>
          <p:cNvPr id="188" name="Google Shape;188;p8"/>
          <p:cNvSpPr txBox="1"/>
          <p:nvPr/>
        </p:nvSpPr>
        <p:spPr>
          <a:xfrm>
            <a:off x="12179690" y="3616679"/>
            <a:ext cx="2588567" cy="2119286"/>
          </a:xfrm>
          <a:prstGeom prst="rect">
            <a:avLst/>
          </a:prstGeom>
          <a:noFill/>
          <a:ln>
            <a:noFill/>
          </a:ln>
        </p:spPr>
        <p:txBody>
          <a:bodyPr anchorCtr="0" anchor="t" bIns="0" lIns="0" spcFirstLastPara="1" rIns="0" wrap="square" tIns="0">
            <a:spAutoFit/>
          </a:bodyPr>
          <a:lstStyle/>
          <a:p>
            <a:pPr indent="0" lvl="0" marL="0" marR="0" rtl="0" algn="ctr">
              <a:lnSpc>
                <a:spcPct val="156056"/>
              </a:lnSpc>
              <a:spcBef>
                <a:spcPts val="0"/>
              </a:spcBef>
              <a:spcAft>
                <a:spcPts val="0"/>
              </a:spcAft>
              <a:buNone/>
            </a:pPr>
            <a:r>
              <a:rPr lang="en-US" sz="1354">
                <a:solidFill>
                  <a:srgbClr val="503C30"/>
                </a:solidFill>
                <a:latin typeface="Inter"/>
                <a:ea typeface="Inter"/>
                <a:cs typeface="Inter"/>
                <a:sym typeface="Inter"/>
              </a:rPr>
              <a:t>El funcionamiento se basa en el envío de paquetes de datos: cada capa procesa y envía la información a la siguiente, garantizando una comunicación correcta y segura entre los dispositivos.</a:t>
            </a:r>
            <a:endParaRPr/>
          </a:p>
        </p:txBody>
      </p:sp>
      <p:sp>
        <p:nvSpPr>
          <p:cNvPr id="189" name="Google Shape;189;p8"/>
          <p:cNvSpPr/>
          <p:nvPr/>
        </p:nvSpPr>
        <p:spPr>
          <a:xfrm>
            <a:off x="7305034" y="2884951"/>
            <a:ext cx="3232575" cy="3329432"/>
          </a:xfrm>
          <a:custGeom>
            <a:rect b="b" l="l" r="r" t="t"/>
            <a:pathLst>
              <a:path extrusionOk="0" h="3329432" w="3232575">
                <a:moveTo>
                  <a:pt x="0" y="0"/>
                </a:moveTo>
                <a:lnTo>
                  <a:pt x="3232576" y="0"/>
                </a:lnTo>
                <a:lnTo>
                  <a:pt x="3232576" y="3329432"/>
                </a:lnTo>
                <a:lnTo>
                  <a:pt x="0" y="3329432"/>
                </a:lnTo>
                <a:lnTo>
                  <a:pt x="0" y="0"/>
                </a:lnTo>
                <a:close/>
              </a:path>
            </a:pathLst>
          </a:custGeom>
          <a:blipFill rotWithShape="1">
            <a:blip r:embed="rId11">
              <a:alphaModFix/>
            </a:blip>
            <a:stretch>
              <a:fillRect b="0" l="0" r="0" t="0"/>
            </a:stretch>
          </a:blipFill>
          <a:ln>
            <a:noFill/>
          </a:ln>
        </p:spPr>
      </p:sp>
      <p:sp>
        <p:nvSpPr>
          <p:cNvPr id="190" name="Google Shape;190;p8"/>
          <p:cNvSpPr txBox="1"/>
          <p:nvPr/>
        </p:nvSpPr>
        <p:spPr>
          <a:xfrm>
            <a:off x="7711239" y="4012730"/>
            <a:ext cx="2420165" cy="2201653"/>
          </a:xfrm>
          <a:prstGeom prst="rect">
            <a:avLst/>
          </a:prstGeom>
          <a:noFill/>
          <a:ln>
            <a:noFill/>
          </a:ln>
        </p:spPr>
        <p:txBody>
          <a:bodyPr anchorCtr="0" anchor="t" bIns="0" lIns="0" spcFirstLastPara="1" rIns="0" wrap="square" tIns="0">
            <a:spAutoFit/>
          </a:bodyPr>
          <a:lstStyle/>
          <a:p>
            <a:pPr indent="0" lvl="0" marL="0" marR="0" rtl="0" algn="ctr">
              <a:lnSpc>
                <a:spcPct val="155952"/>
              </a:lnSpc>
              <a:spcBef>
                <a:spcPts val="0"/>
              </a:spcBef>
              <a:spcAft>
                <a:spcPts val="0"/>
              </a:spcAft>
              <a:buNone/>
            </a:pPr>
            <a:r>
              <a:rPr lang="en-US" sz="1428">
                <a:solidFill>
                  <a:srgbClr val="503C30"/>
                </a:solidFill>
                <a:latin typeface="Inter"/>
                <a:ea typeface="Inter"/>
                <a:cs typeface="Inter"/>
                <a:sym typeface="Inter"/>
              </a:rPr>
              <a:t>Cada capa cumple un rol definido, lo que facilita la administración, el control y la seguridad de la red (Romero Lázaro, Contreras Avendaño, &amp; Mercado Mercado, 2023).</a:t>
            </a:r>
            <a:endParaRPr/>
          </a:p>
        </p:txBody>
      </p:sp>
      <p:sp>
        <p:nvSpPr>
          <p:cNvPr id="191" name="Google Shape;191;p8"/>
          <p:cNvSpPr/>
          <p:nvPr/>
        </p:nvSpPr>
        <p:spPr>
          <a:xfrm>
            <a:off x="4371937" y="6581648"/>
            <a:ext cx="3215885" cy="3312241"/>
          </a:xfrm>
          <a:custGeom>
            <a:rect b="b" l="l" r="r" t="t"/>
            <a:pathLst>
              <a:path extrusionOk="0" h="3312241" w="3215885">
                <a:moveTo>
                  <a:pt x="0" y="0"/>
                </a:moveTo>
                <a:lnTo>
                  <a:pt x="3215885" y="0"/>
                </a:lnTo>
                <a:lnTo>
                  <a:pt x="3215885" y="3312241"/>
                </a:lnTo>
                <a:lnTo>
                  <a:pt x="0" y="3312241"/>
                </a:lnTo>
                <a:lnTo>
                  <a:pt x="0" y="0"/>
                </a:lnTo>
                <a:close/>
              </a:path>
            </a:pathLst>
          </a:custGeom>
          <a:blipFill rotWithShape="1">
            <a:blip r:embed="rId11">
              <a:alphaModFix/>
            </a:blip>
            <a:stretch>
              <a:fillRect b="0" l="0" r="0" t="0"/>
            </a:stretch>
          </a:blipFill>
          <a:ln>
            <a:noFill/>
          </a:ln>
        </p:spPr>
      </p:sp>
      <p:sp>
        <p:nvSpPr>
          <p:cNvPr id="192" name="Google Shape;192;p8"/>
          <p:cNvSpPr txBox="1"/>
          <p:nvPr/>
        </p:nvSpPr>
        <p:spPr>
          <a:xfrm>
            <a:off x="4718593" y="7261597"/>
            <a:ext cx="2420165" cy="2201653"/>
          </a:xfrm>
          <a:prstGeom prst="rect">
            <a:avLst/>
          </a:prstGeom>
          <a:noFill/>
          <a:ln>
            <a:noFill/>
          </a:ln>
        </p:spPr>
        <p:txBody>
          <a:bodyPr anchorCtr="0" anchor="t" bIns="0" lIns="0" spcFirstLastPara="1" rIns="0" wrap="square" tIns="0">
            <a:spAutoFit/>
          </a:bodyPr>
          <a:lstStyle/>
          <a:p>
            <a:pPr indent="0" lvl="0" marL="0" marR="0" rtl="0" algn="ctr">
              <a:lnSpc>
                <a:spcPct val="155952"/>
              </a:lnSpc>
              <a:spcBef>
                <a:spcPts val="0"/>
              </a:spcBef>
              <a:spcAft>
                <a:spcPts val="0"/>
              </a:spcAft>
              <a:buNone/>
            </a:pPr>
            <a:r>
              <a:rPr lang="en-US" sz="1428">
                <a:solidFill>
                  <a:srgbClr val="503C30"/>
                </a:solidFill>
                <a:latin typeface="Inter"/>
                <a:ea typeface="Inter"/>
                <a:cs typeface="Inter"/>
                <a:sym typeface="Inter"/>
              </a:rPr>
              <a:t>Aunque el documento no detalla cada capa, resalta la importancia del modelo OSI para estructurar y controlar el flujo de información en la red (Romero Lázaro et al., 2023).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5"/>
                                        </p:tgtEl>
                                        <p:attrNameLst>
                                          <p:attrName>style.visibility</p:attrName>
                                        </p:attrNameLst>
                                      </p:cBhvr>
                                      <p:to>
                                        <p:strVal val="visible"/>
                                      </p:to>
                                    </p:set>
                                    <p:anim calcmode="lin" valueType="num">
                                      <p:cBhvr additive="base">
                                        <p:cTn dur="500"/>
                                        <p:tgtEl>
                                          <p:spTgt spid="17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76"/>
                                        </p:tgtEl>
                                        <p:attrNameLst>
                                          <p:attrName>style.visibility</p:attrName>
                                        </p:attrNameLst>
                                      </p:cBhvr>
                                      <p:to>
                                        <p:strVal val="visible"/>
                                      </p:to>
                                    </p:set>
                                    <p:anim calcmode="lin" valueType="num">
                                      <p:cBhvr additive="base">
                                        <p:cTn dur="500"/>
                                        <p:tgtEl>
                                          <p:spTgt spid="17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500"/>
                                        <p:tgtEl>
                                          <p:spTgt spid="17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500"/>
                                        <p:tgtEl>
                                          <p:spTgt spid="17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79"/>
                                        </p:tgtEl>
                                        <p:attrNameLst>
                                          <p:attrName>style.visibility</p:attrName>
                                        </p:attrNameLst>
                                      </p:cBhvr>
                                      <p:to>
                                        <p:strVal val="visible"/>
                                      </p:to>
                                    </p:set>
                                    <p:anim calcmode="lin" valueType="num">
                                      <p:cBhvr additive="base">
                                        <p:cTn dur="500"/>
                                        <p:tgtEl>
                                          <p:spTgt spid="17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0"/>
                                        </p:tgtEl>
                                        <p:attrNameLst>
                                          <p:attrName>style.visibility</p:attrName>
                                        </p:attrNameLst>
                                      </p:cBhvr>
                                      <p:to>
                                        <p:strVal val="visible"/>
                                      </p:to>
                                    </p:set>
                                    <p:anim calcmode="lin" valueType="num">
                                      <p:cBhvr additive="base">
                                        <p:cTn dur="500"/>
                                        <p:tgtEl>
                                          <p:spTgt spid="18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500"/>
                                        <p:tgtEl>
                                          <p:spTgt spid="18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2"/>
                                        </p:tgtEl>
                                        <p:attrNameLst>
                                          <p:attrName>style.visibility</p:attrName>
                                        </p:attrNameLst>
                                      </p:cBhvr>
                                      <p:to>
                                        <p:strVal val="visible"/>
                                      </p:to>
                                    </p:set>
                                    <p:anim calcmode="lin" valueType="num">
                                      <p:cBhvr additive="base">
                                        <p:cTn dur="500"/>
                                        <p:tgtEl>
                                          <p:spTgt spid="18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3"/>
                                        </p:tgtEl>
                                        <p:attrNameLst>
                                          <p:attrName>style.visibility</p:attrName>
                                        </p:attrNameLst>
                                      </p:cBhvr>
                                      <p:to>
                                        <p:strVal val="visible"/>
                                      </p:to>
                                    </p:set>
                                    <p:anim calcmode="lin" valueType="num">
                                      <p:cBhvr additive="base">
                                        <p:cTn dur="500"/>
                                        <p:tgtEl>
                                          <p:spTgt spid="18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4"/>
                                        </p:tgtEl>
                                        <p:attrNameLst>
                                          <p:attrName>style.visibility</p:attrName>
                                        </p:attrNameLst>
                                      </p:cBhvr>
                                      <p:to>
                                        <p:strVal val="visible"/>
                                      </p:to>
                                    </p:set>
                                    <p:anim calcmode="lin" valueType="num">
                                      <p:cBhvr additive="base">
                                        <p:cTn dur="500"/>
                                        <p:tgtEl>
                                          <p:spTgt spid="18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5"/>
                                        </p:tgtEl>
                                        <p:attrNameLst>
                                          <p:attrName>style.visibility</p:attrName>
                                        </p:attrNameLst>
                                      </p:cBhvr>
                                      <p:to>
                                        <p:strVal val="visible"/>
                                      </p:to>
                                    </p:set>
                                    <p:anim calcmode="lin" valueType="num">
                                      <p:cBhvr additive="base">
                                        <p:cTn dur="500"/>
                                        <p:tgtEl>
                                          <p:spTgt spid="18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6"/>
                                        </p:tgtEl>
                                        <p:attrNameLst>
                                          <p:attrName>style.visibility</p:attrName>
                                        </p:attrNameLst>
                                      </p:cBhvr>
                                      <p:to>
                                        <p:strVal val="visible"/>
                                      </p:to>
                                    </p:set>
                                    <p:anim calcmode="lin" valueType="num">
                                      <p:cBhvr additive="base">
                                        <p:cTn dur="500"/>
                                        <p:tgtEl>
                                          <p:spTgt spid="18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7"/>
                                        </p:tgtEl>
                                        <p:attrNameLst>
                                          <p:attrName>style.visibility</p:attrName>
                                        </p:attrNameLst>
                                      </p:cBhvr>
                                      <p:to>
                                        <p:strVal val="visible"/>
                                      </p:to>
                                    </p:set>
                                    <p:anim calcmode="lin" valueType="num">
                                      <p:cBhvr additive="base">
                                        <p:cTn dur="500"/>
                                        <p:tgtEl>
                                          <p:spTgt spid="18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8"/>
                                        </p:tgtEl>
                                        <p:attrNameLst>
                                          <p:attrName>style.visibility</p:attrName>
                                        </p:attrNameLst>
                                      </p:cBhvr>
                                      <p:to>
                                        <p:strVal val="visible"/>
                                      </p:to>
                                    </p:set>
                                    <p:anim calcmode="lin" valueType="num">
                                      <p:cBhvr additive="base">
                                        <p:cTn dur="500"/>
                                        <p:tgtEl>
                                          <p:spTgt spid="18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9"/>
                                        </p:tgtEl>
                                        <p:attrNameLst>
                                          <p:attrName>style.visibility</p:attrName>
                                        </p:attrNameLst>
                                      </p:cBhvr>
                                      <p:to>
                                        <p:strVal val="visible"/>
                                      </p:to>
                                    </p:set>
                                    <p:anim calcmode="lin" valueType="num">
                                      <p:cBhvr additive="base">
                                        <p:cTn dur="500"/>
                                        <p:tgtEl>
                                          <p:spTgt spid="18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90"/>
                                        </p:tgtEl>
                                        <p:attrNameLst>
                                          <p:attrName>style.visibility</p:attrName>
                                        </p:attrNameLst>
                                      </p:cBhvr>
                                      <p:to>
                                        <p:strVal val="visible"/>
                                      </p:to>
                                    </p:set>
                                    <p:anim calcmode="lin" valueType="num">
                                      <p:cBhvr additive="base">
                                        <p:cTn dur="500"/>
                                        <p:tgtEl>
                                          <p:spTgt spid="19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91"/>
                                        </p:tgtEl>
                                        <p:attrNameLst>
                                          <p:attrName>style.visibility</p:attrName>
                                        </p:attrNameLst>
                                      </p:cBhvr>
                                      <p:to>
                                        <p:strVal val="visible"/>
                                      </p:to>
                                    </p:set>
                                    <p:anim calcmode="lin" valueType="num">
                                      <p:cBhvr additive="base">
                                        <p:cTn dur="500"/>
                                        <p:tgtEl>
                                          <p:spTgt spid="19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92"/>
                                        </p:tgtEl>
                                        <p:attrNameLst>
                                          <p:attrName>style.visibility</p:attrName>
                                        </p:attrNameLst>
                                      </p:cBhvr>
                                      <p:to>
                                        <p:strVal val="visible"/>
                                      </p:to>
                                    </p:set>
                                    <p:anim calcmode="lin" valueType="num">
                                      <p:cBhvr additive="base">
                                        <p:cTn dur="500"/>
                                        <p:tgtEl>
                                          <p:spTgt spid="19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196" name="Shape 196"/>
        <p:cNvGrpSpPr/>
        <p:nvPr/>
      </p:nvGrpSpPr>
      <p:grpSpPr>
        <a:xfrm>
          <a:off x="0" y="0"/>
          <a:ext cx="0" cy="0"/>
          <a:chOff x="0" y="0"/>
          <a:chExt cx="0" cy="0"/>
        </a:xfrm>
      </p:grpSpPr>
      <p:sp>
        <p:nvSpPr>
          <p:cNvPr id="197" name="Google Shape;197;p9"/>
          <p:cNvSpPr/>
          <p:nvPr/>
        </p:nvSpPr>
        <p:spPr>
          <a:xfrm>
            <a:off x="14388404" y="9114315"/>
            <a:ext cx="4913679" cy="1876132"/>
          </a:xfrm>
          <a:custGeom>
            <a:rect b="b" l="l" r="r" t="t"/>
            <a:pathLst>
              <a:path extrusionOk="0" h="1876132" w="4913679">
                <a:moveTo>
                  <a:pt x="0" y="0"/>
                </a:moveTo>
                <a:lnTo>
                  <a:pt x="4913678" y="0"/>
                </a:lnTo>
                <a:lnTo>
                  <a:pt x="4913678" y="1876132"/>
                </a:lnTo>
                <a:lnTo>
                  <a:pt x="0" y="1876132"/>
                </a:lnTo>
                <a:lnTo>
                  <a:pt x="0" y="0"/>
                </a:lnTo>
                <a:close/>
              </a:path>
            </a:pathLst>
          </a:custGeom>
          <a:blipFill rotWithShape="1">
            <a:blip r:embed="rId3">
              <a:alphaModFix/>
            </a:blip>
            <a:stretch>
              <a:fillRect b="0" l="0" r="0" t="0"/>
            </a:stretch>
          </a:blipFill>
          <a:ln>
            <a:noFill/>
          </a:ln>
        </p:spPr>
      </p:sp>
      <p:sp>
        <p:nvSpPr>
          <p:cNvPr id="198" name="Google Shape;198;p9"/>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3">
              <a:alphaModFix/>
            </a:blip>
            <a:stretch>
              <a:fillRect b="0" l="0" r="0" t="0"/>
            </a:stretch>
          </a:blipFill>
          <a:ln>
            <a:noFill/>
          </a:ln>
        </p:spPr>
      </p:sp>
      <p:sp>
        <p:nvSpPr>
          <p:cNvPr id="199" name="Google Shape;199;p9"/>
          <p:cNvSpPr/>
          <p:nvPr/>
        </p:nvSpPr>
        <p:spPr>
          <a:xfrm>
            <a:off x="4225900" y="217961"/>
            <a:ext cx="1415394" cy="1255840"/>
          </a:xfrm>
          <a:custGeom>
            <a:rect b="b" l="l" r="r" t="t"/>
            <a:pathLst>
              <a:path extrusionOk="0" h="1255840" w="1415394">
                <a:moveTo>
                  <a:pt x="0" y="0"/>
                </a:moveTo>
                <a:lnTo>
                  <a:pt x="1415394" y="0"/>
                </a:lnTo>
                <a:lnTo>
                  <a:pt x="1415394" y="1255840"/>
                </a:lnTo>
                <a:lnTo>
                  <a:pt x="0" y="1255840"/>
                </a:lnTo>
                <a:lnTo>
                  <a:pt x="0" y="0"/>
                </a:lnTo>
                <a:close/>
              </a:path>
            </a:pathLst>
          </a:custGeom>
          <a:blipFill rotWithShape="1">
            <a:blip r:embed="rId4">
              <a:alphaModFix/>
            </a:blip>
            <a:stretch>
              <a:fillRect b="0" l="0" r="0" t="0"/>
            </a:stretch>
          </a:blipFill>
          <a:ln>
            <a:noFill/>
          </a:ln>
        </p:spPr>
      </p:sp>
      <p:sp>
        <p:nvSpPr>
          <p:cNvPr id="200" name="Google Shape;200;p9"/>
          <p:cNvSpPr/>
          <p:nvPr/>
        </p:nvSpPr>
        <p:spPr>
          <a:xfrm>
            <a:off x="8898622" y="2542425"/>
            <a:ext cx="726004" cy="1040867"/>
          </a:xfrm>
          <a:custGeom>
            <a:rect b="b" l="l" r="r" t="t"/>
            <a:pathLst>
              <a:path extrusionOk="0" h="1040867" w="726004">
                <a:moveTo>
                  <a:pt x="0" y="0"/>
                </a:moveTo>
                <a:lnTo>
                  <a:pt x="726005" y="0"/>
                </a:lnTo>
                <a:lnTo>
                  <a:pt x="726005" y="1040867"/>
                </a:lnTo>
                <a:lnTo>
                  <a:pt x="0" y="1040867"/>
                </a:lnTo>
                <a:lnTo>
                  <a:pt x="0" y="0"/>
                </a:lnTo>
                <a:close/>
              </a:path>
            </a:pathLst>
          </a:custGeom>
          <a:blipFill rotWithShape="1">
            <a:blip r:embed="rId5">
              <a:alphaModFix/>
            </a:blip>
            <a:stretch>
              <a:fillRect b="0" l="0" r="0" t="0"/>
            </a:stretch>
          </a:blipFill>
          <a:ln>
            <a:noFill/>
          </a:ln>
        </p:spPr>
      </p:sp>
      <p:sp>
        <p:nvSpPr>
          <p:cNvPr id="201" name="Google Shape;201;p9"/>
          <p:cNvSpPr/>
          <p:nvPr/>
        </p:nvSpPr>
        <p:spPr>
          <a:xfrm>
            <a:off x="8921322" y="8051537"/>
            <a:ext cx="445356" cy="931353"/>
          </a:xfrm>
          <a:custGeom>
            <a:rect b="b" l="l" r="r" t="t"/>
            <a:pathLst>
              <a:path extrusionOk="0" h="931353" w="445356">
                <a:moveTo>
                  <a:pt x="0" y="0"/>
                </a:moveTo>
                <a:lnTo>
                  <a:pt x="445356" y="0"/>
                </a:lnTo>
                <a:lnTo>
                  <a:pt x="445356" y="931354"/>
                </a:lnTo>
                <a:lnTo>
                  <a:pt x="0" y="931354"/>
                </a:lnTo>
                <a:lnTo>
                  <a:pt x="0" y="0"/>
                </a:lnTo>
                <a:close/>
              </a:path>
            </a:pathLst>
          </a:custGeom>
          <a:blipFill rotWithShape="1">
            <a:blip r:embed="rId6">
              <a:alphaModFix/>
            </a:blip>
            <a:stretch>
              <a:fillRect b="0" l="0" r="0" t="0"/>
            </a:stretch>
          </a:blipFill>
          <a:ln>
            <a:noFill/>
          </a:ln>
        </p:spPr>
      </p:sp>
      <p:sp>
        <p:nvSpPr>
          <p:cNvPr id="202" name="Google Shape;202;p9"/>
          <p:cNvSpPr/>
          <p:nvPr/>
        </p:nvSpPr>
        <p:spPr>
          <a:xfrm>
            <a:off x="13896345" y="8173546"/>
            <a:ext cx="1253466" cy="1498709"/>
          </a:xfrm>
          <a:custGeom>
            <a:rect b="b" l="l" r="r" t="t"/>
            <a:pathLst>
              <a:path extrusionOk="0" h="1498709" w="1253466">
                <a:moveTo>
                  <a:pt x="0" y="0"/>
                </a:moveTo>
                <a:lnTo>
                  <a:pt x="1253466" y="0"/>
                </a:lnTo>
                <a:lnTo>
                  <a:pt x="1253466" y="1498709"/>
                </a:lnTo>
                <a:lnTo>
                  <a:pt x="0" y="1498709"/>
                </a:lnTo>
                <a:lnTo>
                  <a:pt x="0" y="0"/>
                </a:lnTo>
                <a:close/>
              </a:path>
            </a:pathLst>
          </a:custGeom>
          <a:blipFill rotWithShape="1">
            <a:blip r:embed="rId7">
              <a:alphaModFix/>
            </a:blip>
            <a:stretch>
              <a:fillRect b="0" l="0" r="0" t="0"/>
            </a:stretch>
          </a:blipFill>
          <a:ln>
            <a:noFill/>
          </a:ln>
        </p:spPr>
      </p:sp>
      <p:sp>
        <p:nvSpPr>
          <p:cNvPr id="203" name="Google Shape;203;p9"/>
          <p:cNvSpPr/>
          <p:nvPr/>
        </p:nvSpPr>
        <p:spPr>
          <a:xfrm rot="5089641">
            <a:off x="16728159" y="152511"/>
            <a:ext cx="1700877" cy="1549344"/>
          </a:xfrm>
          <a:custGeom>
            <a:rect b="b" l="l" r="r" t="t"/>
            <a:pathLst>
              <a:path extrusionOk="0" h="1549344" w="1700877">
                <a:moveTo>
                  <a:pt x="0" y="0"/>
                </a:moveTo>
                <a:lnTo>
                  <a:pt x="1700878" y="0"/>
                </a:lnTo>
                <a:lnTo>
                  <a:pt x="1700878" y="1549344"/>
                </a:lnTo>
                <a:lnTo>
                  <a:pt x="0" y="1549344"/>
                </a:lnTo>
                <a:lnTo>
                  <a:pt x="0" y="0"/>
                </a:lnTo>
                <a:close/>
              </a:path>
            </a:pathLst>
          </a:custGeom>
          <a:blipFill rotWithShape="1">
            <a:blip r:embed="rId8">
              <a:alphaModFix/>
            </a:blip>
            <a:stretch>
              <a:fillRect b="0" l="0" r="0" t="0"/>
            </a:stretch>
          </a:blipFill>
          <a:ln>
            <a:noFill/>
          </a:ln>
        </p:spPr>
      </p:sp>
      <p:sp>
        <p:nvSpPr>
          <p:cNvPr id="204" name="Google Shape;204;p9"/>
          <p:cNvSpPr/>
          <p:nvPr/>
        </p:nvSpPr>
        <p:spPr>
          <a:xfrm rot="-5399999">
            <a:off x="2608419" y="7489204"/>
            <a:ext cx="1700877" cy="1549344"/>
          </a:xfrm>
          <a:custGeom>
            <a:rect b="b" l="l" r="r" t="t"/>
            <a:pathLst>
              <a:path extrusionOk="0" h="1549344" w="1700877">
                <a:moveTo>
                  <a:pt x="0" y="0"/>
                </a:moveTo>
                <a:lnTo>
                  <a:pt x="1700877" y="0"/>
                </a:lnTo>
                <a:lnTo>
                  <a:pt x="1700877" y="1549345"/>
                </a:lnTo>
                <a:lnTo>
                  <a:pt x="0" y="1549345"/>
                </a:lnTo>
                <a:lnTo>
                  <a:pt x="0" y="0"/>
                </a:lnTo>
                <a:close/>
              </a:path>
            </a:pathLst>
          </a:custGeom>
          <a:blipFill rotWithShape="1">
            <a:blip r:embed="rId8">
              <a:alphaModFix/>
            </a:blip>
            <a:stretch>
              <a:fillRect b="0" l="0" r="0" t="0"/>
            </a:stretch>
          </a:blipFill>
          <a:ln>
            <a:noFill/>
          </a:ln>
        </p:spPr>
      </p:sp>
      <p:sp>
        <p:nvSpPr>
          <p:cNvPr id="205" name="Google Shape;205;p9"/>
          <p:cNvSpPr txBox="1"/>
          <p:nvPr/>
        </p:nvSpPr>
        <p:spPr>
          <a:xfrm>
            <a:off x="5268115" y="4093185"/>
            <a:ext cx="7751700" cy="1919700"/>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None/>
            </a:pPr>
            <a:r>
              <a:rPr lang="en-US" sz="6778">
                <a:solidFill>
                  <a:srgbClr val="503C30"/>
                </a:solidFill>
                <a:latin typeface="Calibri"/>
                <a:ea typeface="Calibri"/>
                <a:cs typeface="Calibri"/>
                <a:sym typeface="Calibri"/>
              </a:rPr>
              <a:t>CARACTERISTICAS DE SUS CAPAS</a:t>
            </a:r>
            <a:endParaRPr>
              <a:latin typeface="Calibri"/>
              <a:ea typeface="Calibri"/>
              <a:cs typeface="Calibri"/>
              <a:sym typeface="Calibri"/>
            </a:endParaRPr>
          </a:p>
        </p:txBody>
      </p:sp>
      <p:sp>
        <p:nvSpPr>
          <p:cNvPr id="206" name="Google Shape;206;p9"/>
          <p:cNvSpPr/>
          <p:nvPr/>
        </p:nvSpPr>
        <p:spPr>
          <a:xfrm>
            <a:off x="384784" y="2678467"/>
            <a:ext cx="4504536" cy="3646293"/>
          </a:xfrm>
          <a:custGeom>
            <a:rect b="b" l="l" r="r" t="t"/>
            <a:pathLst>
              <a:path extrusionOk="0" h="3646293" w="4504536">
                <a:moveTo>
                  <a:pt x="0" y="0"/>
                </a:moveTo>
                <a:lnTo>
                  <a:pt x="4504535" y="0"/>
                </a:lnTo>
                <a:lnTo>
                  <a:pt x="4504535" y="3646292"/>
                </a:lnTo>
                <a:lnTo>
                  <a:pt x="0" y="3646292"/>
                </a:lnTo>
                <a:lnTo>
                  <a:pt x="0" y="0"/>
                </a:lnTo>
                <a:close/>
              </a:path>
            </a:pathLst>
          </a:custGeom>
          <a:blipFill rotWithShape="1">
            <a:blip r:embed="rId9">
              <a:alphaModFix/>
            </a:blip>
            <a:stretch>
              <a:fillRect b="0" l="0" r="0" t="0"/>
            </a:stretch>
          </a:blipFill>
          <a:ln>
            <a:noFill/>
          </a:ln>
        </p:spPr>
      </p:sp>
      <p:sp>
        <p:nvSpPr>
          <p:cNvPr id="207" name="Google Shape;207;p9"/>
          <p:cNvSpPr/>
          <p:nvPr/>
        </p:nvSpPr>
        <p:spPr>
          <a:xfrm>
            <a:off x="18879" y="2277657"/>
            <a:ext cx="1193585" cy="1229348"/>
          </a:xfrm>
          <a:custGeom>
            <a:rect b="b" l="l" r="r" t="t"/>
            <a:pathLst>
              <a:path extrusionOk="0" h="1229348" w="1193585">
                <a:moveTo>
                  <a:pt x="0" y="0"/>
                </a:moveTo>
                <a:lnTo>
                  <a:pt x="1193585" y="0"/>
                </a:lnTo>
                <a:lnTo>
                  <a:pt x="1193585" y="1229348"/>
                </a:lnTo>
                <a:lnTo>
                  <a:pt x="0" y="1229348"/>
                </a:lnTo>
                <a:lnTo>
                  <a:pt x="0" y="0"/>
                </a:lnTo>
                <a:close/>
              </a:path>
            </a:pathLst>
          </a:custGeom>
          <a:blipFill rotWithShape="1">
            <a:blip r:embed="rId10">
              <a:alphaModFix/>
            </a:blip>
            <a:stretch>
              <a:fillRect b="0" l="0" r="0" t="0"/>
            </a:stretch>
          </a:blipFill>
          <a:ln>
            <a:noFill/>
          </a:ln>
        </p:spPr>
      </p:sp>
      <p:sp>
        <p:nvSpPr>
          <p:cNvPr id="208" name="Google Shape;208;p9"/>
          <p:cNvSpPr txBox="1"/>
          <p:nvPr/>
        </p:nvSpPr>
        <p:spPr>
          <a:xfrm>
            <a:off x="186881" y="2615185"/>
            <a:ext cx="889621" cy="675729"/>
          </a:xfrm>
          <a:prstGeom prst="rect">
            <a:avLst/>
          </a:prstGeom>
          <a:noFill/>
          <a:ln>
            <a:noFill/>
          </a:ln>
        </p:spPr>
        <p:txBody>
          <a:bodyPr anchorCtr="0" anchor="t" bIns="0" lIns="0" spcFirstLastPara="1" rIns="0" wrap="square" tIns="0">
            <a:spAutoFit/>
          </a:bodyPr>
          <a:lstStyle/>
          <a:p>
            <a:pPr indent="0" lvl="0" marL="0" marR="0" rtl="0" algn="ctr">
              <a:lnSpc>
                <a:spcPct val="92005"/>
              </a:lnSpc>
              <a:spcBef>
                <a:spcPts val="0"/>
              </a:spcBef>
              <a:spcAft>
                <a:spcPts val="0"/>
              </a:spcAft>
              <a:buNone/>
            </a:pPr>
            <a:r>
              <a:rPr lang="en-US" sz="5341">
                <a:solidFill>
                  <a:srgbClr val="503C30"/>
                </a:solidFill>
                <a:latin typeface="Arial"/>
                <a:ea typeface="Arial"/>
                <a:cs typeface="Arial"/>
                <a:sym typeface="Arial"/>
              </a:rPr>
              <a:t>07</a:t>
            </a:r>
            <a:endParaRPr/>
          </a:p>
        </p:txBody>
      </p:sp>
      <p:sp>
        <p:nvSpPr>
          <p:cNvPr id="209" name="Google Shape;209;p9"/>
          <p:cNvSpPr txBox="1"/>
          <p:nvPr/>
        </p:nvSpPr>
        <p:spPr>
          <a:xfrm>
            <a:off x="1028700" y="3302610"/>
            <a:ext cx="3447300" cy="1466700"/>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None/>
            </a:pPr>
            <a:r>
              <a:rPr lang="en-US" sz="5178" u="sng">
                <a:solidFill>
                  <a:srgbClr val="503C30"/>
                </a:solidFill>
                <a:latin typeface="Calibri"/>
                <a:ea typeface="Calibri"/>
                <a:cs typeface="Calibri"/>
                <a:sym typeface="Calibri"/>
                <a:hlinkClick action="ppaction://hlinksldjump" r:id="rId11">
                  <a:extLst>
                    <a:ext uri="{A12FA001-AC4F-418D-AE19-62706E023703}">
                      <ahyp:hlinkClr val="tx"/>
                    </a:ext>
                  </a:extLst>
                </a:hlinkClick>
              </a:rPr>
              <a:t>CAPA DE APLICACIÓN</a:t>
            </a:r>
            <a:endParaRPr/>
          </a:p>
        </p:txBody>
      </p:sp>
      <p:sp>
        <p:nvSpPr>
          <p:cNvPr id="210" name="Google Shape;210;p9"/>
          <p:cNvSpPr/>
          <p:nvPr/>
        </p:nvSpPr>
        <p:spPr>
          <a:xfrm>
            <a:off x="7066050" y="599250"/>
            <a:ext cx="5056477" cy="3468706"/>
          </a:xfrm>
          <a:custGeom>
            <a:rect b="b" l="l" r="r" t="t"/>
            <a:pathLst>
              <a:path extrusionOk="0" h="3468706" w="4285150">
                <a:moveTo>
                  <a:pt x="0" y="0"/>
                </a:moveTo>
                <a:lnTo>
                  <a:pt x="4285150" y="0"/>
                </a:lnTo>
                <a:lnTo>
                  <a:pt x="4285150" y="3468706"/>
                </a:lnTo>
                <a:lnTo>
                  <a:pt x="0" y="3468706"/>
                </a:lnTo>
                <a:lnTo>
                  <a:pt x="0" y="0"/>
                </a:lnTo>
                <a:close/>
              </a:path>
            </a:pathLst>
          </a:custGeom>
          <a:blipFill rotWithShape="1">
            <a:blip r:embed="rId12">
              <a:alphaModFix/>
            </a:blip>
            <a:stretch>
              <a:fillRect b="0" l="0" r="0" t="0"/>
            </a:stretch>
          </a:blipFill>
          <a:ln>
            <a:noFill/>
          </a:ln>
        </p:spPr>
      </p:sp>
      <p:sp>
        <p:nvSpPr>
          <p:cNvPr id="211" name="Google Shape;211;p9"/>
          <p:cNvSpPr/>
          <p:nvPr/>
        </p:nvSpPr>
        <p:spPr>
          <a:xfrm>
            <a:off x="6717967" y="217961"/>
            <a:ext cx="1135454" cy="1169475"/>
          </a:xfrm>
          <a:custGeom>
            <a:rect b="b" l="l" r="r" t="t"/>
            <a:pathLst>
              <a:path extrusionOk="0" h="1169475" w="1135454">
                <a:moveTo>
                  <a:pt x="0" y="0"/>
                </a:moveTo>
                <a:lnTo>
                  <a:pt x="1135453" y="0"/>
                </a:lnTo>
                <a:lnTo>
                  <a:pt x="1135453" y="1169475"/>
                </a:lnTo>
                <a:lnTo>
                  <a:pt x="0" y="1169475"/>
                </a:lnTo>
                <a:lnTo>
                  <a:pt x="0" y="0"/>
                </a:lnTo>
                <a:close/>
              </a:path>
            </a:pathLst>
          </a:custGeom>
          <a:blipFill rotWithShape="1">
            <a:blip r:embed="rId13">
              <a:alphaModFix/>
            </a:blip>
            <a:stretch>
              <a:fillRect b="0" l="0" r="0" t="0"/>
            </a:stretch>
          </a:blipFill>
          <a:ln>
            <a:noFill/>
          </a:ln>
        </p:spPr>
      </p:sp>
      <p:sp>
        <p:nvSpPr>
          <p:cNvPr id="212" name="Google Shape;212;p9"/>
          <p:cNvSpPr txBox="1"/>
          <p:nvPr/>
        </p:nvSpPr>
        <p:spPr>
          <a:xfrm>
            <a:off x="6877786" y="545545"/>
            <a:ext cx="846293" cy="636948"/>
          </a:xfrm>
          <a:prstGeom prst="rect">
            <a:avLst/>
          </a:prstGeom>
          <a:noFill/>
          <a:ln>
            <a:noFill/>
          </a:ln>
        </p:spPr>
        <p:txBody>
          <a:bodyPr anchorCtr="0" anchor="t" bIns="0" lIns="0" spcFirstLastPara="1" rIns="0" wrap="square" tIns="0">
            <a:spAutoFit/>
          </a:bodyPr>
          <a:lstStyle/>
          <a:p>
            <a:pPr indent="0" lvl="0" marL="0" marR="0" rtl="0" algn="ctr">
              <a:lnSpc>
                <a:spcPct val="92009"/>
              </a:lnSpc>
              <a:spcBef>
                <a:spcPts val="0"/>
              </a:spcBef>
              <a:spcAft>
                <a:spcPts val="0"/>
              </a:spcAft>
              <a:buNone/>
            </a:pPr>
            <a:r>
              <a:rPr lang="en-US" sz="5081">
                <a:solidFill>
                  <a:srgbClr val="503C30"/>
                </a:solidFill>
                <a:latin typeface="Arial"/>
                <a:ea typeface="Arial"/>
                <a:cs typeface="Arial"/>
                <a:sym typeface="Arial"/>
              </a:rPr>
              <a:t>06</a:t>
            </a:r>
            <a:endParaRPr/>
          </a:p>
        </p:txBody>
      </p:sp>
      <p:sp>
        <p:nvSpPr>
          <p:cNvPr id="213" name="Google Shape;213;p9"/>
          <p:cNvSpPr txBox="1"/>
          <p:nvPr/>
        </p:nvSpPr>
        <p:spPr>
          <a:xfrm>
            <a:off x="7724074" y="1009550"/>
            <a:ext cx="4150200" cy="1466700"/>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None/>
            </a:pPr>
            <a:r>
              <a:rPr lang="en-US" sz="5178" u="sng" strike="noStrike">
                <a:solidFill>
                  <a:srgbClr val="503C30"/>
                </a:solidFill>
                <a:latin typeface="Calibri"/>
                <a:ea typeface="Calibri"/>
                <a:cs typeface="Calibri"/>
                <a:sym typeface="Calibri"/>
                <a:hlinkClick action="ppaction://hlinksldjump" r:id="rId14">
                  <a:extLst>
                    <a:ext uri="{A12FA001-AC4F-418D-AE19-62706E023703}">
                      <ahyp:hlinkClr val="tx"/>
                    </a:ext>
                  </a:extLst>
                </a:hlinkClick>
              </a:rPr>
              <a:t>CAPA DE PRESENTACIÓN</a:t>
            </a:r>
            <a:endParaRPr sz="100">
              <a:latin typeface="Calibri"/>
              <a:ea typeface="Calibri"/>
              <a:cs typeface="Calibri"/>
              <a:sym typeface="Calibri"/>
            </a:endParaRPr>
          </a:p>
        </p:txBody>
      </p:sp>
      <p:sp>
        <p:nvSpPr>
          <p:cNvPr id="214" name="Google Shape;214;p9"/>
          <p:cNvSpPr/>
          <p:nvPr/>
        </p:nvSpPr>
        <p:spPr>
          <a:xfrm>
            <a:off x="13572763" y="3698546"/>
            <a:ext cx="4453765" cy="3605195"/>
          </a:xfrm>
          <a:custGeom>
            <a:rect b="b" l="l" r="r" t="t"/>
            <a:pathLst>
              <a:path extrusionOk="0" h="3605195" w="4453765">
                <a:moveTo>
                  <a:pt x="0" y="0"/>
                </a:moveTo>
                <a:lnTo>
                  <a:pt x="4453765" y="0"/>
                </a:lnTo>
                <a:lnTo>
                  <a:pt x="4453765" y="3605195"/>
                </a:lnTo>
                <a:lnTo>
                  <a:pt x="0" y="3605195"/>
                </a:lnTo>
                <a:lnTo>
                  <a:pt x="0" y="0"/>
                </a:lnTo>
                <a:close/>
              </a:path>
            </a:pathLst>
          </a:custGeom>
          <a:blipFill rotWithShape="1">
            <a:blip r:embed="rId15">
              <a:alphaModFix/>
            </a:blip>
            <a:stretch>
              <a:fillRect b="0" l="0" r="0" t="0"/>
            </a:stretch>
          </a:blipFill>
          <a:ln>
            <a:noFill/>
          </a:ln>
        </p:spPr>
      </p:sp>
      <p:sp>
        <p:nvSpPr>
          <p:cNvPr id="215" name="Google Shape;215;p9"/>
          <p:cNvSpPr/>
          <p:nvPr/>
        </p:nvSpPr>
        <p:spPr>
          <a:xfrm>
            <a:off x="13210982" y="3302254"/>
            <a:ext cx="1180132" cy="1215492"/>
          </a:xfrm>
          <a:custGeom>
            <a:rect b="b" l="l" r="r" t="t"/>
            <a:pathLst>
              <a:path extrusionOk="0" h="1215492" w="1180132">
                <a:moveTo>
                  <a:pt x="0" y="0"/>
                </a:moveTo>
                <a:lnTo>
                  <a:pt x="1180132" y="0"/>
                </a:lnTo>
                <a:lnTo>
                  <a:pt x="1180132" y="1215492"/>
                </a:lnTo>
                <a:lnTo>
                  <a:pt x="0" y="1215492"/>
                </a:lnTo>
                <a:lnTo>
                  <a:pt x="0" y="0"/>
                </a:lnTo>
                <a:close/>
              </a:path>
            </a:pathLst>
          </a:custGeom>
          <a:blipFill rotWithShape="1">
            <a:blip r:embed="rId16">
              <a:alphaModFix/>
            </a:blip>
            <a:stretch>
              <a:fillRect b="0" l="0" r="0" t="0"/>
            </a:stretch>
          </a:blipFill>
          <a:ln>
            <a:noFill/>
          </a:ln>
        </p:spPr>
      </p:sp>
      <p:sp>
        <p:nvSpPr>
          <p:cNvPr id="216" name="Google Shape;216;p9"/>
          <p:cNvSpPr txBox="1"/>
          <p:nvPr/>
        </p:nvSpPr>
        <p:spPr>
          <a:xfrm>
            <a:off x="13377090" y="3637480"/>
            <a:ext cx="879594" cy="678389"/>
          </a:xfrm>
          <a:prstGeom prst="rect">
            <a:avLst/>
          </a:prstGeom>
          <a:noFill/>
          <a:ln>
            <a:noFill/>
          </a:ln>
        </p:spPr>
        <p:txBody>
          <a:bodyPr anchorCtr="0" anchor="t" bIns="0" lIns="0" spcFirstLastPara="1" rIns="0" wrap="square" tIns="0">
            <a:spAutoFit/>
          </a:bodyPr>
          <a:lstStyle/>
          <a:p>
            <a:pPr indent="0" lvl="0" marL="0" marR="0" rtl="0" algn="ctr">
              <a:lnSpc>
                <a:spcPct val="91997"/>
              </a:lnSpc>
              <a:spcBef>
                <a:spcPts val="0"/>
              </a:spcBef>
              <a:spcAft>
                <a:spcPts val="0"/>
              </a:spcAft>
              <a:buNone/>
            </a:pPr>
            <a:r>
              <a:rPr lang="en-US" sz="5348">
                <a:solidFill>
                  <a:srgbClr val="503C30"/>
                </a:solidFill>
                <a:latin typeface="Arial"/>
                <a:ea typeface="Arial"/>
                <a:cs typeface="Arial"/>
                <a:sym typeface="Arial"/>
              </a:rPr>
              <a:t>05</a:t>
            </a:r>
            <a:endParaRPr/>
          </a:p>
        </p:txBody>
      </p:sp>
      <p:sp>
        <p:nvSpPr>
          <p:cNvPr id="217" name="Google Shape;217;p9"/>
          <p:cNvSpPr txBox="1"/>
          <p:nvPr/>
        </p:nvSpPr>
        <p:spPr>
          <a:xfrm>
            <a:off x="14170126" y="4606296"/>
            <a:ext cx="3408600" cy="1466700"/>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None/>
            </a:pPr>
            <a:r>
              <a:rPr lang="en-US" sz="5178" u="sng">
                <a:solidFill>
                  <a:srgbClr val="503C30"/>
                </a:solidFill>
                <a:latin typeface="Calibri"/>
                <a:ea typeface="Calibri"/>
                <a:cs typeface="Calibri"/>
                <a:sym typeface="Calibri"/>
                <a:hlinkClick action="ppaction://hlinksldjump" r:id="rId17">
                  <a:extLst>
                    <a:ext uri="{A12FA001-AC4F-418D-AE19-62706E023703}">
                      <ahyp:hlinkClr val="tx"/>
                    </a:ext>
                  </a:extLst>
                </a:hlinkClick>
              </a:rPr>
              <a:t>CAPA DE SESIÓN</a:t>
            </a:r>
            <a:endParaRPr/>
          </a:p>
        </p:txBody>
      </p:sp>
      <p:sp>
        <p:nvSpPr>
          <p:cNvPr id="218" name="Google Shape;218;p9"/>
          <p:cNvSpPr/>
          <p:nvPr/>
        </p:nvSpPr>
        <p:spPr>
          <a:xfrm>
            <a:off x="7095633" y="6355003"/>
            <a:ext cx="4649320" cy="3763492"/>
          </a:xfrm>
          <a:custGeom>
            <a:rect b="b" l="l" r="r" t="t"/>
            <a:pathLst>
              <a:path extrusionOk="0" h="3763492" w="4649320">
                <a:moveTo>
                  <a:pt x="0" y="0"/>
                </a:moveTo>
                <a:lnTo>
                  <a:pt x="4649320" y="0"/>
                </a:lnTo>
                <a:lnTo>
                  <a:pt x="4649320" y="3763491"/>
                </a:lnTo>
                <a:lnTo>
                  <a:pt x="0" y="3763491"/>
                </a:lnTo>
                <a:lnTo>
                  <a:pt x="0" y="0"/>
                </a:lnTo>
                <a:close/>
              </a:path>
            </a:pathLst>
          </a:custGeom>
          <a:blipFill rotWithShape="1">
            <a:blip r:embed="rId18">
              <a:alphaModFix/>
            </a:blip>
            <a:stretch>
              <a:fillRect b="0" l="0" r="0" t="0"/>
            </a:stretch>
          </a:blipFill>
          <a:ln>
            <a:noFill/>
          </a:ln>
        </p:spPr>
      </p:sp>
      <p:sp>
        <p:nvSpPr>
          <p:cNvPr id="219" name="Google Shape;219;p9"/>
          <p:cNvSpPr/>
          <p:nvPr/>
        </p:nvSpPr>
        <p:spPr>
          <a:xfrm>
            <a:off x="6717967" y="5941310"/>
            <a:ext cx="1231949" cy="1268862"/>
          </a:xfrm>
          <a:custGeom>
            <a:rect b="b" l="l" r="r" t="t"/>
            <a:pathLst>
              <a:path extrusionOk="0" h="1268862" w="1231949">
                <a:moveTo>
                  <a:pt x="0" y="0"/>
                </a:moveTo>
                <a:lnTo>
                  <a:pt x="1231949" y="0"/>
                </a:lnTo>
                <a:lnTo>
                  <a:pt x="1231949" y="1268862"/>
                </a:lnTo>
                <a:lnTo>
                  <a:pt x="0" y="1268862"/>
                </a:lnTo>
                <a:lnTo>
                  <a:pt x="0" y="0"/>
                </a:lnTo>
                <a:close/>
              </a:path>
            </a:pathLst>
          </a:custGeom>
          <a:blipFill rotWithShape="1">
            <a:blip r:embed="rId19">
              <a:alphaModFix/>
            </a:blip>
            <a:stretch>
              <a:fillRect b="0" l="0" r="0" t="0"/>
            </a:stretch>
          </a:blipFill>
          <a:ln>
            <a:noFill/>
          </a:ln>
        </p:spPr>
      </p:sp>
      <p:sp>
        <p:nvSpPr>
          <p:cNvPr id="220" name="Google Shape;220;p9"/>
          <p:cNvSpPr txBox="1"/>
          <p:nvPr/>
        </p:nvSpPr>
        <p:spPr>
          <a:xfrm>
            <a:off x="6891369" y="6285400"/>
            <a:ext cx="918215" cy="714031"/>
          </a:xfrm>
          <a:prstGeom prst="rect">
            <a:avLst/>
          </a:prstGeom>
          <a:noFill/>
          <a:ln>
            <a:noFill/>
          </a:ln>
        </p:spPr>
        <p:txBody>
          <a:bodyPr anchorCtr="0" anchor="t" bIns="0" lIns="0" spcFirstLastPara="1" rIns="0" wrap="square" tIns="0">
            <a:spAutoFit/>
          </a:bodyPr>
          <a:lstStyle/>
          <a:p>
            <a:pPr indent="0" lvl="0" marL="0" marR="0" rtl="0" algn="ctr">
              <a:lnSpc>
                <a:spcPct val="91993"/>
              </a:lnSpc>
              <a:spcBef>
                <a:spcPts val="0"/>
              </a:spcBef>
              <a:spcAft>
                <a:spcPts val="0"/>
              </a:spcAft>
              <a:buNone/>
            </a:pPr>
            <a:r>
              <a:rPr lang="en-US" sz="5583">
                <a:solidFill>
                  <a:srgbClr val="503C30"/>
                </a:solidFill>
                <a:latin typeface="Arial"/>
                <a:ea typeface="Arial"/>
                <a:cs typeface="Arial"/>
                <a:sym typeface="Arial"/>
              </a:rPr>
              <a:t>04</a:t>
            </a:r>
            <a:endParaRPr/>
          </a:p>
        </p:txBody>
      </p:sp>
      <p:sp>
        <p:nvSpPr>
          <p:cNvPr id="221" name="Google Shape;221;p9"/>
          <p:cNvSpPr txBox="1"/>
          <p:nvPr/>
        </p:nvSpPr>
        <p:spPr>
          <a:xfrm>
            <a:off x="7793070" y="7458708"/>
            <a:ext cx="3558000" cy="1466700"/>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None/>
            </a:pPr>
            <a:r>
              <a:rPr lang="en-US" sz="5178" u="sng">
                <a:solidFill>
                  <a:srgbClr val="503C30"/>
                </a:solidFill>
                <a:latin typeface="Calibri"/>
                <a:ea typeface="Calibri"/>
                <a:cs typeface="Calibri"/>
                <a:sym typeface="Calibri"/>
                <a:hlinkClick action="ppaction://hlinksldjump" r:id="rId20">
                  <a:extLst>
                    <a:ext uri="{A12FA001-AC4F-418D-AE19-62706E023703}">
                      <ahyp:hlinkClr val="tx"/>
                    </a:ext>
                  </a:extLst>
                </a:hlinkClick>
              </a:rPr>
              <a:t>CAPA DE TRANSPORTE</a:t>
            </a:r>
            <a:endParaRPr sz="5178" u="sng">
              <a:solidFill>
                <a:srgbClr val="503C3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1000"/>
                                        <p:tgtEl>
                                          <p:spTgt spid="197"/>
                                        </p:tgtEl>
                                      </p:cBhvr>
                                    </p:animEffect>
                                  </p:childTnLst>
                                </p:cTn>
                              </p:par>
                              <p:par>
                                <p:cTn fill="hold" nodeType="with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par>
                                <p:cTn fill="hold" nodeType="with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000"/>
                                        <p:tgtEl>
                                          <p:spTgt spid="199"/>
                                        </p:tgtEl>
                                      </p:cBhvr>
                                    </p:animEffect>
                                  </p:childTnLst>
                                </p:cTn>
                              </p:par>
                              <p:par>
                                <p:cTn fill="hold" nodeType="with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1000"/>
                                        <p:tgtEl>
                                          <p:spTgt spid="200"/>
                                        </p:tgtEl>
                                      </p:cBhvr>
                                    </p:animEffect>
                                  </p:childTnLst>
                                </p:cTn>
                              </p:par>
                              <p:par>
                                <p:cTn fill="hold" nodeType="with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000"/>
                                        <p:tgtEl>
                                          <p:spTgt spid="201"/>
                                        </p:tgtEl>
                                      </p:cBhvr>
                                    </p:animEffect>
                                  </p:childTnLst>
                                </p:cTn>
                              </p:par>
                              <p:par>
                                <p:cTn fill="hold" nodeType="with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par>
                                <p:cTn fill="hold" nodeType="with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par>
                                <p:cTn fill="hold" nodeType="with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1000"/>
                                        <p:tgtEl>
                                          <p:spTgt spid="204"/>
                                        </p:tgtEl>
                                      </p:cBhvr>
                                    </p:animEffect>
                                  </p:childTnLst>
                                </p:cTn>
                              </p:par>
                              <p:par>
                                <p:cTn fill="hold" nodeType="with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1000"/>
                                        <p:tgtEl>
                                          <p:spTgt spid="205"/>
                                        </p:tgtEl>
                                      </p:cBhvr>
                                    </p:animEffect>
                                  </p:childTnLst>
                                </p:cTn>
                              </p:par>
                              <p:par>
                                <p:cTn fill="hold" nodeType="with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1000"/>
                                        <p:tgtEl>
                                          <p:spTgt spid="206"/>
                                        </p:tgtEl>
                                      </p:cBhvr>
                                    </p:animEffect>
                                  </p:childTnLst>
                                </p:cTn>
                              </p:par>
                              <p:par>
                                <p:cTn fill="hold" nodeType="with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par>
                                <p:cTn fill="hold" nodeType="with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par>
                                <p:cTn fill="hold" nodeType="with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par>
                                <p:cTn fill="hold" nodeType="with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1000"/>
                                        <p:tgtEl>
                                          <p:spTgt spid="210"/>
                                        </p:tgtEl>
                                      </p:cBhvr>
                                    </p:animEffect>
                                  </p:childTnLst>
                                </p:cTn>
                              </p:par>
                              <p:par>
                                <p:cTn fill="hold" nodeType="with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par>
                                <p:cTn fill="hold" nodeType="with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1000"/>
                                        <p:tgtEl>
                                          <p:spTgt spid="212"/>
                                        </p:tgtEl>
                                      </p:cBhvr>
                                    </p:animEffect>
                                  </p:childTnLst>
                                </p:cTn>
                              </p:par>
                              <p:par>
                                <p:cTn fill="hold" nodeType="with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par>
                                <p:cTn fill="hold" nodeType="with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par>
                                <p:cTn fill="hold" nodeType="with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1000"/>
                                        <p:tgtEl>
                                          <p:spTgt spid="215"/>
                                        </p:tgtEl>
                                      </p:cBhvr>
                                    </p:animEffect>
                                  </p:childTnLst>
                                </p:cTn>
                              </p:par>
                              <p:par>
                                <p:cTn fill="hold" nodeType="with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1000"/>
                                        <p:tgtEl>
                                          <p:spTgt spid="216"/>
                                        </p:tgtEl>
                                      </p:cBhvr>
                                    </p:animEffect>
                                  </p:childTnLst>
                                </p:cTn>
                              </p:par>
                              <p:par>
                                <p:cTn fill="hold" nodeType="with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par>
                                <p:cTn fill="hold" nodeType="with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par>
                                <p:cTn fill="hold" nodeType="with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225" name="Shape 225"/>
        <p:cNvGrpSpPr/>
        <p:nvPr/>
      </p:nvGrpSpPr>
      <p:grpSpPr>
        <a:xfrm>
          <a:off x="0" y="0"/>
          <a:ext cx="0" cy="0"/>
          <a:chOff x="0" y="0"/>
          <a:chExt cx="0" cy="0"/>
        </a:xfrm>
      </p:grpSpPr>
      <p:sp>
        <p:nvSpPr>
          <p:cNvPr id="226" name="Google Shape;226;p10"/>
          <p:cNvSpPr/>
          <p:nvPr/>
        </p:nvSpPr>
        <p:spPr>
          <a:xfrm>
            <a:off x="14388404" y="9114315"/>
            <a:ext cx="4913679" cy="1876132"/>
          </a:xfrm>
          <a:custGeom>
            <a:rect b="b" l="l" r="r" t="t"/>
            <a:pathLst>
              <a:path extrusionOk="0" h="1876132" w="4913679">
                <a:moveTo>
                  <a:pt x="0" y="0"/>
                </a:moveTo>
                <a:lnTo>
                  <a:pt x="4913678" y="0"/>
                </a:lnTo>
                <a:lnTo>
                  <a:pt x="4913678" y="1876132"/>
                </a:lnTo>
                <a:lnTo>
                  <a:pt x="0" y="1876132"/>
                </a:lnTo>
                <a:lnTo>
                  <a:pt x="0" y="0"/>
                </a:lnTo>
                <a:close/>
              </a:path>
            </a:pathLst>
          </a:custGeom>
          <a:blipFill rotWithShape="1">
            <a:blip r:embed="rId3">
              <a:alphaModFix/>
            </a:blip>
            <a:stretch>
              <a:fillRect b="0" l="0" r="0" t="0"/>
            </a:stretch>
          </a:blipFill>
          <a:ln>
            <a:noFill/>
          </a:ln>
        </p:spPr>
      </p:sp>
      <p:sp>
        <p:nvSpPr>
          <p:cNvPr id="227" name="Google Shape;227;p10"/>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3">
              <a:alphaModFix/>
            </a:blip>
            <a:stretch>
              <a:fillRect b="0" l="0" r="0" t="0"/>
            </a:stretch>
          </a:blipFill>
          <a:ln>
            <a:noFill/>
          </a:ln>
        </p:spPr>
      </p:sp>
      <p:sp>
        <p:nvSpPr>
          <p:cNvPr id="228" name="Google Shape;228;p10"/>
          <p:cNvSpPr/>
          <p:nvPr/>
        </p:nvSpPr>
        <p:spPr>
          <a:xfrm>
            <a:off x="4225900" y="217961"/>
            <a:ext cx="1415394" cy="1255840"/>
          </a:xfrm>
          <a:custGeom>
            <a:rect b="b" l="l" r="r" t="t"/>
            <a:pathLst>
              <a:path extrusionOk="0" h="1255840" w="1415394">
                <a:moveTo>
                  <a:pt x="0" y="0"/>
                </a:moveTo>
                <a:lnTo>
                  <a:pt x="1415394" y="0"/>
                </a:lnTo>
                <a:lnTo>
                  <a:pt x="1415394" y="1255840"/>
                </a:lnTo>
                <a:lnTo>
                  <a:pt x="0" y="1255840"/>
                </a:lnTo>
                <a:lnTo>
                  <a:pt x="0" y="0"/>
                </a:lnTo>
                <a:close/>
              </a:path>
            </a:pathLst>
          </a:custGeom>
          <a:blipFill rotWithShape="1">
            <a:blip r:embed="rId4">
              <a:alphaModFix/>
            </a:blip>
            <a:stretch>
              <a:fillRect b="0" l="0" r="0" t="0"/>
            </a:stretch>
          </a:blipFill>
          <a:ln>
            <a:noFill/>
          </a:ln>
        </p:spPr>
      </p:sp>
      <p:sp>
        <p:nvSpPr>
          <p:cNvPr id="229" name="Google Shape;229;p10"/>
          <p:cNvSpPr/>
          <p:nvPr/>
        </p:nvSpPr>
        <p:spPr>
          <a:xfrm>
            <a:off x="8898622" y="2542425"/>
            <a:ext cx="726004" cy="1040867"/>
          </a:xfrm>
          <a:custGeom>
            <a:rect b="b" l="l" r="r" t="t"/>
            <a:pathLst>
              <a:path extrusionOk="0" h="1040867" w="726004">
                <a:moveTo>
                  <a:pt x="0" y="0"/>
                </a:moveTo>
                <a:lnTo>
                  <a:pt x="726005" y="0"/>
                </a:lnTo>
                <a:lnTo>
                  <a:pt x="726005" y="1040867"/>
                </a:lnTo>
                <a:lnTo>
                  <a:pt x="0" y="1040867"/>
                </a:lnTo>
                <a:lnTo>
                  <a:pt x="0" y="0"/>
                </a:lnTo>
                <a:close/>
              </a:path>
            </a:pathLst>
          </a:custGeom>
          <a:blipFill rotWithShape="1">
            <a:blip r:embed="rId5">
              <a:alphaModFix/>
            </a:blip>
            <a:stretch>
              <a:fillRect b="0" l="0" r="0" t="0"/>
            </a:stretch>
          </a:blipFill>
          <a:ln>
            <a:noFill/>
          </a:ln>
        </p:spPr>
      </p:sp>
      <p:sp>
        <p:nvSpPr>
          <p:cNvPr id="230" name="Google Shape;230;p10"/>
          <p:cNvSpPr/>
          <p:nvPr/>
        </p:nvSpPr>
        <p:spPr>
          <a:xfrm>
            <a:off x="13896345" y="8173546"/>
            <a:ext cx="1253466" cy="1498709"/>
          </a:xfrm>
          <a:custGeom>
            <a:rect b="b" l="l" r="r" t="t"/>
            <a:pathLst>
              <a:path extrusionOk="0" h="1498709" w="1253466">
                <a:moveTo>
                  <a:pt x="0" y="0"/>
                </a:moveTo>
                <a:lnTo>
                  <a:pt x="1253466" y="0"/>
                </a:lnTo>
                <a:lnTo>
                  <a:pt x="1253466" y="1498709"/>
                </a:lnTo>
                <a:lnTo>
                  <a:pt x="0" y="1498709"/>
                </a:lnTo>
                <a:lnTo>
                  <a:pt x="0" y="0"/>
                </a:lnTo>
                <a:close/>
              </a:path>
            </a:pathLst>
          </a:custGeom>
          <a:blipFill rotWithShape="1">
            <a:blip r:embed="rId6">
              <a:alphaModFix/>
            </a:blip>
            <a:stretch>
              <a:fillRect b="0" l="0" r="0" t="0"/>
            </a:stretch>
          </a:blipFill>
          <a:ln>
            <a:noFill/>
          </a:ln>
        </p:spPr>
      </p:sp>
      <p:sp>
        <p:nvSpPr>
          <p:cNvPr id="231" name="Google Shape;231;p10"/>
          <p:cNvSpPr/>
          <p:nvPr/>
        </p:nvSpPr>
        <p:spPr>
          <a:xfrm rot="5089641">
            <a:off x="16728159" y="152511"/>
            <a:ext cx="1700877" cy="1549344"/>
          </a:xfrm>
          <a:custGeom>
            <a:rect b="b" l="l" r="r" t="t"/>
            <a:pathLst>
              <a:path extrusionOk="0" h="1549344" w="1700877">
                <a:moveTo>
                  <a:pt x="0" y="0"/>
                </a:moveTo>
                <a:lnTo>
                  <a:pt x="1700878" y="0"/>
                </a:lnTo>
                <a:lnTo>
                  <a:pt x="1700878" y="1549344"/>
                </a:lnTo>
                <a:lnTo>
                  <a:pt x="0" y="1549344"/>
                </a:lnTo>
                <a:lnTo>
                  <a:pt x="0" y="0"/>
                </a:lnTo>
                <a:close/>
              </a:path>
            </a:pathLst>
          </a:custGeom>
          <a:blipFill rotWithShape="1">
            <a:blip r:embed="rId7">
              <a:alphaModFix/>
            </a:blip>
            <a:stretch>
              <a:fillRect b="0" l="0" r="0" t="0"/>
            </a:stretch>
          </a:blipFill>
          <a:ln>
            <a:noFill/>
          </a:ln>
        </p:spPr>
      </p:sp>
      <p:sp>
        <p:nvSpPr>
          <p:cNvPr id="232" name="Google Shape;232;p10"/>
          <p:cNvSpPr/>
          <p:nvPr/>
        </p:nvSpPr>
        <p:spPr>
          <a:xfrm rot="-5399999">
            <a:off x="2502056" y="8661889"/>
            <a:ext cx="1700877" cy="1549344"/>
          </a:xfrm>
          <a:custGeom>
            <a:rect b="b" l="l" r="r" t="t"/>
            <a:pathLst>
              <a:path extrusionOk="0" h="1549344" w="1700877">
                <a:moveTo>
                  <a:pt x="0" y="0"/>
                </a:moveTo>
                <a:lnTo>
                  <a:pt x="1700877" y="0"/>
                </a:lnTo>
                <a:lnTo>
                  <a:pt x="1700877" y="1549345"/>
                </a:lnTo>
                <a:lnTo>
                  <a:pt x="0" y="1549345"/>
                </a:lnTo>
                <a:lnTo>
                  <a:pt x="0" y="0"/>
                </a:lnTo>
                <a:close/>
              </a:path>
            </a:pathLst>
          </a:custGeom>
          <a:blipFill rotWithShape="1">
            <a:blip r:embed="rId7">
              <a:alphaModFix/>
            </a:blip>
            <a:stretch>
              <a:fillRect b="0" l="0" r="0" t="0"/>
            </a:stretch>
          </a:blipFill>
          <a:ln>
            <a:noFill/>
          </a:ln>
        </p:spPr>
      </p:sp>
      <p:sp>
        <p:nvSpPr>
          <p:cNvPr id="233" name="Google Shape;233;p10"/>
          <p:cNvSpPr txBox="1"/>
          <p:nvPr/>
        </p:nvSpPr>
        <p:spPr>
          <a:xfrm>
            <a:off x="5268115" y="4093185"/>
            <a:ext cx="7751700" cy="1919700"/>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None/>
            </a:pPr>
            <a:r>
              <a:rPr lang="en-US" sz="6778">
                <a:solidFill>
                  <a:srgbClr val="503C30"/>
                </a:solidFill>
                <a:latin typeface="Calibri"/>
                <a:ea typeface="Calibri"/>
                <a:cs typeface="Calibri"/>
                <a:sym typeface="Calibri"/>
              </a:rPr>
              <a:t>CARACTERISTICAS DE SUS CAPAS</a:t>
            </a:r>
            <a:endParaRPr>
              <a:latin typeface="Calibri"/>
              <a:ea typeface="Calibri"/>
              <a:cs typeface="Calibri"/>
              <a:sym typeface="Calibri"/>
            </a:endParaRPr>
          </a:p>
        </p:txBody>
      </p:sp>
      <p:sp>
        <p:nvSpPr>
          <p:cNvPr id="234" name="Google Shape;234;p10"/>
          <p:cNvSpPr/>
          <p:nvPr/>
        </p:nvSpPr>
        <p:spPr>
          <a:xfrm>
            <a:off x="7066051" y="599250"/>
            <a:ext cx="4285150" cy="3468706"/>
          </a:xfrm>
          <a:custGeom>
            <a:rect b="b" l="l" r="r" t="t"/>
            <a:pathLst>
              <a:path extrusionOk="0" h="3468706" w="4285150">
                <a:moveTo>
                  <a:pt x="0" y="0"/>
                </a:moveTo>
                <a:lnTo>
                  <a:pt x="4285150" y="0"/>
                </a:lnTo>
                <a:lnTo>
                  <a:pt x="4285150" y="3468706"/>
                </a:lnTo>
                <a:lnTo>
                  <a:pt x="0" y="3468706"/>
                </a:lnTo>
                <a:lnTo>
                  <a:pt x="0" y="0"/>
                </a:lnTo>
                <a:close/>
              </a:path>
            </a:pathLst>
          </a:custGeom>
          <a:blipFill rotWithShape="1">
            <a:blip r:embed="rId8">
              <a:alphaModFix/>
            </a:blip>
            <a:stretch>
              <a:fillRect b="0" l="0" r="0" t="0"/>
            </a:stretch>
          </a:blipFill>
          <a:ln>
            <a:noFill/>
          </a:ln>
        </p:spPr>
      </p:sp>
      <p:sp>
        <p:nvSpPr>
          <p:cNvPr id="235" name="Google Shape;235;p10"/>
          <p:cNvSpPr/>
          <p:nvPr/>
        </p:nvSpPr>
        <p:spPr>
          <a:xfrm>
            <a:off x="6717967" y="217961"/>
            <a:ext cx="1135454" cy="1169475"/>
          </a:xfrm>
          <a:custGeom>
            <a:rect b="b" l="l" r="r" t="t"/>
            <a:pathLst>
              <a:path extrusionOk="0" h="1169475" w="1135454">
                <a:moveTo>
                  <a:pt x="0" y="0"/>
                </a:moveTo>
                <a:lnTo>
                  <a:pt x="1135453" y="0"/>
                </a:lnTo>
                <a:lnTo>
                  <a:pt x="1135453" y="1169475"/>
                </a:lnTo>
                <a:lnTo>
                  <a:pt x="0" y="1169475"/>
                </a:lnTo>
                <a:lnTo>
                  <a:pt x="0" y="0"/>
                </a:lnTo>
                <a:close/>
              </a:path>
            </a:pathLst>
          </a:custGeom>
          <a:blipFill rotWithShape="1">
            <a:blip r:embed="rId9">
              <a:alphaModFix/>
            </a:blip>
            <a:stretch>
              <a:fillRect b="0" l="0" r="0" t="0"/>
            </a:stretch>
          </a:blipFill>
          <a:ln>
            <a:noFill/>
          </a:ln>
        </p:spPr>
      </p:sp>
      <p:sp>
        <p:nvSpPr>
          <p:cNvPr id="236" name="Google Shape;236;p10"/>
          <p:cNvSpPr txBox="1"/>
          <p:nvPr/>
        </p:nvSpPr>
        <p:spPr>
          <a:xfrm>
            <a:off x="6877786" y="545545"/>
            <a:ext cx="846293" cy="647658"/>
          </a:xfrm>
          <a:prstGeom prst="rect">
            <a:avLst/>
          </a:prstGeom>
          <a:noFill/>
          <a:ln>
            <a:noFill/>
          </a:ln>
        </p:spPr>
        <p:txBody>
          <a:bodyPr anchorCtr="0" anchor="t" bIns="0" lIns="0" spcFirstLastPara="1" rIns="0" wrap="square" tIns="0">
            <a:spAutoFit/>
          </a:bodyPr>
          <a:lstStyle/>
          <a:p>
            <a:pPr indent="0" lvl="0" marL="0" marR="0" rtl="0" algn="ctr">
              <a:lnSpc>
                <a:spcPct val="92011"/>
              </a:lnSpc>
              <a:spcBef>
                <a:spcPts val="0"/>
              </a:spcBef>
              <a:spcAft>
                <a:spcPts val="0"/>
              </a:spcAft>
              <a:buNone/>
            </a:pPr>
            <a:r>
              <a:rPr lang="en-US" sz="5145">
                <a:solidFill>
                  <a:srgbClr val="503C30"/>
                </a:solidFill>
                <a:latin typeface="Arial"/>
                <a:ea typeface="Arial"/>
                <a:cs typeface="Arial"/>
                <a:sym typeface="Arial"/>
              </a:rPr>
              <a:t>03</a:t>
            </a:r>
            <a:endParaRPr/>
          </a:p>
        </p:txBody>
      </p:sp>
      <p:sp>
        <p:nvSpPr>
          <p:cNvPr id="237" name="Google Shape;237;p10"/>
          <p:cNvSpPr txBox="1"/>
          <p:nvPr/>
        </p:nvSpPr>
        <p:spPr>
          <a:xfrm>
            <a:off x="7724079" y="1744166"/>
            <a:ext cx="3279300" cy="1919700"/>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None/>
            </a:pPr>
            <a:r>
              <a:rPr lang="en-US" sz="6778" u="sng">
                <a:solidFill>
                  <a:srgbClr val="503C30"/>
                </a:solidFill>
                <a:hlinkClick action="ppaction://hlinksldjump" r:id="rId10">
                  <a:extLst>
                    <a:ext uri="{A12FA001-AC4F-418D-AE19-62706E023703}">
                      <ahyp:hlinkClr val="tx"/>
                    </a:ext>
                  </a:extLst>
                </a:hlinkClick>
              </a:rPr>
              <a:t>CAPA DE RED</a:t>
            </a:r>
            <a:endParaRPr/>
          </a:p>
        </p:txBody>
      </p:sp>
      <p:sp>
        <p:nvSpPr>
          <p:cNvPr id="238" name="Google Shape;238;p10"/>
          <p:cNvSpPr/>
          <p:nvPr/>
        </p:nvSpPr>
        <p:spPr>
          <a:xfrm>
            <a:off x="13572763" y="3698546"/>
            <a:ext cx="4453765" cy="3605195"/>
          </a:xfrm>
          <a:custGeom>
            <a:rect b="b" l="l" r="r" t="t"/>
            <a:pathLst>
              <a:path extrusionOk="0" h="3605195" w="4453765">
                <a:moveTo>
                  <a:pt x="0" y="0"/>
                </a:moveTo>
                <a:lnTo>
                  <a:pt x="4453765" y="0"/>
                </a:lnTo>
                <a:lnTo>
                  <a:pt x="4453765" y="3605195"/>
                </a:lnTo>
                <a:lnTo>
                  <a:pt x="0" y="3605195"/>
                </a:lnTo>
                <a:lnTo>
                  <a:pt x="0" y="0"/>
                </a:lnTo>
                <a:close/>
              </a:path>
            </a:pathLst>
          </a:custGeom>
          <a:blipFill rotWithShape="1">
            <a:blip r:embed="rId11">
              <a:alphaModFix/>
            </a:blip>
            <a:stretch>
              <a:fillRect b="0" l="0" r="0" t="0"/>
            </a:stretch>
          </a:blipFill>
          <a:ln>
            <a:noFill/>
          </a:ln>
        </p:spPr>
      </p:sp>
      <p:sp>
        <p:nvSpPr>
          <p:cNvPr id="239" name="Google Shape;239;p10"/>
          <p:cNvSpPr/>
          <p:nvPr/>
        </p:nvSpPr>
        <p:spPr>
          <a:xfrm>
            <a:off x="13210982" y="3302254"/>
            <a:ext cx="1180132" cy="1215492"/>
          </a:xfrm>
          <a:custGeom>
            <a:rect b="b" l="l" r="r" t="t"/>
            <a:pathLst>
              <a:path extrusionOk="0" h="1215492" w="1180132">
                <a:moveTo>
                  <a:pt x="0" y="0"/>
                </a:moveTo>
                <a:lnTo>
                  <a:pt x="1180132" y="0"/>
                </a:lnTo>
                <a:lnTo>
                  <a:pt x="1180132" y="1215492"/>
                </a:lnTo>
                <a:lnTo>
                  <a:pt x="0" y="1215492"/>
                </a:lnTo>
                <a:lnTo>
                  <a:pt x="0" y="0"/>
                </a:lnTo>
                <a:close/>
              </a:path>
            </a:pathLst>
          </a:custGeom>
          <a:blipFill rotWithShape="1">
            <a:blip r:embed="rId12">
              <a:alphaModFix/>
            </a:blip>
            <a:stretch>
              <a:fillRect b="0" l="0" r="0" t="0"/>
            </a:stretch>
          </a:blipFill>
          <a:ln>
            <a:noFill/>
          </a:ln>
        </p:spPr>
      </p:sp>
      <p:sp>
        <p:nvSpPr>
          <p:cNvPr id="240" name="Google Shape;240;p10"/>
          <p:cNvSpPr txBox="1"/>
          <p:nvPr/>
        </p:nvSpPr>
        <p:spPr>
          <a:xfrm>
            <a:off x="13377090" y="3637480"/>
            <a:ext cx="879594" cy="678389"/>
          </a:xfrm>
          <a:prstGeom prst="rect">
            <a:avLst/>
          </a:prstGeom>
          <a:noFill/>
          <a:ln>
            <a:noFill/>
          </a:ln>
        </p:spPr>
        <p:txBody>
          <a:bodyPr anchorCtr="0" anchor="t" bIns="0" lIns="0" spcFirstLastPara="1" rIns="0" wrap="square" tIns="0">
            <a:spAutoFit/>
          </a:bodyPr>
          <a:lstStyle/>
          <a:p>
            <a:pPr indent="0" lvl="0" marL="0" marR="0" rtl="0" algn="ctr">
              <a:lnSpc>
                <a:spcPct val="91997"/>
              </a:lnSpc>
              <a:spcBef>
                <a:spcPts val="0"/>
              </a:spcBef>
              <a:spcAft>
                <a:spcPts val="0"/>
              </a:spcAft>
              <a:buNone/>
            </a:pPr>
            <a:r>
              <a:rPr lang="en-US" sz="5348">
                <a:solidFill>
                  <a:srgbClr val="503C30"/>
                </a:solidFill>
                <a:latin typeface="Arial"/>
                <a:ea typeface="Arial"/>
                <a:cs typeface="Arial"/>
                <a:sym typeface="Arial"/>
              </a:rPr>
              <a:t>02</a:t>
            </a:r>
            <a:endParaRPr/>
          </a:p>
        </p:txBody>
      </p:sp>
      <p:sp>
        <p:nvSpPr>
          <p:cNvPr id="241" name="Google Shape;241;p10"/>
          <p:cNvSpPr txBox="1"/>
          <p:nvPr/>
        </p:nvSpPr>
        <p:spPr>
          <a:xfrm>
            <a:off x="14170126" y="4334701"/>
            <a:ext cx="3408600" cy="2199900"/>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None/>
            </a:pPr>
            <a:r>
              <a:rPr lang="en-US" sz="5178" u="sng">
                <a:solidFill>
                  <a:srgbClr val="503C30"/>
                </a:solidFill>
                <a:latin typeface="Calibri"/>
                <a:ea typeface="Calibri"/>
                <a:cs typeface="Calibri"/>
                <a:sym typeface="Calibri"/>
                <a:hlinkClick action="ppaction://hlinksldjump" r:id="rId13">
                  <a:extLst>
                    <a:ext uri="{A12FA001-AC4F-418D-AE19-62706E023703}">
                      <ahyp:hlinkClr val="tx"/>
                    </a:ext>
                  </a:extLst>
                </a:hlinkClick>
              </a:rPr>
              <a:t>CAPA DE ENLACE DE DATOS</a:t>
            </a:r>
            <a:endParaRPr/>
          </a:p>
        </p:txBody>
      </p:sp>
      <p:sp>
        <p:nvSpPr>
          <p:cNvPr id="242" name="Google Shape;242;p10"/>
          <p:cNvSpPr/>
          <p:nvPr/>
        </p:nvSpPr>
        <p:spPr>
          <a:xfrm>
            <a:off x="8921322" y="8051537"/>
            <a:ext cx="445356" cy="931353"/>
          </a:xfrm>
          <a:custGeom>
            <a:rect b="b" l="l" r="r" t="t"/>
            <a:pathLst>
              <a:path extrusionOk="0" h="931353" w="445356">
                <a:moveTo>
                  <a:pt x="0" y="0"/>
                </a:moveTo>
                <a:lnTo>
                  <a:pt x="445356" y="0"/>
                </a:lnTo>
                <a:lnTo>
                  <a:pt x="445356" y="931354"/>
                </a:lnTo>
                <a:lnTo>
                  <a:pt x="0" y="931354"/>
                </a:lnTo>
                <a:lnTo>
                  <a:pt x="0" y="0"/>
                </a:lnTo>
                <a:close/>
              </a:path>
            </a:pathLst>
          </a:custGeom>
          <a:blipFill rotWithShape="1">
            <a:blip r:embed="rId14">
              <a:alphaModFix/>
            </a:blip>
            <a:stretch>
              <a:fillRect b="0" l="0" r="0" t="0"/>
            </a:stretch>
          </a:blipFill>
          <a:ln>
            <a:noFill/>
          </a:ln>
        </p:spPr>
      </p:sp>
      <p:sp>
        <p:nvSpPr>
          <p:cNvPr id="243" name="Google Shape;243;p10"/>
          <p:cNvSpPr/>
          <p:nvPr/>
        </p:nvSpPr>
        <p:spPr>
          <a:xfrm>
            <a:off x="7095633" y="6355003"/>
            <a:ext cx="4649320" cy="3763492"/>
          </a:xfrm>
          <a:custGeom>
            <a:rect b="b" l="l" r="r" t="t"/>
            <a:pathLst>
              <a:path extrusionOk="0" h="3763492" w="4649320">
                <a:moveTo>
                  <a:pt x="0" y="0"/>
                </a:moveTo>
                <a:lnTo>
                  <a:pt x="4649320" y="0"/>
                </a:lnTo>
                <a:lnTo>
                  <a:pt x="4649320" y="3763491"/>
                </a:lnTo>
                <a:lnTo>
                  <a:pt x="0" y="3763491"/>
                </a:lnTo>
                <a:lnTo>
                  <a:pt x="0" y="0"/>
                </a:lnTo>
                <a:close/>
              </a:path>
            </a:pathLst>
          </a:custGeom>
          <a:blipFill rotWithShape="1">
            <a:blip r:embed="rId15">
              <a:alphaModFix/>
            </a:blip>
            <a:stretch>
              <a:fillRect b="0" l="0" r="0" t="0"/>
            </a:stretch>
          </a:blipFill>
          <a:ln>
            <a:noFill/>
          </a:ln>
        </p:spPr>
      </p:sp>
      <p:sp>
        <p:nvSpPr>
          <p:cNvPr id="244" name="Google Shape;244;p10"/>
          <p:cNvSpPr/>
          <p:nvPr/>
        </p:nvSpPr>
        <p:spPr>
          <a:xfrm>
            <a:off x="6717967" y="5941310"/>
            <a:ext cx="1231949" cy="1268862"/>
          </a:xfrm>
          <a:custGeom>
            <a:rect b="b" l="l" r="r" t="t"/>
            <a:pathLst>
              <a:path extrusionOk="0" h="1268862" w="1231949">
                <a:moveTo>
                  <a:pt x="0" y="0"/>
                </a:moveTo>
                <a:lnTo>
                  <a:pt x="1231949" y="0"/>
                </a:lnTo>
                <a:lnTo>
                  <a:pt x="1231949" y="1268862"/>
                </a:lnTo>
                <a:lnTo>
                  <a:pt x="0" y="1268862"/>
                </a:lnTo>
                <a:lnTo>
                  <a:pt x="0" y="0"/>
                </a:lnTo>
                <a:close/>
              </a:path>
            </a:pathLst>
          </a:custGeom>
          <a:blipFill rotWithShape="1">
            <a:blip r:embed="rId16">
              <a:alphaModFix/>
            </a:blip>
            <a:stretch>
              <a:fillRect b="0" l="0" r="0" t="0"/>
            </a:stretch>
          </a:blipFill>
          <a:ln>
            <a:noFill/>
          </a:ln>
        </p:spPr>
      </p:sp>
      <p:sp>
        <p:nvSpPr>
          <p:cNvPr id="245" name="Google Shape;245;p10"/>
          <p:cNvSpPr txBox="1"/>
          <p:nvPr/>
        </p:nvSpPr>
        <p:spPr>
          <a:xfrm>
            <a:off x="6891369" y="6285970"/>
            <a:ext cx="918215" cy="712891"/>
          </a:xfrm>
          <a:prstGeom prst="rect">
            <a:avLst/>
          </a:prstGeom>
          <a:noFill/>
          <a:ln>
            <a:noFill/>
          </a:ln>
        </p:spPr>
        <p:txBody>
          <a:bodyPr anchorCtr="0" anchor="t" bIns="0" lIns="0" spcFirstLastPara="1" rIns="0" wrap="square" tIns="0">
            <a:spAutoFit/>
          </a:bodyPr>
          <a:lstStyle/>
          <a:p>
            <a:pPr indent="0" lvl="0" marL="0" marR="0" rtl="0" algn="ctr">
              <a:lnSpc>
                <a:spcPct val="91993"/>
              </a:lnSpc>
              <a:spcBef>
                <a:spcPts val="0"/>
              </a:spcBef>
              <a:spcAft>
                <a:spcPts val="0"/>
              </a:spcAft>
              <a:buNone/>
            </a:pPr>
            <a:r>
              <a:rPr lang="en-US" sz="5583">
                <a:solidFill>
                  <a:srgbClr val="503C30"/>
                </a:solidFill>
                <a:latin typeface="Arial"/>
                <a:ea typeface="Arial"/>
                <a:cs typeface="Arial"/>
                <a:sym typeface="Arial"/>
              </a:rPr>
              <a:t>01</a:t>
            </a:r>
            <a:endParaRPr/>
          </a:p>
        </p:txBody>
      </p:sp>
      <p:sp>
        <p:nvSpPr>
          <p:cNvPr id="246" name="Google Shape;246;p10"/>
          <p:cNvSpPr txBox="1"/>
          <p:nvPr/>
        </p:nvSpPr>
        <p:spPr>
          <a:xfrm>
            <a:off x="7724079" y="7487579"/>
            <a:ext cx="3558131" cy="1590179"/>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None/>
            </a:pPr>
            <a:r>
              <a:rPr lang="en-US" sz="6778" u="sng" strike="noStrike">
                <a:solidFill>
                  <a:srgbClr val="503C30"/>
                </a:solidFill>
                <a:latin typeface="Arial"/>
                <a:ea typeface="Arial"/>
                <a:cs typeface="Arial"/>
                <a:sym typeface="Arial"/>
                <a:hlinkClick action="ppaction://hlinksldjump" r:id="rId17">
                  <a:extLst>
                    <a:ext uri="{A12FA001-AC4F-418D-AE19-62706E023703}">
                      <ahyp:hlinkClr val="tx"/>
                    </a:ext>
                  </a:extLst>
                </a:hlinkClick>
              </a:rPr>
              <a:t>CAPA FÍSICA</a:t>
            </a:r>
            <a:endParaRPr/>
          </a:p>
        </p:txBody>
      </p:sp>
      <p:grpSp>
        <p:nvGrpSpPr>
          <p:cNvPr id="247" name="Google Shape;247;p10"/>
          <p:cNvGrpSpPr/>
          <p:nvPr/>
        </p:nvGrpSpPr>
        <p:grpSpPr>
          <a:xfrm>
            <a:off x="231154" y="2180773"/>
            <a:ext cx="4953388" cy="6742127"/>
            <a:chOff x="1" y="0"/>
            <a:chExt cx="6604517" cy="8989503"/>
          </a:xfrm>
        </p:grpSpPr>
        <p:sp>
          <p:nvSpPr>
            <p:cNvPr id="248" name="Google Shape;248;p10"/>
            <p:cNvSpPr/>
            <p:nvPr/>
          </p:nvSpPr>
          <p:spPr>
            <a:xfrm rot="-5400000">
              <a:off x="-777266" y="1158683"/>
              <a:ext cx="8159050" cy="6604517"/>
            </a:xfrm>
            <a:custGeom>
              <a:rect b="b" l="l" r="r" t="t"/>
              <a:pathLst>
                <a:path extrusionOk="0" h="6604517" w="8159050">
                  <a:moveTo>
                    <a:pt x="0" y="0"/>
                  </a:moveTo>
                  <a:lnTo>
                    <a:pt x="8159050" y="0"/>
                  </a:lnTo>
                  <a:lnTo>
                    <a:pt x="8159050" y="6604517"/>
                  </a:lnTo>
                  <a:lnTo>
                    <a:pt x="0" y="6604517"/>
                  </a:lnTo>
                  <a:lnTo>
                    <a:pt x="0" y="0"/>
                  </a:lnTo>
                  <a:close/>
                </a:path>
              </a:pathLst>
            </a:custGeom>
            <a:blipFill rotWithShape="1">
              <a:blip r:embed="rId18">
                <a:alphaModFix/>
              </a:blip>
              <a:stretch>
                <a:fillRect b="0" l="0" r="0" t="0"/>
              </a:stretch>
            </a:blipFill>
            <a:ln>
              <a:noFill/>
            </a:ln>
          </p:spPr>
        </p:sp>
        <p:sp>
          <p:nvSpPr>
            <p:cNvPr id="249" name="Google Shape;249;p10"/>
            <p:cNvSpPr/>
            <p:nvPr/>
          </p:nvSpPr>
          <p:spPr>
            <a:xfrm>
              <a:off x="440034" y="0"/>
              <a:ext cx="5829890" cy="1197777"/>
            </a:xfrm>
            <a:custGeom>
              <a:rect b="b" l="l" r="r" t="t"/>
              <a:pathLst>
                <a:path extrusionOk="0" h="1197777" w="5829890">
                  <a:moveTo>
                    <a:pt x="0" y="0"/>
                  </a:moveTo>
                  <a:lnTo>
                    <a:pt x="5829890" y="0"/>
                  </a:lnTo>
                  <a:lnTo>
                    <a:pt x="5829890" y="1197777"/>
                  </a:lnTo>
                  <a:lnTo>
                    <a:pt x="0" y="1197777"/>
                  </a:lnTo>
                  <a:lnTo>
                    <a:pt x="0" y="0"/>
                  </a:lnTo>
                  <a:close/>
                </a:path>
              </a:pathLst>
            </a:custGeom>
            <a:blipFill rotWithShape="1">
              <a:blip r:embed="rId19">
                <a:alphaModFix/>
              </a:blip>
              <a:stretch>
                <a:fillRect b="0" l="0" r="0" t="0"/>
              </a:stretch>
            </a:blipFill>
            <a:ln>
              <a:noFill/>
            </a:ln>
          </p:spPr>
        </p:sp>
        <p:sp>
          <p:nvSpPr>
            <p:cNvPr id="250" name="Google Shape;250;p10"/>
            <p:cNvSpPr/>
            <p:nvPr/>
          </p:nvSpPr>
          <p:spPr>
            <a:xfrm>
              <a:off x="478278" y="1495308"/>
              <a:ext cx="5647962" cy="6040709"/>
            </a:xfrm>
            <a:custGeom>
              <a:rect b="b" l="l" r="r" t="t"/>
              <a:pathLst>
                <a:path extrusionOk="0" h="701898" w="656263">
                  <a:moveTo>
                    <a:pt x="0" y="0"/>
                  </a:moveTo>
                  <a:lnTo>
                    <a:pt x="656263" y="0"/>
                  </a:lnTo>
                  <a:lnTo>
                    <a:pt x="656263" y="701898"/>
                  </a:lnTo>
                  <a:lnTo>
                    <a:pt x="0" y="701898"/>
                  </a:lnTo>
                  <a:close/>
                </a:path>
              </a:pathLst>
            </a:custGeom>
            <a:blipFill rotWithShape="1">
              <a:blip r:embed="rId20">
                <a:alphaModFix/>
              </a:blip>
              <a:stretch>
                <a:fillRect b="0" l="-29068" r="-21039" t="0"/>
              </a:stretch>
            </a:blipFill>
            <a:ln>
              <a:noFill/>
            </a:ln>
          </p:spPr>
        </p:sp>
        <p:sp>
          <p:nvSpPr>
            <p:cNvPr id="251" name="Google Shape;251;p10"/>
            <p:cNvSpPr txBox="1"/>
            <p:nvPr/>
          </p:nvSpPr>
          <p:spPr>
            <a:xfrm>
              <a:off x="756804" y="257664"/>
              <a:ext cx="4744174" cy="852060"/>
            </a:xfrm>
            <a:prstGeom prst="rect">
              <a:avLst/>
            </a:prstGeom>
            <a:noFill/>
            <a:ln>
              <a:noFill/>
            </a:ln>
          </p:spPr>
          <p:txBody>
            <a:bodyPr anchorCtr="0" anchor="t" bIns="0" lIns="0" spcFirstLastPara="1" rIns="0" wrap="square" tIns="0">
              <a:spAutoFit/>
            </a:bodyPr>
            <a:lstStyle/>
            <a:p>
              <a:pPr indent="0" lvl="0" marL="0" marR="0" rtl="0" algn="l">
                <a:lnSpc>
                  <a:spcPct val="91996"/>
                </a:lnSpc>
                <a:spcBef>
                  <a:spcPts val="0"/>
                </a:spcBef>
                <a:spcAft>
                  <a:spcPts val="0"/>
                </a:spcAft>
                <a:buNone/>
              </a:pPr>
              <a:r>
                <a:rPr lang="en-US" sz="3136">
                  <a:solidFill>
                    <a:srgbClr val="503C30"/>
                  </a:solidFill>
                  <a:latin typeface="Arial"/>
                  <a:ea typeface="Arial"/>
                  <a:cs typeface="Arial"/>
                  <a:sym typeface="Arial"/>
                </a:rPr>
                <a:t>FIGURA 4</a:t>
              </a:r>
              <a:endParaRPr/>
            </a:p>
            <a:p>
              <a:pPr indent="0" lvl="0" marL="0" marR="0" rtl="0" algn="l">
                <a:lnSpc>
                  <a:spcPct val="91994"/>
                </a:lnSpc>
                <a:spcBef>
                  <a:spcPts val="0"/>
                </a:spcBef>
                <a:spcAft>
                  <a:spcPts val="0"/>
                </a:spcAft>
                <a:buNone/>
              </a:pPr>
              <a:r>
                <a:rPr lang="en-US" sz="2136">
                  <a:solidFill>
                    <a:srgbClr val="503C30"/>
                  </a:solidFill>
                  <a:latin typeface="Inter"/>
                  <a:ea typeface="Inter"/>
                  <a:cs typeface="Inter"/>
                  <a:sym typeface="Inter"/>
                </a:rPr>
                <a:t>Modelo OSI</a:t>
              </a:r>
              <a:endParaRPr/>
            </a:p>
          </p:txBody>
        </p:sp>
        <p:sp>
          <p:nvSpPr>
            <p:cNvPr id="252" name="Google Shape;252;p10"/>
            <p:cNvSpPr/>
            <p:nvPr/>
          </p:nvSpPr>
          <p:spPr>
            <a:xfrm>
              <a:off x="296350" y="7791726"/>
              <a:ext cx="5829890" cy="1197777"/>
            </a:xfrm>
            <a:custGeom>
              <a:rect b="b" l="l" r="r" t="t"/>
              <a:pathLst>
                <a:path extrusionOk="0" h="1197777" w="5829890">
                  <a:moveTo>
                    <a:pt x="0" y="0"/>
                  </a:moveTo>
                  <a:lnTo>
                    <a:pt x="5829890" y="0"/>
                  </a:lnTo>
                  <a:lnTo>
                    <a:pt x="5829890" y="1197778"/>
                  </a:lnTo>
                  <a:lnTo>
                    <a:pt x="0" y="1197778"/>
                  </a:lnTo>
                  <a:lnTo>
                    <a:pt x="0" y="0"/>
                  </a:lnTo>
                  <a:close/>
                </a:path>
              </a:pathLst>
            </a:custGeom>
            <a:blipFill rotWithShape="1">
              <a:blip r:embed="rId19">
                <a:alphaModFix/>
              </a:blip>
              <a:stretch>
                <a:fillRect b="0" l="0" r="0" t="0"/>
              </a:stretch>
            </a:blipFill>
            <a:ln>
              <a:noFill/>
            </a:ln>
          </p:spPr>
        </p:sp>
        <p:sp>
          <p:nvSpPr>
            <p:cNvPr id="253" name="Google Shape;253;p10"/>
            <p:cNvSpPr txBox="1"/>
            <p:nvPr/>
          </p:nvSpPr>
          <p:spPr>
            <a:xfrm>
              <a:off x="756804" y="8058221"/>
              <a:ext cx="4744174" cy="628527"/>
            </a:xfrm>
            <a:prstGeom prst="rect">
              <a:avLst/>
            </a:prstGeom>
            <a:noFill/>
            <a:ln>
              <a:noFill/>
            </a:ln>
          </p:spPr>
          <p:txBody>
            <a:bodyPr anchorCtr="0" anchor="t" bIns="0" lIns="0" spcFirstLastPara="1" rIns="0" wrap="square" tIns="0">
              <a:spAutoFit/>
            </a:bodyPr>
            <a:lstStyle/>
            <a:p>
              <a:pPr indent="0" lvl="0" marL="0" marR="0" rtl="0" algn="l">
                <a:lnSpc>
                  <a:spcPct val="92006"/>
                </a:lnSpc>
                <a:spcBef>
                  <a:spcPts val="0"/>
                </a:spcBef>
                <a:spcAft>
                  <a:spcPts val="0"/>
                </a:spcAft>
                <a:buNone/>
              </a:pPr>
              <a:r>
                <a:rPr lang="en-US" sz="1939">
                  <a:solidFill>
                    <a:srgbClr val="503C30"/>
                  </a:solidFill>
                  <a:latin typeface="Inter"/>
                  <a:ea typeface="Inter"/>
                  <a:cs typeface="Inter"/>
                  <a:sym typeface="Inter"/>
                </a:rPr>
                <a:t>(Webmaster, 2024) </a:t>
              </a:r>
              <a:endParaRPr/>
            </a:p>
            <a:p>
              <a:pPr indent="0" lvl="0" marL="0" marR="0" rtl="0" algn="l">
                <a:lnSpc>
                  <a:spcPct val="92006"/>
                </a:lnSpc>
                <a:spcBef>
                  <a:spcPts val="0"/>
                </a:spcBef>
                <a:spcAft>
                  <a:spcPts val="0"/>
                </a:spcAft>
                <a:buNone/>
              </a:pPr>
              <a:r>
                <a:rPr lang="en-US" sz="1939" u="sng">
                  <a:solidFill>
                    <a:srgbClr val="503C30"/>
                  </a:solidFill>
                  <a:latin typeface="Inter"/>
                  <a:ea typeface="Inter"/>
                  <a:cs typeface="Inter"/>
                  <a:sym typeface="Inter"/>
                  <a:hlinkClick r:id="rId21">
                    <a:extLst>
                      <a:ext uri="{A12FA001-AC4F-418D-AE19-62706E023703}">
                        <ahyp:hlinkClr val="tx"/>
                      </a:ext>
                    </a:extLst>
                  </a:hlinkClick>
                </a:rPr>
                <a:t>https://acortar.link/waSmoi</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000"/>
                                        <p:tgtEl>
                                          <p:spTgt spid="226"/>
                                        </p:tgtEl>
                                      </p:cBhvr>
                                    </p:animEffect>
                                  </p:childTnLst>
                                </p:cTn>
                              </p:par>
                              <p:par>
                                <p:cTn fill="hold" nodeType="with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1000"/>
                                        <p:tgtEl>
                                          <p:spTgt spid="227"/>
                                        </p:tgtEl>
                                      </p:cBhvr>
                                    </p:animEffect>
                                  </p:childTnLst>
                                </p:cTn>
                              </p:par>
                              <p:par>
                                <p:cTn fill="hold" nodeType="with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1000"/>
                                        <p:tgtEl>
                                          <p:spTgt spid="228"/>
                                        </p:tgtEl>
                                      </p:cBhvr>
                                    </p:animEffect>
                                  </p:childTnLst>
                                </p:cTn>
                              </p:par>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par>
                                <p:cTn fill="hold" nodeType="with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000"/>
                                        <p:tgtEl>
                                          <p:spTgt spid="231"/>
                                        </p:tgtEl>
                                      </p:cBhvr>
                                    </p:animEffect>
                                  </p:childTnLst>
                                </p:cTn>
                              </p:par>
                              <p:par>
                                <p:cTn fill="hold" nodeType="with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1000"/>
                                        <p:tgtEl>
                                          <p:spTgt spid="232"/>
                                        </p:tgtEl>
                                      </p:cBhvr>
                                    </p:animEffect>
                                  </p:childTnLst>
                                </p:cTn>
                              </p:par>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par>
                                <p:cTn fill="hold" nodeType="with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000"/>
                                        <p:tgtEl>
                                          <p:spTgt spid="234"/>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par>
                                <p:cTn fill="hold" nodeType="with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par>
                                <p:cTn fill="hold" nodeType="with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000"/>
                                        <p:tgtEl>
                                          <p:spTgt spid="238"/>
                                        </p:tgtEl>
                                      </p:cBhvr>
                                    </p:animEffect>
                                  </p:childTnLst>
                                </p:cTn>
                              </p:par>
                              <p:par>
                                <p:cTn fill="hold" nodeType="with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par>
                                <p:cTn fill="hold" nodeType="with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par>
                                <p:cTn fill="hold" nodeType="with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par>
                                <p:cTn fill="hold" nodeType="with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1000"/>
                                        <p:tgtEl>
                                          <p:spTgt spid="245"/>
                                        </p:tgtEl>
                                      </p:cBhvr>
                                    </p:animEffect>
                                  </p:childTnLst>
                                </p:cTn>
                              </p:par>
                              <p:par>
                                <p:cTn fill="hold" nodeType="with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1000"/>
                                        <p:tgtEl>
                                          <p:spTgt spid="246"/>
                                        </p:tgtEl>
                                      </p:cBhvr>
                                    </p:animEffect>
                                  </p:childTnLst>
                                </p:cTn>
                              </p:par>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DFE"/>
        </a:solidFill>
      </p:bgPr>
    </p:bg>
    <p:spTree>
      <p:nvGrpSpPr>
        <p:cNvPr id="257" name="Shape 257"/>
        <p:cNvGrpSpPr/>
        <p:nvPr/>
      </p:nvGrpSpPr>
      <p:grpSpPr>
        <a:xfrm>
          <a:off x="0" y="0"/>
          <a:ext cx="0" cy="0"/>
          <a:chOff x="0" y="0"/>
          <a:chExt cx="0" cy="0"/>
        </a:xfrm>
      </p:grpSpPr>
      <p:sp>
        <p:nvSpPr>
          <p:cNvPr id="258" name="Google Shape;258;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970" l="0" r="-46" t="-38886"/>
            </a:stretch>
          </a:blipFill>
          <a:ln>
            <a:noFill/>
          </a:ln>
        </p:spPr>
      </p:sp>
      <p:sp>
        <p:nvSpPr>
          <p:cNvPr id="259" name="Google Shape;259;p11"/>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4">
              <a:alphaModFix/>
            </a:blip>
            <a:stretch>
              <a:fillRect b="0" l="0" r="0" t="0"/>
            </a:stretch>
          </a:blipFill>
          <a:ln>
            <a:noFill/>
          </a:ln>
        </p:spPr>
      </p:sp>
      <p:sp>
        <p:nvSpPr>
          <p:cNvPr id="260" name="Google Shape;260;p11"/>
          <p:cNvSpPr/>
          <p:nvPr/>
        </p:nvSpPr>
        <p:spPr>
          <a:xfrm rot="5089641">
            <a:off x="16728159" y="152511"/>
            <a:ext cx="1700877" cy="1549344"/>
          </a:xfrm>
          <a:custGeom>
            <a:rect b="b" l="l" r="r" t="t"/>
            <a:pathLst>
              <a:path extrusionOk="0" h="1549344" w="1700877">
                <a:moveTo>
                  <a:pt x="0" y="0"/>
                </a:moveTo>
                <a:lnTo>
                  <a:pt x="1700878" y="0"/>
                </a:lnTo>
                <a:lnTo>
                  <a:pt x="1700878" y="1549344"/>
                </a:lnTo>
                <a:lnTo>
                  <a:pt x="0" y="1549344"/>
                </a:lnTo>
                <a:lnTo>
                  <a:pt x="0" y="0"/>
                </a:lnTo>
                <a:close/>
              </a:path>
            </a:pathLst>
          </a:custGeom>
          <a:blipFill rotWithShape="1">
            <a:blip r:embed="rId5">
              <a:alphaModFix/>
            </a:blip>
            <a:stretch>
              <a:fillRect b="0" l="0" r="0" t="0"/>
            </a:stretch>
          </a:blipFill>
          <a:ln>
            <a:noFill/>
          </a:ln>
        </p:spPr>
      </p:sp>
      <p:sp>
        <p:nvSpPr>
          <p:cNvPr id="261" name="Google Shape;261;p11"/>
          <p:cNvSpPr/>
          <p:nvPr/>
        </p:nvSpPr>
        <p:spPr>
          <a:xfrm rot="-5399999">
            <a:off x="1661243" y="8661889"/>
            <a:ext cx="1700877" cy="1549344"/>
          </a:xfrm>
          <a:custGeom>
            <a:rect b="b" l="l" r="r" t="t"/>
            <a:pathLst>
              <a:path extrusionOk="0" h="1549344" w="1700877">
                <a:moveTo>
                  <a:pt x="0" y="0"/>
                </a:moveTo>
                <a:lnTo>
                  <a:pt x="1700877" y="0"/>
                </a:lnTo>
                <a:lnTo>
                  <a:pt x="1700877" y="1549345"/>
                </a:lnTo>
                <a:lnTo>
                  <a:pt x="0" y="1549345"/>
                </a:lnTo>
                <a:lnTo>
                  <a:pt x="0" y="0"/>
                </a:lnTo>
                <a:close/>
              </a:path>
            </a:pathLst>
          </a:custGeom>
          <a:blipFill rotWithShape="1">
            <a:blip r:embed="rId5">
              <a:alphaModFix/>
            </a:blip>
            <a:stretch>
              <a:fillRect b="0" l="0" r="0" t="0"/>
            </a:stretch>
          </a:blipFill>
          <a:ln>
            <a:noFill/>
          </a:ln>
        </p:spPr>
      </p:sp>
      <p:sp>
        <p:nvSpPr>
          <p:cNvPr id="262" name="Google Shape;262;p11"/>
          <p:cNvSpPr txBox="1"/>
          <p:nvPr/>
        </p:nvSpPr>
        <p:spPr>
          <a:xfrm>
            <a:off x="3799253" y="1219200"/>
            <a:ext cx="10056315" cy="9525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CAPA 7</a:t>
            </a:r>
            <a:endParaRPr/>
          </a:p>
        </p:txBody>
      </p:sp>
      <p:sp>
        <p:nvSpPr>
          <p:cNvPr id="263" name="Google Shape;263;p11"/>
          <p:cNvSpPr/>
          <p:nvPr/>
        </p:nvSpPr>
        <p:spPr>
          <a:xfrm>
            <a:off x="3337572" y="2317956"/>
            <a:ext cx="11612857" cy="6940344"/>
          </a:xfrm>
          <a:custGeom>
            <a:rect b="b" l="l" r="r" t="t"/>
            <a:pathLst>
              <a:path extrusionOk="0" h="6940344" w="11612857">
                <a:moveTo>
                  <a:pt x="0" y="0"/>
                </a:moveTo>
                <a:lnTo>
                  <a:pt x="11612856" y="0"/>
                </a:lnTo>
                <a:lnTo>
                  <a:pt x="11612856" y="6940344"/>
                </a:lnTo>
                <a:lnTo>
                  <a:pt x="0" y="6940344"/>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1">
            <a:hlinkClick action="ppaction://hlinksldjump" r:id="rId7"/>
          </p:cNvPr>
          <p:cNvSpPr/>
          <p:nvPr/>
        </p:nvSpPr>
        <p:spPr>
          <a:xfrm>
            <a:off x="17526000" y="15767"/>
            <a:ext cx="762000" cy="647700"/>
          </a:xfrm>
          <a:prstGeom prst="leftArrow">
            <a:avLst>
              <a:gd fmla="val 50000" name="adj1"/>
              <a:gd fmla="val 50000" name="adj2"/>
            </a:avLst>
          </a:prstGeom>
          <a:solidFill>
            <a:srgbClr val="D8D2FA"/>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par>
                                <p:cTn fill="hold" nodeType="with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par>
                                <p:cTn fill="hold" nodeType="with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par>
                                <p:cTn fill="hold" nodeType="with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500"/>
                                        <p:tgtEl>
                                          <p:spTgt spid="262"/>
                                        </p:tgtEl>
                                      </p:cBhvr>
                                    </p:animEffect>
                                  </p:childTnLst>
                                </p:cTn>
                              </p:par>
                              <p:par>
                                <p:cTn fill="hold" nodeType="with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DFE"/>
        </a:solidFill>
      </p:bgPr>
    </p:bg>
    <p:spTree>
      <p:nvGrpSpPr>
        <p:cNvPr id="268" name="Shape 268"/>
        <p:cNvGrpSpPr/>
        <p:nvPr/>
      </p:nvGrpSpPr>
      <p:grpSpPr>
        <a:xfrm>
          <a:off x="0" y="0"/>
          <a:ext cx="0" cy="0"/>
          <a:chOff x="0" y="0"/>
          <a:chExt cx="0" cy="0"/>
        </a:xfrm>
      </p:grpSpPr>
      <p:sp>
        <p:nvSpPr>
          <p:cNvPr id="269" name="Google Shape;269;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970" l="0" r="-46" t="-38886"/>
            </a:stretch>
          </a:blipFill>
          <a:ln>
            <a:noFill/>
          </a:ln>
        </p:spPr>
      </p:sp>
      <p:sp>
        <p:nvSpPr>
          <p:cNvPr id="270" name="Google Shape;270;p12"/>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4">
              <a:alphaModFix/>
            </a:blip>
            <a:stretch>
              <a:fillRect b="0" l="0" r="0" t="0"/>
            </a:stretch>
          </a:blipFill>
          <a:ln>
            <a:noFill/>
          </a:ln>
        </p:spPr>
      </p:sp>
      <p:sp>
        <p:nvSpPr>
          <p:cNvPr id="271" name="Google Shape;271;p12"/>
          <p:cNvSpPr/>
          <p:nvPr/>
        </p:nvSpPr>
        <p:spPr>
          <a:xfrm rot="5089641">
            <a:off x="16728159" y="152511"/>
            <a:ext cx="1700877" cy="1549344"/>
          </a:xfrm>
          <a:custGeom>
            <a:rect b="b" l="l" r="r" t="t"/>
            <a:pathLst>
              <a:path extrusionOk="0" h="1549344" w="1700877">
                <a:moveTo>
                  <a:pt x="0" y="0"/>
                </a:moveTo>
                <a:lnTo>
                  <a:pt x="1700878" y="0"/>
                </a:lnTo>
                <a:lnTo>
                  <a:pt x="1700878" y="1549344"/>
                </a:lnTo>
                <a:lnTo>
                  <a:pt x="0" y="1549344"/>
                </a:lnTo>
                <a:lnTo>
                  <a:pt x="0" y="0"/>
                </a:lnTo>
                <a:close/>
              </a:path>
            </a:pathLst>
          </a:custGeom>
          <a:blipFill rotWithShape="1">
            <a:blip r:embed="rId5">
              <a:alphaModFix/>
            </a:blip>
            <a:stretch>
              <a:fillRect b="0" l="0" r="0" t="0"/>
            </a:stretch>
          </a:blipFill>
          <a:ln>
            <a:noFill/>
          </a:ln>
        </p:spPr>
      </p:sp>
      <p:sp>
        <p:nvSpPr>
          <p:cNvPr id="272" name="Google Shape;272;p12"/>
          <p:cNvSpPr/>
          <p:nvPr/>
        </p:nvSpPr>
        <p:spPr>
          <a:xfrm rot="-5399999">
            <a:off x="1661243" y="8661889"/>
            <a:ext cx="1700877" cy="1549344"/>
          </a:xfrm>
          <a:custGeom>
            <a:rect b="b" l="l" r="r" t="t"/>
            <a:pathLst>
              <a:path extrusionOk="0" h="1549344" w="1700877">
                <a:moveTo>
                  <a:pt x="0" y="0"/>
                </a:moveTo>
                <a:lnTo>
                  <a:pt x="1700877" y="0"/>
                </a:lnTo>
                <a:lnTo>
                  <a:pt x="1700877" y="1549345"/>
                </a:lnTo>
                <a:lnTo>
                  <a:pt x="0" y="1549345"/>
                </a:lnTo>
                <a:lnTo>
                  <a:pt x="0" y="0"/>
                </a:lnTo>
                <a:close/>
              </a:path>
            </a:pathLst>
          </a:custGeom>
          <a:blipFill rotWithShape="1">
            <a:blip r:embed="rId5">
              <a:alphaModFix/>
            </a:blip>
            <a:stretch>
              <a:fillRect b="0" l="0" r="0" t="0"/>
            </a:stretch>
          </a:blipFill>
          <a:ln>
            <a:noFill/>
          </a:ln>
        </p:spPr>
      </p:sp>
      <p:sp>
        <p:nvSpPr>
          <p:cNvPr id="273" name="Google Shape;273;p12"/>
          <p:cNvSpPr/>
          <p:nvPr/>
        </p:nvSpPr>
        <p:spPr>
          <a:xfrm>
            <a:off x="3016489" y="2317956"/>
            <a:ext cx="12255021" cy="6940344"/>
          </a:xfrm>
          <a:custGeom>
            <a:rect b="b" l="l" r="r" t="t"/>
            <a:pathLst>
              <a:path extrusionOk="0" h="6940344" w="12255021">
                <a:moveTo>
                  <a:pt x="0" y="0"/>
                </a:moveTo>
                <a:lnTo>
                  <a:pt x="12255022" y="0"/>
                </a:lnTo>
                <a:lnTo>
                  <a:pt x="12255022" y="6940344"/>
                </a:lnTo>
                <a:lnTo>
                  <a:pt x="0" y="6940344"/>
                </a:lnTo>
                <a:lnTo>
                  <a:pt x="0" y="0"/>
                </a:lnTo>
                <a:close/>
              </a:path>
            </a:pathLst>
          </a:custGeom>
          <a:blipFill rotWithShape="1">
            <a:blip r:embed="rId6">
              <a:alphaModFix/>
            </a:blip>
            <a:stretch>
              <a:fillRect b="0" l="0" r="0" t="0"/>
            </a:stretch>
          </a:blipFill>
          <a:ln>
            <a:noFill/>
          </a:ln>
        </p:spPr>
      </p:sp>
      <p:sp>
        <p:nvSpPr>
          <p:cNvPr id="274" name="Google Shape;274;p12"/>
          <p:cNvSpPr txBox="1"/>
          <p:nvPr/>
        </p:nvSpPr>
        <p:spPr>
          <a:xfrm>
            <a:off x="3799253" y="1219200"/>
            <a:ext cx="10056315" cy="9525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CAPA 6</a:t>
            </a:r>
            <a:endParaRPr/>
          </a:p>
        </p:txBody>
      </p:sp>
      <p:sp>
        <p:nvSpPr>
          <p:cNvPr id="275" name="Google Shape;275;p12">
            <a:hlinkClick action="ppaction://hlinksldjump" r:id="rId7"/>
          </p:cNvPr>
          <p:cNvSpPr/>
          <p:nvPr/>
        </p:nvSpPr>
        <p:spPr>
          <a:xfrm>
            <a:off x="17510760" y="38627"/>
            <a:ext cx="762000" cy="647700"/>
          </a:xfrm>
          <a:prstGeom prst="leftArrow">
            <a:avLst>
              <a:gd fmla="val 50000" name="adj1"/>
              <a:gd fmla="val 50000" name="adj2"/>
            </a:avLst>
          </a:prstGeom>
          <a:solidFill>
            <a:srgbClr val="D8D2FA"/>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par>
                                <p:cTn fill="hold" nodeType="with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par>
                                <p:cTn fill="hold" nodeType="with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par>
                                <p:cTn fill="hold" nodeType="with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par>
                                <p:cTn fill="hold" nodeType="with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par>
                                <p:cTn fill="hold" nodeType="with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DFE"/>
        </a:solidFill>
      </p:bgPr>
    </p:bg>
    <p:spTree>
      <p:nvGrpSpPr>
        <p:cNvPr id="279" name="Shape 279"/>
        <p:cNvGrpSpPr/>
        <p:nvPr/>
      </p:nvGrpSpPr>
      <p:grpSpPr>
        <a:xfrm>
          <a:off x="0" y="0"/>
          <a:ext cx="0" cy="0"/>
          <a:chOff x="0" y="0"/>
          <a:chExt cx="0" cy="0"/>
        </a:xfrm>
      </p:grpSpPr>
      <p:sp>
        <p:nvSpPr>
          <p:cNvPr id="280" name="Google Shape;280;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970" l="0" r="-46" t="-38886"/>
            </a:stretch>
          </a:blipFill>
          <a:ln>
            <a:noFill/>
          </a:ln>
        </p:spPr>
      </p:sp>
      <p:sp>
        <p:nvSpPr>
          <p:cNvPr id="281" name="Google Shape;281;p13"/>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4">
              <a:alphaModFix/>
            </a:blip>
            <a:stretch>
              <a:fillRect b="0" l="0" r="0" t="0"/>
            </a:stretch>
          </a:blipFill>
          <a:ln>
            <a:noFill/>
          </a:ln>
        </p:spPr>
      </p:sp>
      <p:sp>
        <p:nvSpPr>
          <p:cNvPr id="282" name="Google Shape;282;p13"/>
          <p:cNvSpPr/>
          <p:nvPr/>
        </p:nvSpPr>
        <p:spPr>
          <a:xfrm rot="5089641">
            <a:off x="16728159" y="152511"/>
            <a:ext cx="1700877" cy="1549344"/>
          </a:xfrm>
          <a:custGeom>
            <a:rect b="b" l="l" r="r" t="t"/>
            <a:pathLst>
              <a:path extrusionOk="0" h="1549344" w="1700877">
                <a:moveTo>
                  <a:pt x="0" y="0"/>
                </a:moveTo>
                <a:lnTo>
                  <a:pt x="1700878" y="0"/>
                </a:lnTo>
                <a:lnTo>
                  <a:pt x="1700878" y="1549344"/>
                </a:lnTo>
                <a:lnTo>
                  <a:pt x="0" y="1549344"/>
                </a:lnTo>
                <a:lnTo>
                  <a:pt x="0" y="0"/>
                </a:lnTo>
                <a:close/>
              </a:path>
            </a:pathLst>
          </a:custGeom>
          <a:blipFill rotWithShape="1">
            <a:blip r:embed="rId5">
              <a:alphaModFix/>
            </a:blip>
            <a:stretch>
              <a:fillRect b="0" l="0" r="0" t="0"/>
            </a:stretch>
          </a:blipFill>
          <a:ln>
            <a:noFill/>
          </a:ln>
        </p:spPr>
      </p:sp>
      <p:sp>
        <p:nvSpPr>
          <p:cNvPr id="283" name="Google Shape;283;p13"/>
          <p:cNvSpPr/>
          <p:nvPr/>
        </p:nvSpPr>
        <p:spPr>
          <a:xfrm rot="-5399999">
            <a:off x="1661243" y="8661889"/>
            <a:ext cx="1700877" cy="1549344"/>
          </a:xfrm>
          <a:custGeom>
            <a:rect b="b" l="l" r="r" t="t"/>
            <a:pathLst>
              <a:path extrusionOk="0" h="1549344" w="1700877">
                <a:moveTo>
                  <a:pt x="0" y="0"/>
                </a:moveTo>
                <a:lnTo>
                  <a:pt x="1700877" y="0"/>
                </a:lnTo>
                <a:lnTo>
                  <a:pt x="1700877" y="1549345"/>
                </a:lnTo>
                <a:lnTo>
                  <a:pt x="0" y="1549345"/>
                </a:lnTo>
                <a:lnTo>
                  <a:pt x="0" y="0"/>
                </a:lnTo>
                <a:close/>
              </a:path>
            </a:pathLst>
          </a:custGeom>
          <a:blipFill rotWithShape="1">
            <a:blip r:embed="rId5">
              <a:alphaModFix/>
            </a:blip>
            <a:stretch>
              <a:fillRect b="0" l="0" r="0" t="0"/>
            </a:stretch>
          </a:blipFill>
          <a:ln>
            <a:noFill/>
          </a:ln>
        </p:spPr>
      </p:sp>
      <p:sp>
        <p:nvSpPr>
          <p:cNvPr id="284" name="Google Shape;284;p13"/>
          <p:cNvSpPr/>
          <p:nvPr/>
        </p:nvSpPr>
        <p:spPr>
          <a:xfrm>
            <a:off x="3081475" y="2171700"/>
            <a:ext cx="12125050" cy="7086600"/>
          </a:xfrm>
          <a:custGeom>
            <a:rect b="b" l="l" r="r" t="t"/>
            <a:pathLst>
              <a:path extrusionOk="0" h="7086600" w="12125050">
                <a:moveTo>
                  <a:pt x="0" y="0"/>
                </a:moveTo>
                <a:lnTo>
                  <a:pt x="12125050" y="0"/>
                </a:lnTo>
                <a:lnTo>
                  <a:pt x="12125050" y="7086600"/>
                </a:lnTo>
                <a:lnTo>
                  <a:pt x="0" y="7086600"/>
                </a:lnTo>
                <a:lnTo>
                  <a:pt x="0" y="0"/>
                </a:lnTo>
                <a:close/>
              </a:path>
            </a:pathLst>
          </a:custGeom>
          <a:blipFill rotWithShape="1">
            <a:blip r:embed="rId6">
              <a:alphaModFix/>
            </a:blip>
            <a:stretch>
              <a:fillRect b="0" l="0" r="0" t="0"/>
            </a:stretch>
          </a:blipFill>
          <a:ln>
            <a:noFill/>
          </a:ln>
        </p:spPr>
      </p:sp>
      <p:sp>
        <p:nvSpPr>
          <p:cNvPr id="285" name="Google Shape;285;p13"/>
          <p:cNvSpPr txBox="1"/>
          <p:nvPr/>
        </p:nvSpPr>
        <p:spPr>
          <a:xfrm>
            <a:off x="3799253" y="1219200"/>
            <a:ext cx="10056315" cy="9525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CAPA 5</a:t>
            </a:r>
            <a:endParaRPr/>
          </a:p>
        </p:txBody>
      </p:sp>
      <p:sp>
        <p:nvSpPr>
          <p:cNvPr id="286" name="Google Shape;286;p13">
            <a:hlinkClick action="ppaction://hlinksldjump" r:id="rId7"/>
          </p:cNvPr>
          <p:cNvSpPr/>
          <p:nvPr/>
        </p:nvSpPr>
        <p:spPr>
          <a:xfrm>
            <a:off x="17510760" y="38627"/>
            <a:ext cx="762000" cy="647700"/>
          </a:xfrm>
          <a:prstGeom prst="leftArrow">
            <a:avLst>
              <a:gd fmla="val 50000" name="adj1"/>
              <a:gd fmla="val 50000" name="adj2"/>
            </a:avLst>
          </a:prstGeom>
          <a:solidFill>
            <a:srgbClr val="D8D2FA"/>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par>
                                <p:cTn fill="hold" nodeType="with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par>
                                <p:cTn fill="hold" nodeType="with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par>
                                <p:cTn fill="hold" nodeType="with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500"/>
                                        <p:tgtEl>
                                          <p:spTgt spid="284"/>
                                        </p:tgtEl>
                                      </p:cBhvr>
                                    </p:animEffect>
                                  </p:childTnLst>
                                </p:cTn>
                              </p:par>
                              <p:par>
                                <p:cTn fill="hold" nodeType="with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par>
                                <p:cTn fill="hold" nodeType="with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DFE"/>
        </a:solidFill>
      </p:bgPr>
    </p:bg>
    <p:spTree>
      <p:nvGrpSpPr>
        <p:cNvPr id="290" name="Shape 290"/>
        <p:cNvGrpSpPr/>
        <p:nvPr/>
      </p:nvGrpSpPr>
      <p:grpSpPr>
        <a:xfrm>
          <a:off x="0" y="0"/>
          <a:ext cx="0" cy="0"/>
          <a:chOff x="0" y="0"/>
          <a:chExt cx="0" cy="0"/>
        </a:xfrm>
      </p:grpSpPr>
      <p:sp>
        <p:nvSpPr>
          <p:cNvPr id="291" name="Google Shape;291;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970" l="0" r="-46" t="-38886"/>
            </a:stretch>
          </a:blipFill>
          <a:ln>
            <a:noFill/>
          </a:ln>
        </p:spPr>
      </p:sp>
      <p:sp>
        <p:nvSpPr>
          <p:cNvPr id="292" name="Google Shape;292;p14"/>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4">
              <a:alphaModFix/>
            </a:blip>
            <a:stretch>
              <a:fillRect b="0" l="0" r="0" t="0"/>
            </a:stretch>
          </a:blipFill>
          <a:ln>
            <a:noFill/>
          </a:ln>
        </p:spPr>
      </p:sp>
      <p:sp>
        <p:nvSpPr>
          <p:cNvPr id="293" name="Google Shape;293;p14"/>
          <p:cNvSpPr/>
          <p:nvPr/>
        </p:nvSpPr>
        <p:spPr>
          <a:xfrm rot="5089641">
            <a:off x="16728159" y="152511"/>
            <a:ext cx="1700877" cy="1549344"/>
          </a:xfrm>
          <a:custGeom>
            <a:rect b="b" l="l" r="r" t="t"/>
            <a:pathLst>
              <a:path extrusionOk="0" h="1549344" w="1700877">
                <a:moveTo>
                  <a:pt x="0" y="0"/>
                </a:moveTo>
                <a:lnTo>
                  <a:pt x="1700878" y="0"/>
                </a:lnTo>
                <a:lnTo>
                  <a:pt x="1700878" y="1549344"/>
                </a:lnTo>
                <a:lnTo>
                  <a:pt x="0" y="1549344"/>
                </a:lnTo>
                <a:lnTo>
                  <a:pt x="0" y="0"/>
                </a:lnTo>
                <a:close/>
              </a:path>
            </a:pathLst>
          </a:custGeom>
          <a:blipFill rotWithShape="1">
            <a:blip r:embed="rId5">
              <a:alphaModFix/>
            </a:blip>
            <a:stretch>
              <a:fillRect b="0" l="0" r="0" t="0"/>
            </a:stretch>
          </a:blipFill>
          <a:ln>
            <a:noFill/>
          </a:ln>
        </p:spPr>
      </p:sp>
      <p:sp>
        <p:nvSpPr>
          <p:cNvPr id="294" name="Google Shape;294;p14"/>
          <p:cNvSpPr/>
          <p:nvPr/>
        </p:nvSpPr>
        <p:spPr>
          <a:xfrm rot="-5399999">
            <a:off x="1661243" y="8661889"/>
            <a:ext cx="1700877" cy="1549344"/>
          </a:xfrm>
          <a:custGeom>
            <a:rect b="b" l="l" r="r" t="t"/>
            <a:pathLst>
              <a:path extrusionOk="0" h="1549344" w="1700877">
                <a:moveTo>
                  <a:pt x="0" y="0"/>
                </a:moveTo>
                <a:lnTo>
                  <a:pt x="1700877" y="0"/>
                </a:lnTo>
                <a:lnTo>
                  <a:pt x="1700877" y="1549345"/>
                </a:lnTo>
                <a:lnTo>
                  <a:pt x="0" y="1549345"/>
                </a:lnTo>
                <a:lnTo>
                  <a:pt x="0" y="0"/>
                </a:lnTo>
                <a:close/>
              </a:path>
            </a:pathLst>
          </a:custGeom>
          <a:blipFill rotWithShape="1">
            <a:blip r:embed="rId5">
              <a:alphaModFix/>
            </a:blip>
            <a:stretch>
              <a:fillRect b="0" l="0" r="0" t="0"/>
            </a:stretch>
          </a:blipFill>
          <a:ln>
            <a:noFill/>
          </a:ln>
        </p:spPr>
      </p:sp>
      <p:sp>
        <p:nvSpPr>
          <p:cNvPr id="295" name="Google Shape;295;p14"/>
          <p:cNvSpPr/>
          <p:nvPr/>
        </p:nvSpPr>
        <p:spPr>
          <a:xfrm>
            <a:off x="3262232" y="2427860"/>
            <a:ext cx="11763536" cy="6830440"/>
          </a:xfrm>
          <a:custGeom>
            <a:rect b="b" l="l" r="r" t="t"/>
            <a:pathLst>
              <a:path extrusionOk="0" h="6830440" w="11763536">
                <a:moveTo>
                  <a:pt x="0" y="0"/>
                </a:moveTo>
                <a:lnTo>
                  <a:pt x="11763536" y="0"/>
                </a:lnTo>
                <a:lnTo>
                  <a:pt x="11763536" y="6830440"/>
                </a:lnTo>
                <a:lnTo>
                  <a:pt x="0" y="6830440"/>
                </a:lnTo>
                <a:lnTo>
                  <a:pt x="0" y="0"/>
                </a:lnTo>
                <a:close/>
              </a:path>
            </a:pathLst>
          </a:custGeom>
          <a:blipFill rotWithShape="1">
            <a:blip r:embed="rId6">
              <a:alphaModFix/>
            </a:blip>
            <a:stretch>
              <a:fillRect b="0" l="0" r="0" t="0"/>
            </a:stretch>
          </a:blipFill>
          <a:ln>
            <a:noFill/>
          </a:ln>
        </p:spPr>
      </p:sp>
      <p:sp>
        <p:nvSpPr>
          <p:cNvPr id="296" name="Google Shape;296;p14"/>
          <p:cNvSpPr txBox="1"/>
          <p:nvPr/>
        </p:nvSpPr>
        <p:spPr>
          <a:xfrm>
            <a:off x="3799253" y="1219200"/>
            <a:ext cx="10056315" cy="9525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CAPA 4</a:t>
            </a:r>
            <a:endParaRPr/>
          </a:p>
        </p:txBody>
      </p:sp>
      <p:sp>
        <p:nvSpPr>
          <p:cNvPr id="297" name="Google Shape;297;p14">
            <a:hlinkClick action="ppaction://hlinksldjump" r:id="rId7"/>
          </p:cNvPr>
          <p:cNvSpPr/>
          <p:nvPr/>
        </p:nvSpPr>
        <p:spPr>
          <a:xfrm>
            <a:off x="17510760" y="38627"/>
            <a:ext cx="762000" cy="647700"/>
          </a:xfrm>
          <a:prstGeom prst="leftArrow">
            <a:avLst>
              <a:gd fmla="val 50000" name="adj1"/>
              <a:gd fmla="val 50000" name="adj2"/>
            </a:avLst>
          </a:prstGeom>
          <a:solidFill>
            <a:srgbClr val="D8D2FA"/>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par>
                                <p:cTn fill="hold" nodeType="with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par>
                                <p:cTn fill="hold" nodeType="with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par>
                                <p:cTn fill="hold" nodeType="with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par>
                                <p:cTn fill="hold" nodeType="with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par>
                                <p:cTn fill="hold" nodeType="with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DFE"/>
        </a:solidFill>
      </p:bgPr>
    </p:bg>
    <p:spTree>
      <p:nvGrpSpPr>
        <p:cNvPr id="301" name="Shape 301"/>
        <p:cNvGrpSpPr/>
        <p:nvPr/>
      </p:nvGrpSpPr>
      <p:grpSpPr>
        <a:xfrm>
          <a:off x="0" y="0"/>
          <a:ext cx="0" cy="0"/>
          <a:chOff x="0" y="0"/>
          <a:chExt cx="0" cy="0"/>
        </a:xfrm>
      </p:grpSpPr>
      <p:sp>
        <p:nvSpPr>
          <p:cNvPr id="302" name="Google Shape;302;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970" l="0" r="-46" t="-38886"/>
            </a:stretch>
          </a:blipFill>
          <a:ln>
            <a:noFill/>
          </a:ln>
        </p:spPr>
      </p:sp>
      <p:sp>
        <p:nvSpPr>
          <p:cNvPr id="303" name="Google Shape;303;p15"/>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4">
              <a:alphaModFix/>
            </a:blip>
            <a:stretch>
              <a:fillRect b="0" l="0" r="0" t="0"/>
            </a:stretch>
          </a:blipFill>
          <a:ln>
            <a:noFill/>
          </a:ln>
        </p:spPr>
      </p:sp>
      <p:sp>
        <p:nvSpPr>
          <p:cNvPr id="304" name="Google Shape;304;p15"/>
          <p:cNvSpPr/>
          <p:nvPr/>
        </p:nvSpPr>
        <p:spPr>
          <a:xfrm rot="5089641">
            <a:off x="16728159" y="152511"/>
            <a:ext cx="1700877" cy="1549344"/>
          </a:xfrm>
          <a:custGeom>
            <a:rect b="b" l="l" r="r" t="t"/>
            <a:pathLst>
              <a:path extrusionOk="0" h="1549344" w="1700877">
                <a:moveTo>
                  <a:pt x="0" y="0"/>
                </a:moveTo>
                <a:lnTo>
                  <a:pt x="1700878" y="0"/>
                </a:lnTo>
                <a:lnTo>
                  <a:pt x="1700878" y="1549344"/>
                </a:lnTo>
                <a:lnTo>
                  <a:pt x="0" y="1549344"/>
                </a:lnTo>
                <a:lnTo>
                  <a:pt x="0" y="0"/>
                </a:lnTo>
                <a:close/>
              </a:path>
            </a:pathLst>
          </a:custGeom>
          <a:blipFill rotWithShape="1">
            <a:blip r:embed="rId5">
              <a:alphaModFix/>
            </a:blip>
            <a:stretch>
              <a:fillRect b="0" l="0" r="0" t="0"/>
            </a:stretch>
          </a:blipFill>
          <a:ln>
            <a:noFill/>
          </a:ln>
        </p:spPr>
      </p:sp>
      <p:sp>
        <p:nvSpPr>
          <p:cNvPr id="305" name="Google Shape;305;p15"/>
          <p:cNvSpPr/>
          <p:nvPr/>
        </p:nvSpPr>
        <p:spPr>
          <a:xfrm rot="-5399999">
            <a:off x="1661243" y="8661889"/>
            <a:ext cx="1700877" cy="1549344"/>
          </a:xfrm>
          <a:custGeom>
            <a:rect b="b" l="l" r="r" t="t"/>
            <a:pathLst>
              <a:path extrusionOk="0" h="1549344" w="1700877">
                <a:moveTo>
                  <a:pt x="0" y="0"/>
                </a:moveTo>
                <a:lnTo>
                  <a:pt x="1700877" y="0"/>
                </a:lnTo>
                <a:lnTo>
                  <a:pt x="1700877" y="1549345"/>
                </a:lnTo>
                <a:lnTo>
                  <a:pt x="0" y="1549345"/>
                </a:lnTo>
                <a:lnTo>
                  <a:pt x="0" y="0"/>
                </a:lnTo>
                <a:close/>
              </a:path>
            </a:pathLst>
          </a:custGeom>
          <a:blipFill rotWithShape="1">
            <a:blip r:embed="rId5">
              <a:alphaModFix/>
            </a:blip>
            <a:stretch>
              <a:fillRect b="0" l="0" r="0" t="0"/>
            </a:stretch>
          </a:blipFill>
          <a:ln>
            <a:noFill/>
          </a:ln>
        </p:spPr>
      </p:sp>
      <p:sp>
        <p:nvSpPr>
          <p:cNvPr id="306" name="Google Shape;306;p15"/>
          <p:cNvSpPr/>
          <p:nvPr/>
        </p:nvSpPr>
        <p:spPr>
          <a:xfrm>
            <a:off x="3286353" y="2171700"/>
            <a:ext cx="12216145" cy="7086600"/>
          </a:xfrm>
          <a:custGeom>
            <a:rect b="b" l="l" r="r" t="t"/>
            <a:pathLst>
              <a:path extrusionOk="0" h="7086600" w="12216145">
                <a:moveTo>
                  <a:pt x="0" y="0"/>
                </a:moveTo>
                <a:lnTo>
                  <a:pt x="12216145" y="0"/>
                </a:lnTo>
                <a:lnTo>
                  <a:pt x="12216145" y="7086600"/>
                </a:lnTo>
                <a:lnTo>
                  <a:pt x="0" y="7086600"/>
                </a:lnTo>
                <a:lnTo>
                  <a:pt x="0" y="0"/>
                </a:lnTo>
                <a:close/>
              </a:path>
            </a:pathLst>
          </a:custGeom>
          <a:blipFill rotWithShape="1">
            <a:blip r:embed="rId6">
              <a:alphaModFix/>
            </a:blip>
            <a:stretch>
              <a:fillRect b="0" l="0" r="0" t="0"/>
            </a:stretch>
          </a:blipFill>
          <a:ln>
            <a:noFill/>
          </a:ln>
        </p:spPr>
      </p:sp>
      <p:sp>
        <p:nvSpPr>
          <p:cNvPr id="307" name="Google Shape;307;p15"/>
          <p:cNvSpPr txBox="1"/>
          <p:nvPr/>
        </p:nvSpPr>
        <p:spPr>
          <a:xfrm>
            <a:off x="3799253" y="1219200"/>
            <a:ext cx="10056315" cy="9525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CAPA 3</a:t>
            </a:r>
            <a:endParaRPr/>
          </a:p>
        </p:txBody>
      </p:sp>
      <p:sp>
        <p:nvSpPr>
          <p:cNvPr id="308" name="Google Shape;308;p15">
            <a:hlinkClick action="ppaction://hlinksldjump" r:id="rId7"/>
          </p:cNvPr>
          <p:cNvSpPr/>
          <p:nvPr/>
        </p:nvSpPr>
        <p:spPr>
          <a:xfrm>
            <a:off x="17510760" y="38627"/>
            <a:ext cx="762000" cy="647700"/>
          </a:xfrm>
          <a:prstGeom prst="leftArrow">
            <a:avLst>
              <a:gd fmla="val 50000" name="adj1"/>
              <a:gd fmla="val 50000" name="adj2"/>
            </a:avLst>
          </a:prstGeom>
          <a:solidFill>
            <a:srgbClr val="D8D2FA"/>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par>
                                <p:cTn fill="hold" nodeType="with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par>
                                <p:cTn fill="hold" nodeType="with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par>
                                <p:cTn fill="hold" nodeType="with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par>
                                <p:cTn fill="hold" nodeType="with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par>
                                <p:cTn fill="hold" nodeType="with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DFE"/>
        </a:solidFill>
      </p:bgPr>
    </p:bg>
    <p:spTree>
      <p:nvGrpSpPr>
        <p:cNvPr id="312" name="Shape 312"/>
        <p:cNvGrpSpPr/>
        <p:nvPr/>
      </p:nvGrpSpPr>
      <p:grpSpPr>
        <a:xfrm>
          <a:off x="0" y="0"/>
          <a:ext cx="0" cy="0"/>
          <a:chOff x="0" y="0"/>
          <a:chExt cx="0" cy="0"/>
        </a:xfrm>
      </p:grpSpPr>
      <p:sp>
        <p:nvSpPr>
          <p:cNvPr id="313" name="Google Shape;313;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970" l="0" r="-46" t="-38886"/>
            </a:stretch>
          </a:blipFill>
          <a:ln>
            <a:noFill/>
          </a:ln>
        </p:spPr>
      </p:sp>
      <p:sp>
        <p:nvSpPr>
          <p:cNvPr id="314" name="Google Shape;314;p16"/>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4">
              <a:alphaModFix/>
            </a:blip>
            <a:stretch>
              <a:fillRect b="0" l="0" r="0" t="0"/>
            </a:stretch>
          </a:blipFill>
          <a:ln>
            <a:noFill/>
          </a:ln>
        </p:spPr>
      </p:sp>
      <p:sp>
        <p:nvSpPr>
          <p:cNvPr id="315" name="Google Shape;315;p16"/>
          <p:cNvSpPr/>
          <p:nvPr/>
        </p:nvSpPr>
        <p:spPr>
          <a:xfrm rot="5089641">
            <a:off x="16728159" y="152511"/>
            <a:ext cx="1700877" cy="1549344"/>
          </a:xfrm>
          <a:custGeom>
            <a:rect b="b" l="l" r="r" t="t"/>
            <a:pathLst>
              <a:path extrusionOk="0" h="1549344" w="1700877">
                <a:moveTo>
                  <a:pt x="0" y="0"/>
                </a:moveTo>
                <a:lnTo>
                  <a:pt x="1700878" y="0"/>
                </a:lnTo>
                <a:lnTo>
                  <a:pt x="1700878" y="1549344"/>
                </a:lnTo>
                <a:lnTo>
                  <a:pt x="0" y="1549344"/>
                </a:lnTo>
                <a:lnTo>
                  <a:pt x="0" y="0"/>
                </a:lnTo>
                <a:close/>
              </a:path>
            </a:pathLst>
          </a:custGeom>
          <a:blipFill rotWithShape="1">
            <a:blip r:embed="rId5">
              <a:alphaModFix/>
            </a:blip>
            <a:stretch>
              <a:fillRect b="0" l="0" r="0" t="0"/>
            </a:stretch>
          </a:blipFill>
          <a:ln>
            <a:noFill/>
          </a:ln>
        </p:spPr>
      </p:sp>
      <p:sp>
        <p:nvSpPr>
          <p:cNvPr id="316" name="Google Shape;316;p16"/>
          <p:cNvSpPr/>
          <p:nvPr/>
        </p:nvSpPr>
        <p:spPr>
          <a:xfrm rot="-5399999">
            <a:off x="1661243" y="8661889"/>
            <a:ext cx="1700877" cy="1549344"/>
          </a:xfrm>
          <a:custGeom>
            <a:rect b="b" l="l" r="r" t="t"/>
            <a:pathLst>
              <a:path extrusionOk="0" h="1549344" w="1700877">
                <a:moveTo>
                  <a:pt x="0" y="0"/>
                </a:moveTo>
                <a:lnTo>
                  <a:pt x="1700877" y="0"/>
                </a:lnTo>
                <a:lnTo>
                  <a:pt x="1700877" y="1549345"/>
                </a:lnTo>
                <a:lnTo>
                  <a:pt x="0" y="1549345"/>
                </a:lnTo>
                <a:lnTo>
                  <a:pt x="0" y="0"/>
                </a:lnTo>
                <a:close/>
              </a:path>
            </a:pathLst>
          </a:custGeom>
          <a:blipFill rotWithShape="1">
            <a:blip r:embed="rId5">
              <a:alphaModFix/>
            </a:blip>
            <a:stretch>
              <a:fillRect b="0" l="0" r="0" t="0"/>
            </a:stretch>
          </a:blipFill>
          <a:ln>
            <a:noFill/>
          </a:ln>
        </p:spPr>
      </p:sp>
      <p:sp>
        <p:nvSpPr>
          <p:cNvPr id="317" name="Google Shape;317;p16"/>
          <p:cNvSpPr/>
          <p:nvPr/>
        </p:nvSpPr>
        <p:spPr>
          <a:xfrm>
            <a:off x="2550812" y="1984597"/>
            <a:ext cx="13186377" cy="7273703"/>
          </a:xfrm>
          <a:custGeom>
            <a:rect b="b" l="l" r="r" t="t"/>
            <a:pathLst>
              <a:path extrusionOk="0" h="7273703" w="13186377">
                <a:moveTo>
                  <a:pt x="0" y="0"/>
                </a:moveTo>
                <a:lnTo>
                  <a:pt x="13186376" y="0"/>
                </a:lnTo>
                <a:lnTo>
                  <a:pt x="13186376" y="7273703"/>
                </a:lnTo>
                <a:lnTo>
                  <a:pt x="0" y="7273703"/>
                </a:lnTo>
                <a:lnTo>
                  <a:pt x="0" y="0"/>
                </a:lnTo>
                <a:close/>
              </a:path>
            </a:pathLst>
          </a:custGeom>
          <a:blipFill rotWithShape="1">
            <a:blip r:embed="rId6">
              <a:alphaModFix/>
            </a:blip>
            <a:stretch>
              <a:fillRect b="0" l="0" r="0" t="0"/>
            </a:stretch>
          </a:blipFill>
          <a:ln>
            <a:noFill/>
          </a:ln>
        </p:spPr>
      </p:sp>
      <p:sp>
        <p:nvSpPr>
          <p:cNvPr id="318" name="Google Shape;318;p16"/>
          <p:cNvSpPr txBox="1"/>
          <p:nvPr/>
        </p:nvSpPr>
        <p:spPr>
          <a:xfrm>
            <a:off x="3799253" y="1219200"/>
            <a:ext cx="10056315" cy="9525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CAPA 2</a:t>
            </a:r>
            <a:endParaRPr/>
          </a:p>
        </p:txBody>
      </p:sp>
      <p:sp>
        <p:nvSpPr>
          <p:cNvPr id="319" name="Google Shape;319;p16">
            <a:hlinkClick action="ppaction://hlinksldjump" r:id="rId7"/>
          </p:cNvPr>
          <p:cNvSpPr/>
          <p:nvPr/>
        </p:nvSpPr>
        <p:spPr>
          <a:xfrm>
            <a:off x="17510760" y="38627"/>
            <a:ext cx="762000" cy="647700"/>
          </a:xfrm>
          <a:prstGeom prst="leftArrow">
            <a:avLst>
              <a:gd fmla="val 50000" name="adj1"/>
              <a:gd fmla="val 50000" name="adj2"/>
            </a:avLst>
          </a:prstGeom>
          <a:solidFill>
            <a:srgbClr val="D8D2FA"/>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par>
                                <p:cTn fill="hold" nodeType="with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par>
                                <p:cTn fill="hold" nodeType="with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500"/>
                                        <p:tgtEl>
                                          <p:spTgt spid="315"/>
                                        </p:tgtEl>
                                      </p:cBhvr>
                                    </p:animEffect>
                                  </p:childTnLst>
                                </p:cTn>
                              </p:par>
                              <p:par>
                                <p:cTn fill="hold" nodeType="with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par>
                                <p:cTn fill="hold" nodeType="with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par>
                                <p:cTn fill="hold" nodeType="with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par>
                                <p:cTn fill="hold" nodeType="with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DFE"/>
        </a:solidFill>
      </p:bgPr>
    </p:bg>
    <p:spTree>
      <p:nvGrpSpPr>
        <p:cNvPr id="323" name="Shape 323"/>
        <p:cNvGrpSpPr/>
        <p:nvPr/>
      </p:nvGrpSpPr>
      <p:grpSpPr>
        <a:xfrm>
          <a:off x="0" y="0"/>
          <a:ext cx="0" cy="0"/>
          <a:chOff x="0" y="0"/>
          <a:chExt cx="0" cy="0"/>
        </a:xfrm>
      </p:grpSpPr>
      <p:sp>
        <p:nvSpPr>
          <p:cNvPr id="324" name="Google Shape;324;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970" l="0" r="-46" t="-38886"/>
            </a:stretch>
          </a:blipFill>
          <a:ln>
            <a:noFill/>
          </a:ln>
        </p:spPr>
      </p:sp>
      <p:sp>
        <p:nvSpPr>
          <p:cNvPr id="325" name="Google Shape;325;p17"/>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4">
              <a:alphaModFix/>
            </a:blip>
            <a:stretch>
              <a:fillRect b="0" l="0" r="0" t="0"/>
            </a:stretch>
          </a:blipFill>
          <a:ln>
            <a:noFill/>
          </a:ln>
        </p:spPr>
      </p:sp>
      <p:sp>
        <p:nvSpPr>
          <p:cNvPr id="326" name="Google Shape;326;p17"/>
          <p:cNvSpPr/>
          <p:nvPr/>
        </p:nvSpPr>
        <p:spPr>
          <a:xfrm rot="5089641">
            <a:off x="16728159" y="152511"/>
            <a:ext cx="1700877" cy="1549344"/>
          </a:xfrm>
          <a:custGeom>
            <a:rect b="b" l="l" r="r" t="t"/>
            <a:pathLst>
              <a:path extrusionOk="0" h="1549344" w="1700877">
                <a:moveTo>
                  <a:pt x="0" y="0"/>
                </a:moveTo>
                <a:lnTo>
                  <a:pt x="1700878" y="0"/>
                </a:lnTo>
                <a:lnTo>
                  <a:pt x="1700878" y="1549344"/>
                </a:lnTo>
                <a:lnTo>
                  <a:pt x="0" y="1549344"/>
                </a:lnTo>
                <a:lnTo>
                  <a:pt x="0" y="0"/>
                </a:lnTo>
                <a:close/>
              </a:path>
            </a:pathLst>
          </a:custGeom>
          <a:blipFill rotWithShape="1">
            <a:blip r:embed="rId5">
              <a:alphaModFix/>
            </a:blip>
            <a:stretch>
              <a:fillRect b="0" l="0" r="0" t="0"/>
            </a:stretch>
          </a:blipFill>
          <a:ln>
            <a:noFill/>
          </a:ln>
        </p:spPr>
      </p:sp>
      <p:sp>
        <p:nvSpPr>
          <p:cNvPr id="327" name="Google Shape;327;p17"/>
          <p:cNvSpPr/>
          <p:nvPr/>
        </p:nvSpPr>
        <p:spPr>
          <a:xfrm rot="-5399999">
            <a:off x="1661243" y="8661889"/>
            <a:ext cx="1700877" cy="1549344"/>
          </a:xfrm>
          <a:custGeom>
            <a:rect b="b" l="l" r="r" t="t"/>
            <a:pathLst>
              <a:path extrusionOk="0" h="1549344" w="1700877">
                <a:moveTo>
                  <a:pt x="0" y="0"/>
                </a:moveTo>
                <a:lnTo>
                  <a:pt x="1700877" y="0"/>
                </a:lnTo>
                <a:lnTo>
                  <a:pt x="1700877" y="1549345"/>
                </a:lnTo>
                <a:lnTo>
                  <a:pt x="0" y="1549345"/>
                </a:lnTo>
                <a:lnTo>
                  <a:pt x="0" y="0"/>
                </a:lnTo>
                <a:close/>
              </a:path>
            </a:pathLst>
          </a:custGeom>
          <a:blipFill rotWithShape="1">
            <a:blip r:embed="rId5">
              <a:alphaModFix/>
            </a:blip>
            <a:stretch>
              <a:fillRect b="0" l="0" r="0" t="0"/>
            </a:stretch>
          </a:blipFill>
          <a:ln>
            <a:noFill/>
          </a:ln>
        </p:spPr>
      </p:sp>
      <p:sp>
        <p:nvSpPr>
          <p:cNvPr id="328" name="Google Shape;328;p17"/>
          <p:cNvSpPr/>
          <p:nvPr/>
        </p:nvSpPr>
        <p:spPr>
          <a:xfrm>
            <a:off x="3224235" y="2254917"/>
            <a:ext cx="11839530" cy="7003383"/>
          </a:xfrm>
          <a:custGeom>
            <a:rect b="b" l="l" r="r" t="t"/>
            <a:pathLst>
              <a:path extrusionOk="0" h="7003383" w="11839530">
                <a:moveTo>
                  <a:pt x="0" y="0"/>
                </a:moveTo>
                <a:lnTo>
                  <a:pt x="11839530" y="0"/>
                </a:lnTo>
                <a:lnTo>
                  <a:pt x="11839530" y="7003383"/>
                </a:lnTo>
                <a:lnTo>
                  <a:pt x="0" y="7003383"/>
                </a:lnTo>
                <a:lnTo>
                  <a:pt x="0" y="0"/>
                </a:lnTo>
                <a:close/>
              </a:path>
            </a:pathLst>
          </a:custGeom>
          <a:blipFill rotWithShape="1">
            <a:blip r:embed="rId6">
              <a:alphaModFix/>
            </a:blip>
            <a:stretch>
              <a:fillRect b="0" l="0" r="0" t="0"/>
            </a:stretch>
          </a:blipFill>
          <a:ln>
            <a:noFill/>
          </a:ln>
        </p:spPr>
      </p:sp>
      <p:sp>
        <p:nvSpPr>
          <p:cNvPr id="329" name="Google Shape;329;p17"/>
          <p:cNvSpPr txBox="1"/>
          <p:nvPr/>
        </p:nvSpPr>
        <p:spPr>
          <a:xfrm>
            <a:off x="3799253" y="1219200"/>
            <a:ext cx="10056315" cy="9525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CAPA 1</a:t>
            </a:r>
            <a:endParaRPr/>
          </a:p>
        </p:txBody>
      </p:sp>
      <p:sp>
        <p:nvSpPr>
          <p:cNvPr id="330" name="Google Shape;330;p17">
            <a:hlinkClick action="ppaction://hlinksldjump" r:id="rId7"/>
          </p:cNvPr>
          <p:cNvSpPr/>
          <p:nvPr/>
        </p:nvSpPr>
        <p:spPr>
          <a:xfrm>
            <a:off x="17510760" y="38627"/>
            <a:ext cx="762000" cy="647700"/>
          </a:xfrm>
          <a:prstGeom prst="leftArrow">
            <a:avLst>
              <a:gd fmla="val 50000" name="adj1"/>
              <a:gd fmla="val 50000" name="adj2"/>
            </a:avLst>
          </a:prstGeom>
          <a:solidFill>
            <a:srgbClr val="D8D2FA"/>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par>
                                <p:cTn fill="hold" nodeType="with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par>
                                <p:cTn fill="hold" nodeType="with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par>
                                <p:cTn fill="hold" nodeType="with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par>
                                <p:cTn fill="hold" nodeType="with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par>
                                <p:cTn fill="hold" nodeType="with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par>
                                <p:cTn fill="hold" nodeType="with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334" name="Shape 334"/>
        <p:cNvGrpSpPr/>
        <p:nvPr/>
      </p:nvGrpSpPr>
      <p:grpSpPr>
        <a:xfrm>
          <a:off x="0" y="0"/>
          <a:ext cx="0" cy="0"/>
          <a:chOff x="0" y="0"/>
          <a:chExt cx="0" cy="0"/>
        </a:xfrm>
      </p:grpSpPr>
      <p:sp>
        <p:nvSpPr>
          <p:cNvPr id="335" name="Google Shape;335;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970" l="0" r="-46" t="-38886"/>
            </a:stretch>
          </a:blipFill>
          <a:ln>
            <a:noFill/>
          </a:ln>
        </p:spPr>
      </p:sp>
      <p:sp>
        <p:nvSpPr>
          <p:cNvPr id="336" name="Google Shape;336;p18"/>
          <p:cNvSpPr/>
          <p:nvPr/>
        </p:nvSpPr>
        <p:spPr>
          <a:xfrm rot="4094958">
            <a:off x="15336621" y="694327"/>
            <a:ext cx="1910240" cy="1967476"/>
          </a:xfrm>
          <a:custGeom>
            <a:rect b="b" l="l" r="r" t="t"/>
            <a:pathLst>
              <a:path extrusionOk="0" h="1967476" w="1910240">
                <a:moveTo>
                  <a:pt x="0" y="0"/>
                </a:moveTo>
                <a:lnTo>
                  <a:pt x="1910240" y="0"/>
                </a:lnTo>
                <a:lnTo>
                  <a:pt x="1910240" y="1967476"/>
                </a:lnTo>
                <a:lnTo>
                  <a:pt x="0" y="1967476"/>
                </a:lnTo>
                <a:lnTo>
                  <a:pt x="0" y="0"/>
                </a:lnTo>
                <a:close/>
              </a:path>
            </a:pathLst>
          </a:custGeom>
          <a:blipFill rotWithShape="1">
            <a:blip r:embed="rId4">
              <a:alphaModFix/>
            </a:blip>
            <a:stretch>
              <a:fillRect b="0" l="0" r="0" t="0"/>
            </a:stretch>
          </a:blipFill>
          <a:ln>
            <a:noFill/>
          </a:ln>
        </p:spPr>
      </p:sp>
      <p:sp>
        <p:nvSpPr>
          <p:cNvPr id="337" name="Google Shape;337;p18"/>
          <p:cNvSpPr/>
          <p:nvPr/>
        </p:nvSpPr>
        <p:spPr>
          <a:xfrm rot="-1258227">
            <a:off x="9314232" y="7103091"/>
            <a:ext cx="2463395" cy="2646226"/>
          </a:xfrm>
          <a:custGeom>
            <a:rect b="b" l="l" r="r" t="t"/>
            <a:pathLst>
              <a:path extrusionOk="0" h="2646226" w="2463395">
                <a:moveTo>
                  <a:pt x="0" y="0"/>
                </a:moveTo>
                <a:lnTo>
                  <a:pt x="2463396" y="0"/>
                </a:lnTo>
                <a:lnTo>
                  <a:pt x="2463396" y="2646225"/>
                </a:lnTo>
                <a:lnTo>
                  <a:pt x="0" y="2646225"/>
                </a:lnTo>
                <a:lnTo>
                  <a:pt x="0" y="0"/>
                </a:lnTo>
                <a:close/>
              </a:path>
            </a:pathLst>
          </a:custGeom>
          <a:blipFill rotWithShape="1">
            <a:blip r:embed="rId5">
              <a:alphaModFix/>
            </a:blip>
            <a:stretch>
              <a:fillRect b="0" l="0" r="0" t="0"/>
            </a:stretch>
          </a:blipFill>
          <a:ln>
            <a:noFill/>
          </a:ln>
        </p:spPr>
      </p:sp>
      <p:sp>
        <p:nvSpPr>
          <p:cNvPr id="338" name="Google Shape;338;p18"/>
          <p:cNvSpPr/>
          <p:nvPr/>
        </p:nvSpPr>
        <p:spPr>
          <a:xfrm>
            <a:off x="10063941" y="1375884"/>
            <a:ext cx="6106279" cy="7658728"/>
          </a:xfrm>
          <a:custGeom>
            <a:rect b="b" l="l" r="r" t="t"/>
            <a:pathLst>
              <a:path extrusionOk="0" h="1186537" w="946022">
                <a:moveTo>
                  <a:pt x="0" y="0"/>
                </a:moveTo>
                <a:lnTo>
                  <a:pt x="946022" y="0"/>
                </a:lnTo>
                <a:lnTo>
                  <a:pt x="946022" y="1186537"/>
                </a:lnTo>
                <a:lnTo>
                  <a:pt x="0" y="1186537"/>
                </a:lnTo>
                <a:close/>
              </a:path>
            </a:pathLst>
          </a:custGeom>
          <a:blipFill rotWithShape="1">
            <a:blip r:embed="rId6">
              <a:alphaModFix/>
            </a:blip>
            <a:stretch>
              <a:fillRect b="0" l="-12788" r="-12788" t="0"/>
            </a:stretch>
          </a:blipFill>
          <a:ln>
            <a:noFill/>
          </a:ln>
        </p:spPr>
      </p:sp>
      <p:sp>
        <p:nvSpPr>
          <p:cNvPr id="339" name="Google Shape;339;p18"/>
          <p:cNvSpPr txBox="1"/>
          <p:nvPr/>
        </p:nvSpPr>
        <p:spPr>
          <a:xfrm>
            <a:off x="1028717" y="810830"/>
            <a:ext cx="8479500" cy="15435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lang="en-US" sz="5200">
                <a:solidFill>
                  <a:srgbClr val="503C30"/>
                </a:solidFill>
                <a:latin typeface="Arial"/>
                <a:ea typeface="Arial"/>
                <a:cs typeface="Arial"/>
                <a:sym typeface="Arial"/>
              </a:rPr>
              <a:t>COMO PASAN LOS DATOS DE UNA CAPA A OTRA</a:t>
            </a:r>
            <a:r>
              <a:rPr lang="en-US" sz="5700">
                <a:solidFill>
                  <a:srgbClr val="503C30"/>
                </a:solidFill>
                <a:latin typeface="Arial"/>
                <a:ea typeface="Arial"/>
                <a:cs typeface="Arial"/>
                <a:sym typeface="Arial"/>
              </a:rPr>
              <a:t> </a:t>
            </a:r>
            <a:endParaRPr/>
          </a:p>
        </p:txBody>
      </p:sp>
      <p:sp>
        <p:nvSpPr>
          <p:cNvPr id="340" name="Google Shape;340;p18"/>
          <p:cNvSpPr txBox="1"/>
          <p:nvPr/>
        </p:nvSpPr>
        <p:spPr>
          <a:xfrm>
            <a:off x="10063941" y="510894"/>
            <a:ext cx="4070300" cy="737325"/>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rPr lang="en-US" sz="2096">
                <a:solidFill>
                  <a:srgbClr val="503C30"/>
                </a:solidFill>
                <a:latin typeface="Inter"/>
                <a:ea typeface="Inter"/>
                <a:cs typeface="Inter"/>
                <a:sym typeface="Inter"/>
              </a:rPr>
              <a:t>Figura 3</a:t>
            </a:r>
            <a:endParaRPr/>
          </a:p>
          <a:p>
            <a:pPr indent="0" lvl="0" marL="0" marR="0" rtl="0" algn="l">
              <a:lnSpc>
                <a:spcPct val="140028"/>
              </a:lnSpc>
              <a:spcBef>
                <a:spcPts val="0"/>
              </a:spcBef>
              <a:spcAft>
                <a:spcPts val="0"/>
              </a:spcAft>
              <a:buNone/>
            </a:pPr>
            <a:r>
              <a:rPr lang="en-US" sz="2096">
                <a:solidFill>
                  <a:srgbClr val="503C30"/>
                </a:solidFill>
                <a:latin typeface="Inter"/>
                <a:ea typeface="Inter"/>
                <a:cs typeface="Inter"/>
                <a:sym typeface="Inter"/>
              </a:rPr>
              <a:t>Comprensión del modelo OSI</a:t>
            </a:r>
            <a:endParaRPr/>
          </a:p>
        </p:txBody>
      </p:sp>
      <p:sp>
        <p:nvSpPr>
          <p:cNvPr id="341" name="Google Shape;341;p18"/>
          <p:cNvSpPr txBox="1"/>
          <p:nvPr/>
        </p:nvSpPr>
        <p:spPr>
          <a:xfrm>
            <a:off x="10063941" y="8996512"/>
            <a:ext cx="4070300" cy="692240"/>
          </a:xfrm>
          <a:prstGeom prst="rect">
            <a:avLst/>
          </a:prstGeom>
          <a:noFill/>
          <a:ln>
            <a:noFill/>
          </a:ln>
        </p:spPr>
        <p:txBody>
          <a:bodyPr anchorCtr="0" anchor="t" bIns="0" lIns="0" spcFirstLastPara="1" rIns="0" wrap="square" tIns="0">
            <a:spAutoFit/>
          </a:bodyPr>
          <a:lstStyle/>
          <a:p>
            <a:pPr indent="0" lvl="0" marL="0" marR="0" rtl="0" algn="l">
              <a:lnSpc>
                <a:spcPct val="140100"/>
              </a:lnSpc>
              <a:spcBef>
                <a:spcPts val="0"/>
              </a:spcBef>
              <a:spcAft>
                <a:spcPts val="0"/>
              </a:spcAft>
              <a:buNone/>
            </a:pPr>
            <a:r>
              <a:rPr lang="en-US" sz="1995">
                <a:solidFill>
                  <a:srgbClr val="503C30"/>
                </a:solidFill>
                <a:latin typeface="Inter"/>
                <a:ea typeface="Inter"/>
                <a:cs typeface="Inter"/>
                <a:sym typeface="Inter"/>
              </a:rPr>
              <a:t>(Datageneral.Co, 2024) </a:t>
            </a:r>
            <a:endParaRPr/>
          </a:p>
          <a:p>
            <a:pPr indent="0" lvl="0" marL="0" marR="0" rtl="0" algn="l">
              <a:lnSpc>
                <a:spcPct val="140100"/>
              </a:lnSpc>
              <a:spcBef>
                <a:spcPts val="0"/>
              </a:spcBef>
              <a:spcAft>
                <a:spcPts val="0"/>
              </a:spcAft>
              <a:buNone/>
            </a:pPr>
            <a:r>
              <a:rPr lang="en-US" sz="1995" u="sng">
                <a:solidFill>
                  <a:srgbClr val="503C30"/>
                </a:solidFill>
                <a:latin typeface="Inter"/>
                <a:ea typeface="Inter"/>
                <a:cs typeface="Inter"/>
                <a:sym typeface="Inter"/>
                <a:hlinkClick r:id="rId7">
                  <a:extLst>
                    <a:ext uri="{A12FA001-AC4F-418D-AE19-62706E023703}">
                      <ahyp:hlinkClr val="tx"/>
                    </a:ext>
                  </a:extLst>
                </a:hlinkClick>
              </a:rPr>
              <a:t>https://acortar.link/Kg7EHw</a:t>
            </a:r>
            <a:endParaRPr/>
          </a:p>
        </p:txBody>
      </p:sp>
      <p:sp>
        <p:nvSpPr>
          <p:cNvPr id="342" name="Google Shape;342;p18"/>
          <p:cNvSpPr txBox="1"/>
          <p:nvPr/>
        </p:nvSpPr>
        <p:spPr>
          <a:xfrm>
            <a:off x="1028700" y="3012338"/>
            <a:ext cx="8115300" cy="4104585"/>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lang="en-US" sz="2899" u="sng" strike="noStrike">
                <a:solidFill>
                  <a:srgbClr val="503C30"/>
                </a:solidFill>
                <a:latin typeface="Inter"/>
                <a:ea typeface="Inter"/>
                <a:cs typeface="Inter"/>
                <a:sym typeface="Inter"/>
                <a:hlinkClick action="ppaction://hlinksldjump" r:id="rId8">
                  <a:extLst>
                    <a:ext uri="{A12FA001-AC4F-418D-AE19-62706E023703}">
                      <ahyp:hlinkClr val="tx"/>
                    </a:ext>
                  </a:extLst>
                </a:hlinkClick>
              </a:rPr>
              <a:t>El modelo OSI es un sistema de comunicación en niveles donde los datos pasan de una capa a otra a través de procesos de </a:t>
            </a:r>
            <a:r>
              <a:rPr b="1" lang="en-US" sz="2899" u="sng" strike="noStrike">
                <a:solidFill>
                  <a:srgbClr val="503C30"/>
                </a:solidFill>
                <a:latin typeface="Inter"/>
                <a:ea typeface="Inter"/>
                <a:cs typeface="Inter"/>
                <a:sym typeface="Inter"/>
                <a:hlinkClick action="ppaction://hlinksldjump" r:id="rId9">
                  <a:extLst>
                    <a:ext uri="{A12FA001-AC4F-418D-AE19-62706E023703}">
                      <ahyp:hlinkClr val="tx"/>
                    </a:ext>
                  </a:extLst>
                </a:hlinkClick>
              </a:rPr>
              <a:t>encapsulación y desencapsulación</a:t>
            </a:r>
            <a:r>
              <a:rPr lang="en-US" sz="2899" u="sng" strike="noStrike">
                <a:solidFill>
                  <a:srgbClr val="503C30"/>
                </a:solidFill>
                <a:latin typeface="Inter"/>
                <a:ea typeface="Inter"/>
                <a:cs typeface="Inter"/>
                <a:sym typeface="Inter"/>
                <a:hlinkClick action="ppaction://hlinksldjump" r:id="rId10">
                  <a:extLst>
                    <a:ext uri="{A12FA001-AC4F-418D-AE19-62706E023703}">
                      <ahyp:hlinkClr val="tx"/>
                    </a:ext>
                  </a:extLst>
                </a:hlinkClick>
              </a:rPr>
              <a:t>. Cada capa recibe datos de la capa superior, los modifica y los envía a la capa inferior.</a:t>
            </a:r>
            <a:endParaRPr/>
          </a:p>
          <a:p>
            <a:pPr indent="0" lvl="0" marL="0" marR="0" rtl="0" algn="l">
              <a:lnSpc>
                <a:spcPct val="120696"/>
              </a:lnSpc>
              <a:spcBef>
                <a:spcPts val="0"/>
              </a:spcBef>
              <a:spcAft>
                <a:spcPts val="0"/>
              </a:spcAft>
              <a:buNone/>
            </a:pPr>
            <a:r>
              <a:t/>
            </a:r>
            <a:endParaRPr sz="2899" u="sng" strike="noStrike">
              <a:solidFill>
                <a:srgbClr val="503C30"/>
              </a:solidFill>
              <a:latin typeface="Inter"/>
              <a:ea typeface="Inter"/>
              <a:cs typeface="Inter"/>
              <a:sym typeface="Inter"/>
              <a:hlinkClick action="ppaction://hlinksldjump" r:id="rId11">
                <a:extLst>
                  <a:ext uri="{A12FA001-AC4F-418D-AE19-62706E023703}">
                    <ahyp:hlinkClr val="tx"/>
                  </a:ext>
                </a:extLst>
              </a:hlinkClic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par>
                                <p:cTn fill="hold" nodeType="with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500"/>
                                        <p:tgtEl>
                                          <p:spTgt spid="336"/>
                                        </p:tgtEl>
                                      </p:cBhvr>
                                    </p:animEffect>
                                  </p:childTnLst>
                                </p:cTn>
                              </p:par>
                              <p:par>
                                <p:cTn fill="hold" nodeType="with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500"/>
                                        <p:tgtEl>
                                          <p:spTgt spid="337"/>
                                        </p:tgtEl>
                                      </p:cBhvr>
                                    </p:animEffect>
                                  </p:childTnLst>
                                </p:cTn>
                              </p:par>
                              <p:par>
                                <p:cTn fill="hold" nodeType="with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par>
                                <p:cTn fill="hold" nodeType="with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par>
                                <p:cTn fill="hold" nodeType="with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6" name="Shape 346"/>
        <p:cNvGrpSpPr/>
        <p:nvPr/>
      </p:nvGrpSpPr>
      <p:grpSpPr>
        <a:xfrm>
          <a:off x="0" y="0"/>
          <a:ext cx="0" cy="0"/>
          <a:chOff x="0" y="0"/>
          <a:chExt cx="0" cy="0"/>
        </a:xfrm>
      </p:grpSpPr>
      <p:sp>
        <p:nvSpPr>
          <p:cNvPr id="347" name="Google Shape;347;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970" l="0" r="-46" t="-3888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19"/>
          <p:cNvSpPr/>
          <p:nvPr/>
        </p:nvSpPr>
        <p:spPr>
          <a:xfrm rot="9001677">
            <a:off x="-3456345" y="5990278"/>
            <a:ext cx="6912691" cy="7353926"/>
          </a:xfrm>
          <a:custGeom>
            <a:rect b="b" l="l" r="r" t="t"/>
            <a:pathLst>
              <a:path extrusionOk="0" h="7353926" w="6912691">
                <a:moveTo>
                  <a:pt x="0" y="0"/>
                </a:moveTo>
                <a:lnTo>
                  <a:pt x="6912690" y="0"/>
                </a:lnTo>
                <a:lnTo>
                  <a:pt x="6912690" y="7353927"/>
                </a:lnTo>
                <a:lnTo>
                  <a:pt x="0" y="7353927"/>
                </a:lnTo>
                <a:lnTo>
                  <a:pt x="0" y="0"/>
                </a:lnTo>
                <a:close/>
              </a:path>
            </a:pathLst>
          </a:custGeom>
          <a:blipFill rotWithShape="1">
            <a:blip r:embed="rId4">
              <a:alphaModFix/>
            </a:blip>
            <a:stretch>
              <a:fillRect b="0" l="0" r="0" t="0"/>
            </a:stretch>
          </a:blipFill>
          <a:ln>
            <a:noFill/>
          </a:ln>
        </p:spPr>
      </p:sp>
      <p:grpSp>
        <p:nvGrpSpPr>
          <p:cNvPr id="349" name="Google Shape;349;p19"/>
          <p:cNvGrpSpPr/>
          <p:nvPr/>
        </p:nvGrpSpPr>
        <p:grpSpPr>
          <a:xfrm>
            <a:off x="1028700" y="2918986"/>
            <a:ext cx="7829166" cy="6339314"/>
            <a:chOff x="0" y="-433983"/>
            <a:chExt cx="10438888" cy="8452419"/>
          </a:xfrm>
        </p:grpSpPr>
        <p:grpSp>
          <p:nvGrpSpPr>
            <p:cNvPr id="350" name="Google Shape;350;p19"/>
            <p:cNvGrpSpPr/>
            <p:nvPr/>
          </p:nvGrpSpPr>
          <p:grpSpPr>
            <a:xfrm>
              <a:off x="0" y="-433983"/>
              <a:ext cx="10438888" cy="8452419"/>
              <a:chOff x="0" y="-85725"/>
              <a:chExt cx="2062002" cy="1669614"/>
            </a:xfrm>
          </p:grpSpPr>
          <p:sp>
            <p:nvSpPr>
              <p:cNvPr id="351" name="Google Shape;351;p19"/>
              <p:cNvSpPr/>
              <p:nvPr/>
            </p:nvSpPr>
            <p:spPr>
              <a:xfrm>
                <a:off x="0" y="0"/>
                <a:ext cx="2062002" cy="1583889"/>
              </a:xfrm>
              <a:custGeom>
                <a:rect b="b" l="l" r="r" t="t"/>
                <a:pathLst>
                  <a:path extrusionOk="0" h="1583889" w="2062002">
                    <a:moveTo>
                      <a:pt x="0" y="0"/>
                    </a:moveTo>
                    <a:lnTo>
                      <a:pt x="2062002" y="0"/>
                    </a:lnTo>
                    <a:lnTo>
                      <a:pt x="2062002" y="1583889"/>
                    </a:lnTo>
                    <a:lnTo>
                      <a:pt x="0" y="1583889"/>
                    </a:lnTo>
                    <a:close/>
                  </a:path>
                </a:pathLst>
              </a:custGeom>
              <a:solidFill>
                <a:srgbClr val="FFFFFF">
                  <a:alpha val="40000"/>
                </a:srgbClr>
              </a:solidFill>
              <a:ln cap="sq" cmpd="sng" w="38100">
                <a:solidFill>
                  <a:srgbClr val="000000">
                    <a:alpha val="40000"/>
                  </a:srgbClr>
                </a:solidFill>
                <a:prstDash val="solid"/>
                <a:miter lim="8000"/>
                <a:headEnd len="sm" w="sm" type="none"/>
                <a:tailEnd len="sm" w="sm" type="none"/>
              </a:ln>
            </p:spPr>
          </p:sp>
          <p:sp>
            <p:nvSpPr>
              <p:cNvPr id="352" name="Google Shape;352;p19"/>
              <p:cNvSpPr txBox="1"/>
              <p:nvPr/>
            </p:nvSpPr>
            <p:spPr>
              <a:xfrm>
                <a:off x="0" y="-85725"/>
                <a:ext cx="2062002" cy="166961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3" name="Google Shape;353;p19"/>
            <p:cNvGrpSpPr/>
            <p:nvPr/>
          </p:nvGrpSpPr>
          <p:grpSpPr>
            <a:xfrm>
              <a:off x="0" y="-433983"/>
              <a:ext cx="10438888" cy="8452419"/>
              <a:chOff x="0" y="-85725"/>
              <a:chExt cx="2062002" cy="1669614"/>
            </a:xfrm>
          </p:grpSpPr>
          <p:sp>
            <p:nvSpPr>
              <p:cNvPr id="354" name="Google Shape;354;p19"/>
              <p:cNvSpPr/>
              <p:nvPr/>
            </p:nvSpPr>
            <p:spPr>
              <a:xfrm>
                <a:off x="0" y="0"/>
                <a:ext cx="2062002" cy="1583889"/>
              </a:xfrm>
              <a:custGeom>
                <a:rect b="b" l="l" r="r" t="t"/>
                <a:pathLst>
                  <a:path extrusionOk="0" h="1583889" w="2062002">
                    <a:moveTo>
                      <a:pt x="0" y="0"/>
                    </a:moveTo>
                    <a:lnTo>
                      <a:pt x="2062002" y="0"/>
                    </a:lnTo>
                    <a:lnTo>
                      <a:pt x="2062002" y="1583889"/>
                    </a:lnTo>
                    <a:lnTo>
                      <a:pt x="0" y="1583889"/>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355" name="Google Shape;355;p19"/>
              <p:cNvSpPr txBox="1"/>
              <p:nvPr/>
            </p:nvSpPr>
            <p:spPr>
              <a:xfrm>
                <a:off x="0" y="-85725"/>
                <a:ext cx="2062002" cy="166961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356" name="Google Shape;356;p19"/>
          <p:cNvSpPr/>
          <p:nvPr/>
        </p:nvSpPr>
        <p:spPr>
          <a:xfrm>
            <a:off x="13145969" y="-2716135"/>
            <a:ext cx="9738642" cy="9384510"/>
          </a:xfrm>
          <a:custGeom>
            <a:rect b="b" l="l" r="r" t="t"/>
            <a:pathLst>
              <a:path extrusionOk="0" h="9384510" w="9738642">
                <a:moveTo>
                  <a:pt x="0" y="0"/>
                </a:moveTo>
                <a:lnTo>
                  <a:pt x="9738642" y="0"/>
                </a:lnTo>
                <a:lnTo>
                  <a:pt x="9738642" y="9384510"/>
                </a:lnTo>
                <a:lnTo>
                  <a:pt x="0" y="9384510"/>
                </a:lnTo>
                <a:lnTo>
                  <a:pt x="0" y="0"/>
                </a:lnTo>
                <a:close/>
              </a:path>
            </a:pathLst>
          </a:custGeom>
          <a:blipFill rotWithShape="1">
            <a:blip r:embed="rId5">
              <a:alphaModFix/>
            </a:blip>
            <a:stretch>
              <a:fillRect b="0" l="0" r="0" t="0"/>
            </a:stretch>
          </a:blipFill>
          <a:ln>
            <a:noFill/>
          </a:ln>
        </p:spPr>
      </p:sp>
      <p:sp>
        <p:nvSpPr>
          <p:cNvPr id="357" name="Google Shape;357;p19"/>
          <p:cNvSpPr/>
          <p:nvPr/>
        </p:nvSpPr>
        <p:spPr>
          <a:xfrm rot="1093412">
            <a:off x="14315174" y="14176"/>
            <a:ext cx="4439711" cy="4017939"/>
          </a:xfrm>
          <a:custGeom>
            <a:rect b="b" l="l" r="r" t="t"/>
            <a:pathLst>
              <a:path extrusionOk="0" h="4017939" w="4439711">
                <a:moveTo>
                  <a:pt x="0" y="0"/>
                </a:moveTo>
                <a:lnTo>
                  <a:pt x="4439711" y="0"/>
                </a:lnTo>
                <a:lnTo>
                  <a:pt x="4439711" y="4017939"/>
                </a:lnTo>
                <a:lnTo>
                  <a:pt x="0" y="4017939"/>
                </a:lnTo>
                <a:lnTo>
                  <a:pt x="0" y="0"/>
                </a:lnTo>
                <a:close/>
              </a:path>
            </a:pathLst>
          </a:custGeom>
          <a:blipFill rotWithShape="1">
            <a:blip r:embed="rId6">
              <a:alphaModFix/>
            </a:blip>
            <a:stretch>
              <a:fillRect b="0" l="0" r="0" t="0"/>
            </a:stretch>
          </a:blipFill>
          <a:ln>
            <a:noFill/>
          </a:ln>
        </p:spPr>
      </p:sp>
      <p:grpSp>
        <p:nvGrpSpPr>
          <p:cNvPr id="358" name="Google Shape;358;p19"/>
          <p:cNvGrpSpPr/>
          <p:nvPr/>
        </p:nvGrpSpPr>
        <p:grpSpPr>
          <a:xfrm>
            <a:off x="9430134" y="2918986"/>
            <a:ext cx="7829166" cy="6339314"/>
            <a:chOff x="0" y="-433983"/>
            <a:chExt cx="10438888" cy="8452419"/>
          </a:xfrm>
        </p:grpSpPr>
        <p:grpSp>
          <p:nvGrpSpPr>
            <p:cNvPr id="359" name="Google Shape;359;p19"/>
            <p:cNvGrpSpPr/>
            <p:nvPr/>
          </p:nvGrpSpPr>
          <p:grpSpPr>
            <a:xfrm>
              <a:off x="0" y="-433983"/>
              <a:ext cx="10438888" cy="8452419"/>
              <a:chOff x="0" y="-85725"/>
              <a:chExt cx="2062002" cy="1669614"/>
            </a:xfrm>
          </p:grpSpPr>
          <p:sp>
            <p:nvSpPr>
              <p:cNvPr id="360" name="Google Shape;360;p19"/>
              <p:cNvSpPr/>
              <p:nvPr/>
            </p:nvSpPr>
            <p:spPr>
              <a:xfrm>
                <a:off x="0" y="0"/>
                <a:ext cx="2062002" cy="1583889"/>
              </a:xfrm>
              <a:custGeom>
                <a:rect b="b" l="l" r="r" t="t"/>
                <a:pathLst>
                  <a:path extrusionOk="0" h="1583889" w="2062002">
                    <a:moveTo>
                      <a:pt x="0" y="0"/>
                    </a:moveTo>
                    <a:lnTo>
                      <a:pt x="2062002" y="0"/>
                    </a:lnTo>
                    <a:lnTo>
                      <a:pt x="2062002" y="1583889"/>
                    </a:lnTo>
                    <a:lnTo>
                      <a:pt x="0" y="1583889"/>
                    </a:lnTo>
                    <a:close/>
                  </a:path>
                </a:pathLst>
              </a:custGeom>
              <a:solidFill>
                <a:srgbClr val="FFFFFF">
                  <a:alpha val="40000"/>
                </a:srgbClr>
              </a:solidFill>
              <a:ln cap="sq" cmpd="sng" w="38100">
                <a:solidFill>
                  <a:srgbClr val="000000">
                    <a:alpha val="40000"/>
                  </a:srgbClr>
                </a:solidFill>
                <a:prstDash val="solid"/>
                <a:miter lim="8000"/>
                <a:headEnd len="sm" w="sm" type="none"/>
                <a:tailEnd len="sm" w="sm" type="none"/>
              </a:ln>
            </p:spPr>
          </p:sp>
          <p:sp>
            <p:nvSpPr>
              <p:cNvPr id="361" name="Google Shape;361;p19"/>
              <p:cNvSpPr txBox="1"/>
              <p:nvPr/>
            </p:nvSpPr>
            <p:spPr>
              <a:xfrm>
                <a:off x="0" y="-85725"/>
                <a:ext cx="2062002" cy="166961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62" name="Google Shape;362;p19"/>
            <p:cNvGrpSpPr/>
            <p:nvPr/>
          </p:nvGrpSpPr>
          <p:grpSpPr>
            <a:xfrm>
              <a:off x="0" y="-433983"/>
              <a:ext cx="10438888" cy="8452419"/>
              <a:chOff x="0" y="-85725"/>
              <a:chExt cx="2062002" cy="1669614"/>
            </a:xfrm>
          </p:grpSpPr>
          <p:sp>
            <p:nvSpPr>
              <p:cNvPr id="363" name="Google Shape;363;p19"/>
              <p:cNvSpPr/>
              <p:nvPr/>
            </p:nvSpPr>
            <p:spPr>
              <a:xfrm>
                <a:off x="0" y="0"/>
                <a:ext cx="2062002" cy="1583889"/>
              </a:xfrm>
              <a:custGeom>
                <a:rect b="b" l="l" r="r" t="t"/>
                <a:pathLst>
                  <a:path extrusionOk="0" h="1583889" w="2062002">
                    <a:moveTo>
                      <a:pt x="0" y="0"/>
                    </a:moveTo>
                    <a:lnTo>
                      <a:pt x="2062002" y="0"/>
                    </a:lnTo>
                    <a:lnTo>
                      <a:pt x="2062002" y="1583889"/>
                    </a:lnTo>
                    <a:lnTo>
                      <a:pt x="0" y="1583889"/>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364" name="Google Shape;364;p19"/>
              <p:cNvSpPr txBox="1"/>
              <p:nvPr/>
            </p:nvSpPr>
            <p:spPr>
              <a:xfrm>
                <a:off x="0" y="-85725"/>
                <a:ext cx="2062002" cy="166961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365" name="Google Shape;365;p19"/>
          <p:cNvSpPr txBox="1"/>
          <p:nvPr/>
        </p:nvSpPr>
        <p:spPr>
          <a:xfrm>
            <a:off x="1028700" y="756920"/>
            <a:ext cx="16230600" cy="866263"/>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lang="en-US" sz="5400">
                <a:solidFill>
                  <a:srgbClr val="503C30"/>
                </a:solidFill>
                <a:latin typeface="Arial"/>
                <a:ea typeface="Arial"/>
                <a:cs typeface="Arial"/>
                <a:sym typeface="Arial"/>
              </a:rPr>
              <a:t>ENCAPSULACIÓN</a:t>
            </a:r>
            <a:r>
              <a:rPr lang="en-US" sz="6000">
                <a:solidFill>
                  <a:srgbClr val="000000"/>
                </a:solidFill>
                <a:latin typeface="Arial"/>
                <a:ea typeface="Arial"/>
                <a:cs typeface="Arial"/>
                <a:sym typeface="Arial"/>
              </a:rPr>
              <a:t> </a:t>
            </a:r>
            <a:r>
              <a:rPr lang="en-US" sz="5400">
                <a:solidFill>
                  <a:srgbClr val="503C30"/>
                </a:solidFill>
                <a:latin typeface="Arial"/>
                <a:ea typeface="Arial"/>
                <a:cs typeface="Arial"/>
                <a:sym typeface="Arial"/>
              </a:rPr>
              <a:t>Y DESENCAPSULACIÓN</a:t>
            </a:r>
            <a:endParaRPr/>
          </a:p>
        </p:txBody>
      </p:sp>
      <p:sp>
        <p:nvSpPr>
          <p:cNvPr id="366" name="Google Shape;366;p19"/>
          <p:cNvSpPr txBox="1"/>
          <p:nvPr/>
        </p:nvSpPr>
        <p:spPr>
          <a:xfrm>
            <a:off x="1746219" y="3521412"/>
            <a:ext cx="6394127" cy="807913"/>
          </a:xfrm>
          <a:prstGeom prst="rect">
            <a:avLst/>
          </a:prstGeom>
          <a:noFill/>
          <a:ln>
            <a:noFill/>
          </a:ln>
        </p:spPr>
        <p:txBody>
          <a:bodyPr anchorCtr="0" anchor="t" bIns="0" lIns="0" spcFirstLastPara="1" rIns="0" wrap="square" tIns="0">
            <a:spAutoFit/>
          </a:bodyPr>
          <a:lstStyle/>
          <a:p>
            <a:pPr indent="0" lvl="0" marL="0" marR="0" rtl="0" algn="ctr">
              <a:lnSpc>
                <a:spcPct val="116648"/>
              </a:lnSpc>
              <a:spcBef>
                <a:spcPts val="0"/>
              </a:spcBef>
              <a:spcAft>
                <a:spcPts val="0"/>
              </a:spcAft>
              <a:buNone/>
            </a:pPr>
            <a:r>
              <a:rPr lang="en-US" sz="5400">
                <a:solidFill>
                  <a:srgbClr val="503C30"/>
                </a:solidFill>
                <a:latin typeface="Arial"/>
                <a:ea typeface="Arial"/>
                <a:cs typeface="Arial"/>
                <a:sym typeface="Arial"/>
              </a:rPr>
              <a:t>Encapsulación</a:t>
            </a:r>
            <a:endParaRPr sz="5400">
              <a:solidFill>
                <a:srgbClr val="503C30"/>
              </a:solidFill>
              <a:latin typeface="Arial"/>
              <a:ea typeface="Arial"/>
              <a:cs typeface="Arial"/>
              <a:sym typeface="Arial"/>
            </a:endParaRPr>
          </a:p>
        </p:txBody>
      </p:sp>
      <p:sp>
        <p:nvSpPr>
          <p:cNvPr id="367" name="Google Shape;367;p19"/>
          <p:cNvSpPr txBox="1"/>
          <p:nvPr/>
        </p:nvSpPr>
        <p:spPr>
          <a:xfrm>
            <a:off x="1510420" y="4517132"/>
            <a:ext cx="6865725" cy="392036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000">
                <a:solidFill>
                  <a:srgbClr val="503C30"/>
                </a:solidFill>
                <a:latin typeface="Inter"/>
                <a:ea typeface="Inter"/>
                <a:cs typeface="Inter"/>
                <a:sym typeface="Inter"/>
              </a:rPr>
              <a:t>La encapsulación es el proceso mediante el cual los datos generados en una capa se envuelven con la información necesaria antes de ser enviados a la siguiente capa. Este proceso incluye la adición de encabezados y, a veces, pies de página, que contienen información crucial para la transmisión, como direcciones, protocolos y control de errores. A medida que los datos descienden por las capas del modelo OSI, cada capa añade su propia información, formando un paquete más complejo</a:t>
            </a:r>
            <a:endParaRPr sz="2000">
              <a:solidFill>
                <a:srgbClr val="503C30"/>
              </a:solidFill>
              <a:latin typeface="Inter"/>
              <a:ea typeface="Inter"/>
              <a:cs typeface="Inter"/>
              <a:sym typeface="Inter"/>
            </a:endParaRPr>
          </a:p>
        </p:txBody>
      </p:sp>
      <p:sp>
        <p:nvSpPr>
          <p:cNvPr id="368" name="Google Shape;368;p19"/>
          <p:cNvSpPr txBox="1"/>
          <p:nvPr/>
        </p:nvSpPr>
        <p:spPr>
          <a:xfrm>
            <a:off x="10147654" y="3521412"/>
            <a:ext cx="6394127" cy="807913"/>
          </a:xfrm>
          <a:prstGeom prst="rect">
            <a:avLst/>
          </a:prstGeom>
          <a:noFill/>
          <a:ln>
            <a:noFill/>
          </a:ln>
        </p:spPr>
        <p:txBody>
          <a:bodyPr anchorCtr="0" anchor="t" bIns="0" lIns="0" spcFirstLastPara="1" rIns="0" wrap="square" tIns="0">
            <a:spAutoFit/>
          </a:bodyPr>
          <a:lstStyle/>
          <a:p>
            <a:pPr indent="0" lvl="0" marL="0" marR="0" rtl="0" algn="ctr">
              <a:lnSpc>
                <a:spcPct val="116648"/>
              </a:lnSpc>
              <a:spcBef>
                <a:spcPts val="0"/>
              </a:spcBef>
              <a:spcAft>
                <a:spcPts val="0"/>
              </a:spcAft>
              <a:buNone/>
            </a:pPr>
            <a:r>
              <a:rPr lang="en-US" sz="5400">
                <a:solidFill>
                  <a:srgbClr val="503C30"/>
                </a:solidFill>
                <a:latin typeface="Arial"/>
                <a:ea typeface="Arial"/>
                <a:cs typeface="Arial"/>
                <a:sym typeface="Arial"/>
              </a:rPr>
              <a:t>Desencapsulación</a:t>
            </a:r>
            <a:endParaRPr sz="5400">
              <a:solidFill>
                <a:srgbClr val="503C30"/>
              </a:solidFill>
              <a:latin typeface="Arial"/>
              <a:ea typeface="Arial"/>
              <a:cs typeface="Arial"/>
              <a:sym typeface="Arial"/>
            </a:endParaRPr>
          </a:p>
        </p:txBody>
      </p:sp>
      <p:sp>
        <p:nvSpPr>
          <p:cNvPr id="369" name="Google Shape;369;p19"/>
          <p:cNvSpPr txBox="1"/>
          <p:nvPr/>
        </p:nvSpPr>
        <p:spPr>
          <a:xfrm>
            <a:off x="1028700" y="2291338"/>
            <a:ext cx="13250414" cy="406586"/>
          </a:xfrm>
          <a:prstGeom prst="rect">
            <a:avLst/>
          </a:prstGeom>
          <a:noFill/>
          <a:ln>
            <a:noFill/>
          </a:ln>
        </p:spPr>
        <p:txBody>
          <a:bodyPr anchorCtr="0" anchor="t" bIns="0" lIns="0" spcFirstLastPara="1" rIns="0" wrap="square" tIns="0">
            <a:spAutoFit/>
          </a:bodyPr>
          <a:lstStyle/>
          <a:p>
            <a:pPr indent="0" lvl="0" marL="0" marR="0" rtl="0" algn="l">
              <a:lnSpc>
                <a:spcPct val="182000"/>
              </a:lnSpc>
              <a:spcBef>
                <a:spcPts val="0"/>
              </a:spcBef>
              <a:spcAft>
                <a:spcPts val="0"/>
              </a:spcAft>
              <a:buNone/>
            </a:pPr>
            <a:r>
              <a:rPr lang="en-US" sz="2000">
                <a:solidFill>
                  <a:srgbClr val="503C30"/>
                </a:solidFill>
                <a:latin typeface="Inter"/>
                <a:ea typeface="Inter"/>
                <a:cs typeface="Inter"/>
                <a:sym typeface="Inter"/>
              </a:rPr>
              <a:t>significado</a:t>
            </a:r>
            <a:endParaRPr sz="2000">
              <a:solidFill>
                <a:srgbClr val="503C30"/>
              </a:solidFill>
              <a:latin typeface="Inter"/>
              <a:ea typeface="Inter"/>
              <a:cs typeface="Inter"/>
              <a:sym typeface="Inter"/>
            </a:endParaRPr>
          </a:p>
        </p:txBody>
      </p:sp>
      <p:sp>
        <p:nvSpPr>
          <p:cNvPr id="370" name="Google Shape;370;p19"/>
          <p:cNvSpPr txBox="1"/>
          <p:nvPr/>
        </p:nvSpPr>
        <p:spPr>
          <a:xfrm>
            <a:off x="9911855" y="4517132"/>
            <a:ext cx="6865725" cy="3202223"/>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000">
                <a:solidFill>
                  <a:srgbClr val="503C30"/>
                </a:solidFill>
                <a:latin typeface="Inter"/>
                <a:ea typeface="Inter"/>
                <a:cs typeface="Inter"/>
                <a:sym typeface="Inter"/>
              </a:rPr>
              <a:t>Por otro lado, la desencapsulación ocurre cuando los datos llegan a su destino final. A medida que los datos ascienden por las capas, cada una retira la información adicional que fue añadida durante la encapsulación. Este proceso permite que los datos originales lleguen a la capa superior en la forma en que fueron generados, listos para ser utilizados por la aplicación o servicio correspondiente.</a:t>
            </a:r>
            <a:endParaRPr/>
          </a:p>
        </p:txBody>
      </p:sp>
      <p:sp>
        <p:nvSpPr>
          <p:cNvPr id="371" name="Google Shape;371;p19"/>
          <p:cNvSpPr/>
          <p:nvPr/>
        </p:nvSpPr>
        <p:spPr>
          <a:xfrm>
            <a:off x="17494102" y="9631326"/>
            <a:ext cx="762000" cy="647700"/>
          </a:xfrm>
          <a:prstGeom prst="leftArrow">
            <a:avLst>
              <a:gd fmla="val 50000" name="adj1"/>
              <a:gd fmla="val 50000" name="adj2"/>
            </a:avLst>
          </a:prstGeom>
          <a:solidFill>
            <a:srgbClr val="D8D2FA"/>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par>
                                <p:cTn fill="hold" nodeType="with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500"/>
                                        <p:tgtEl>
                                          <p:spTgt spid="349"/>
                                        </p:tgtEl>
                                      </p:cBhvr>
                                    </p:animEffect>
                                  </p:childTnLst>
                                </p:cTn>
                              </p:par>
                              <p:par>
                                <p:cTn fill="hold" nodeType="with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par>
                                <p:cTn fill="hold" nodeType="with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par>
                                <p:cTn fill="hold" nodeType="with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par>
                                <p:cTn fill="hold" nodeType="with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500"/>
                                        <p:tgtEl>
                                          <p:spTgt spid="366"/>
                                        </p:tgtEl>
                                      </p:cBhvr>
                                    </p:animEffect>
                                  </p:childTnLst>
                                </p:cTn>
                              </p:par>
                              <p:par>
                                <p:cTn fill="hold" nodeType="with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par>
                                <p:cTn fill="hold" nodeType="with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par>
                                <p:cTn fill="hold" nodeType="with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par>
                                <p:cTn fill="hold" nodeType="with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970" l="0" r="-46" t="-38886"/>
            </a:stretch>
          </a:blipFill>
          <a:ln>
            <a:noFill/>
          </a:ln>
        </p:spPr>
      </p:sp>
      <p:sp>
        <p:nvSpPr>
          <p:cNvPr id="377" name="Google Shape;377;p20"/>
          <p:cNvSpPr/>
          <p:nvPr/>
        </p:nvSpPr>
        <p:spPr>
          <a:xfrm rot="3191312">
            <a:off x="4617629" y="8252624"/>
            <a:ext cx="3662577" cy="3549370"/>
          </a:xfrm>
          <a:custGeom>
            <a:rect b="b" l="l" r="r" t="t"/>
            <a:pathLst>
              <a:path extrusionOk="0" h="3549370" w="3662577">
                <a:moveTo>
                  <a:pt x="0" y="0"/>
                </a:moveTo>
                <a:lnTo>
                  <a:pt x="3662578" y="0"/>
                </a:lnTo>
                <a:lnTo>
                  <a:pt x="3662578" y="3549370"/>
                </a:lnTo>
                <a:lnTo>
                  <a:pt x="0" y="3549370"/>
                </a:lnTo>
                <a:lnTo>
                  <a:pt x="0" y="0"/>
                </a:lnTo>
                <a:close/>
              </a:path>
            </a:pathLst>
          </a:custGeom>
          <a:blipFill rotWithShape="1">
            <a:blip r:embed="rId4">
              <a:alphaModFix/>
            </a:blip>
            <a:stretch>
              <a:fillRect b="0" l="0" r="0" t="0"/>
            </a:stretch>
          </a:blipFill>
          <a:ln>
            <a:noFill/>
          </a:ln>
        </p:spPr>
      </p:sp>
      <p:sp>
        <p:nvSpPr>
          <p:cNvPr id="378" name="Google Shape;378;p20"/>
          <p:cNvSpPr/>
          <p:nvPr/>
        </p:nvSpPr>
        <p:spPr>
          <a:xfrm rot="-8277685">
            <a:off x="12239230" y="-2270134"/>
            <a:ext cx="6912691" cy="7353926"/>
          </a:xfrm>
          <a:custGeom>
            <a:rect b="b" l="l" r="r" t="t"/>
            <a:pathLst>
              <a:path extrusionOk="0" h="7353926" w="6912691">
                <a:moveTo>
                  <a:pt x="0" y="0"/>
                </a:moveTo>
                <a:lnTo>
                  <a:pt x="6912691" y="0"/>
                </a:lnTo>
                <a:lnTo>
                  <a:pt x="6912691" y="7353926"/>
                </a:lnTo>
                <a:lnTo>
                  <a:pt x="0" y="7353926"/>
                </a:lnTo>
                <a:lnTo>
                  <a:pt x="0" y="0"/>
                </a:lnTo>
                <a:close/>
              </a:path>
            </a:pathLst>
          </a:custGeom>
          <a:blipFill rotWithShape="1">
            <a:blip r:embed="rId5">
              <a:alphaModFix/>
            </a:blip>
            <a:stretch>
              <a:fillRect b="0" l="0" r="0" t="0"/>
            </a:stretch>
          </a:blipFill>
          <a:ln>
            <a:noFill/>
          </a:ln>
        </p:spPr>
      </p:sp>
      <p:sp>
        <p:nvSpPr>
          <p:cNvPr id="379" name="Google Shape;379;p20"/>
          <p:cNvSpPr/>
          <p:nvPr/>
        </p:nvSpPr>
        <p:spPr>
          <a:xfrm rot="-2272947">
            <a:off x="-2251249" y="4207028"/>
            <a:ext cx="6559898" cy="7060555"/>
          </a:xfrm>
          <a:custGeom>
            <a:rect b="b" l="l" r="r" t="t"/>
            <a:pathLst>
              <a:path extrusionOk="0" h="7060555" w="6559898">
                <a:moveTo>
                  <a:pt x="0" y="0"/>
                </a:moveTo>
                <a:lnTo>
                  <a:pt x="6559898" y="0"/>
                </a:lnTo>
                <a:lnTo>
                  <a:pt x="6559898" y="7060556"/>
                </a:lnTo>
                <a:lnTo>
                  <a:pt x="0" y="7060556"/>
                </a:lnTo>
                <a:lnTo>
                  <a:pt x="0" y="0"/>
                </a:lnTo>
                <a:close/>
              </a:path>
            </a:pathLst>
          </a:custGeom>
          <a:blipFill rotWithShape="1">
            <a:blip r:embed="rId6">
              <a:alphaModFix/>
            </a:blip>
            <a:stretch>
              <a:fillRect b="0" l="0" r="0" t="0"/>
            </a:stretch>
          </a:blipFill>
          <a:ln>
            <a:noFill/>
          </a:ln>
        </p:spPr>
      </p:sp>
      <p:sp>
        <p:nvSpPr>
          <p:cNvPr id="380" name="Google Shape;380;p20"/>
          <p:cNvSpPr/>
          <p:nvPr/>
        </p:nvSpPr>
        <p:spPr>
          <a:xfrm rot="-2855401">
            <a:off x="15298344" y="-578565"/>
            <a:ext cx="2675318" cy="3970788"/>
          </a:xfrm>
          <a:custGeom>
            <a:rect b="b" l="l" r="r" t="t"/>
            <a:pathLst>
              <a:path extrusionOk="0" h="3970788" w="2675318">
                <a:moveTo>
                  <a:pt x="0" y="0"/>
                </a:moveTo>
                <a:lnTo>
                  <a:pt x="2675318" y="0"/>
                </a:lnTo>
                <a:lnTo>
                  <a:pt x="2675318" y="3970788"/>
                </a:lnTo>
                <a:lnTo>
                  <a:pt x="0" y="3970788"/>
                </a:lnTo>
                <a:lnTo>
                  <a:pt x="0" y="0"/>
                </a:lnTo>
                <a:close/>
              </a:path>
            </a:pathLst>
          </a:custGeom>
          <a:blipFill rotWithShape="1">
            <a:blip r:embed="rId7">
              <a:alphaModFix/>
            </a:blip>
            <a:stretch>
              <a:fillRect b="0" l="0" r="0" t="0"/>
            </a:stretch>
          </a:blipFill>
          <a:ln>
            <a:noFill/>
          </a:ln>
        </p:spPr>
      </p:sp>
      <p:sp>
        <p:nvSpPr>
          <p:cNvPr id="381" name="Google Shape;381;p20"/>
          <p:cNvSpPr/>
          <p:nvPr/>
        </p:nvSpPr>
        <p:spPr>
          <a:xfrm>
            <a:off x="-2444549" y="7282872"/>
            <a:ext cx="4259682" cy="3950855"/>
          </a:xfrm>
          <a:custGeom>
            <a:rect b="b" l="l" r="r" t="t"/>
            <a:pathLst>
              <a:path extrusionOk="0" h="3950855" w="4259682">
                <a:moveTo>
                  <a:pt x="0" y="0"/>
                </a:moveTo>
                <a:lnTo>
                  <a:pt x="4259682" y="0"/>
                </a:lnTo>
                <a:lnTo>
                  <a:pt x="4259682" y="3950856"/>
                </a:lnTo>
                <a:lnTo>
                  <a:pt x="0" y="3950856"/>
                </a:lnTo>
                <a:lnTo>
                  <a:pt x="0" y="0"/>
                </a:lnTo>
                <a:close/>
              </a:path>
            </a:pathLst>
          </a:custGeom>
          <a:blipFill rotWithShape="1">
            <a:blip r:embed="rId8">
              <a:alphaModFix/>
            </a:blip>
            <a:stretch>
              <a:fillRect b="0" l="0" r="0" t="0"/>
            </a:stretch>
          </a:blipFill>
          <a:ln>
            <a:noFill/>
          </a:ln>
        </p:spPr>
      </p:sp>
      <p:grpSp>
        <p:nvGrpSpPr>
          <p:cNvPr id="382" name="Google Shape;382;p20"/>
          <p:cNvGrpSpPr/>
          <p:nvPr/>
        </p:nvGrpSpPr>
        <p:grpSpPr>
          <a:xfrm>
            <a:off x="1373818" y="2309568"/>
            <a:ext cx="15627165" cy="6948732"/>
            <a:chOff x="0" y="-433983"/>
            <a:chExt cx="20836220" cy="9264977"/>
          </a:xfrm>
        </p:grpSpPr>
        <p:grpSp>
          <p:nvGrpSpPr>
            <p:cNvPr id="383" name="Google Shape;383;p20"/>
            <p:cNvGrpSpPr/>
            <p:nvPr/>
          </p:nvGrpSpPr>
          <p:grpSpPr>
            <a:xfrm>
              <a:off x="0" y="-433983"/>
              <a:ext cx="20836220" cy="9264977"/>
              <a:chOff x="0" y="-85725"/>
              <a:chExt cx="4115797" cy="1830119"/>
            </a:xfrm>
          </p:grpSpPr>
          <p:sp>
            <p:nvSpPr>
              <p:cNvPr id="384" name="Google Shape;384;p20"/>
              <p:cNvSpPr/>
              <p:nvPr/>
            </p:nvSpPr>
            <p:spPr>
              <a:xfrm>
                <a:off x="0" y="0"/>
                <a:ext cx="4115797" cy="1744394"/>
              </a:xfrm>
              <a:custGeom>
                <a:rect b="b" l="l" r="r" t="t"/>
                <a:pathLst>
                  <a:path extrusionOk="0" h="1744394" w="4115797">
                    <a:moveTo>
                      <a:pt x="0" y="0"/>
                    </a:moveTo>
                    <a:lnTo>
                      <a:pt x="4115797" y="0"/>
                    </a:lnTo>
                    <a:lnTo>
                      <a:pt x="4115797" y="1744394"/>
                    </a:lnTo>
                    <a:lnTo>
                      <a:pt x="0" y="1744394"/>
                    </a:lnTo>
                    <a:close/>
                  </a:path>
                </a:pathLst>
              </a:custGeom>
              <a:solidFill>
                <a:srgbClr val="FFFFFF">
                  <a:alpha val="40000"/>
                </a:srgbClr>
              </a:solidFill>
              <a:ln cap="sq" cmpd="sng" w="38100">
                <a:solidFill>
                  <a:srgbClr val="000000">
                    <a:alpha val="40000"/>
                  </a:srgbClr>
                </a:solidFill>
                <a:prstDash val="solid"/>
                <a:miter lim="8000"/>
                <a:headEnd len="sm" w="sm" type="none"/>
                <a:tailEnd len="sm" w="sm" type="none"/>
              </a:ln>
            </p:spPr>
          </p:sp>
          <p:sp>
            <p:nvSpPr>
              <p:cNvPr id="385" name="Google Shape;385;p20"/>
              <p:cNvSpPr txBox="1"/>
              <p:nvPr/>
            </p:nvSpPr>
            <p:spPr>
              <a:xfrm>
                <a:off x="0" y="-85725"/>
                <a:ext cx="4115797" cy="183011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86" name="Google Shape;386;p20"/>
            <p:cNvGrpSpPr/>
            <p:nvPr/>
          </p:nvGrpSpPr>
          <p:grpSpPr>
            <a:xfrm>
              <a:off x="0" y="-433983"/>
              <a:ext cx="20836220" cy="9264977"/>
              <a:chOff x="0" y="-85725"/>
              <a:chExt cx="4115797" cy="1830119"/>
            </a:xfrm>
          </p:grpSpPr>
          <p:sp>
            <p:nvSpPr>
              <p:cNvPr id="387" name="Google Shape;387;p20"/>
              <p:cNvSpPr/>
              <p:nvPr/>
            </p:nvSpPr>
            <p:spPr>
              <a:xfrm>
                <a:off x="0" y="0"/>
                <a:ext cx="4115797" cy="1744394"/>
              </a:xfrm>
              <a:custGeom>
                <a:rect b="b" l="l" r="r" t="t"/>
                <a:pathLst>
                  <a:path extrusionOk="0" h="1744394" w="4115797">
                    <a:moveTo>
                      <a:pt x="0" y="0"/>
                    </a:moveTo>
                    <a:lnTo>
                      <a:pt x="4115797" y="0"/>
                    </a:lnTo>
                    <a:lnTo>
                      <a:pt x="4115797" y="1744394"/>
                    </a:lnTo>
                    <a:lnTo>
                      <a:pt x="0" y="1744394"/>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388" name="Google Shape;388;p20"/>
              <p:cNvSpPr txBox="1"/>
              <p:nvPr/>
            </p:nvSpPr>
            <p:spPr>
              <a:xfrm>
                <a:off x="0" y="-85725"/>
                <a:ext cx="4115797" cy="183011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389" name="Google Shape;389;p20"/>
          <p:cNvSpPr txBox="1"/>
          <p:nvPr/>
        </p:nvSpPr>
        <p:spPr>
          <a:xfrm>
            <a:off x="1815133" y="3082827"/>
            <a:ext cx="14628799" cy="5434961"/>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2400" u="none" strike="noStrike">
                <a:solidFill>
                  <a:srgbClr val="503C30"/>
                </a:solidFill>
                <a:latin typeface="Inter"/>
                <a:ea typeface="Inter"/>
                <a:cs typeface="Inter"/>
                <a:sym typeface="Inter"/>
              </a:rPr>
              <a:t>El modelo OSI divide la comunicación en siete capas, desde la física hasta la aplicación, cada una con una función específica:</a:t>
            </a:r>
            <a:endParaRPr/>
          </a:p>
          <a:p>
            <a:pPr indent="0" lvl="0" marL="0" marR="0" rtl="0" algn="l">
              <a:lnSpc>
                <a:spcPct val="140000"/>
              </a:lnSpc>
              <a:spcBef>
                <a:spcPts val="0"/>
              </a:spcBef>
              <a:spcAft>
                <a:spcPts val="0"/>
              </a:spcAft>
              <a:buNone/>
            </a:pPr>
            <a:r>
              <a:rPr lang="en-US" sz="2400" u="none" strike="noStrike">
                <a:solidFill>
                  <a:srgbClr val="503C30"/>
                </a:solidFill>
                <a:latin typeface="Inter"/>
                <a:ea typeface="Inter"/>
                <a:cs typeface="Inter"/>
                <a:sym typeface="Inter"/>
              </a:rPr>
              <a:t>Física: Transmite datos por cables o Wi-Fi.</a:t>
            </a:r>
            <a:endParaRPr/>
          </a:p>
          <a:p>
            <a:pPr indent="0" lvl="0" marL="0" marR="0" rtl="0" algn="l">
              <a:lnSpc>
                <a:spcPct val="140000"/>
              </a:lnSpc>
              <a:spcBef>
                <a:spcPts val="0"/>
              </a:spcBef>
              <a:spcAft>
                <a:spcPts val="0"/>
              </a:spcAft>
              <a:buNone/>
            </a:pPr>
            <a:r>
              <a:rPr lang="en-US" sz="2400" u="none" strike="noStrike">
                <a:solidFill>
                  <a:srgbClr val="503C30"/>
                </a:solidFill>
                <a:latin typeface="Inter"/>
                <a:ea typeface="Inter"/>
                <a:cs typeface="Inter"/>
                <a:sym typeface="Inter"/>
              </a:rPr>
              <a:t>Red: Enruta datos al destino.</a:t>
            </a:r>
            <a:endParaRPr/>
          </a:p>
          <a:p>
            <a:pPr indent="0" lvl="0" marL="0" marR="0" rtl="0" algn="l">
              <a:lnSpc>
                <a:spcPct val="140000"/>
              </a:lnSpc>
              <a:spcBef>
                <a:spcPts val="0"/>
              </a:spcBef>
              <a:spcAft>
                <a:spcPts val="0"/>
              </a:spcAft>
              <a:buNone/>
            </a:pPr>
            <a:r>
              <a:rPr lang="en-US" sz="2400" u="none" strike="noStrike">
                <a:solidFill>
                  <a:srgbClr val="503C30"/>
                </a:solidFill>
                <a:latin typeface="Inter"/>
                <a:ea typeface="Inter"/>
                <a:cs typeface="Inter"/>
                <a:sym typeface="Inter"/>
              </a:rPr>
              <a:t>Aplicación: Muestra la información al usuario.</a:t>
            </a:r>
            <a:endParaRPr/>
          </a:p>
          <a:p>
            <a:pPr indent="0" lvl="0" marL="0" marR="0" rtl="0" algn="l">
              <a:lnSpc>
                <a:spcPct val="140000"/>
              </a:lnSpc>
              <a:spcBef>
                <a:spcPts val="0"/>
              </a:spcBef>
              <a:spcAft>
                <a:spcPts val="0"/>
              </a:spcAft>
              <a:buNone/>
            </a:pPr>
            <a:r>
              <a:rPr lang="en-US" sz="2400" u="none" strike="noStrike">
                <a:solidFill>
                  <a:srgbClr val="503C30"/>
                </a:solidFill>
                <a:latin typeface="Inter"/>
                <a:ea typeface="Inter"/>
                <a:cs typeface="Inter"/>
                <a:sym typeface="Inter"/>
              </a:rPr>
              <a:t>Al enviar un mensaje por WhatsApp, este atraviesa las capas del modelo OSI:</a:t>
            </a:r>
            <a:endParaRPr/>
          </a:p>
          <a:p>
            <a:pPr indent="0" lvl="0" marL="0" marR="0" rtl="0" algn="l">
              <a:lnSpc>
                <a:spcPct val="140000"/>
              </a:lnSpc>
              <a:spcBef>
                <a:spcPts val="0"/>
              </a:spcBef>
              <a:spcAft>
                <a:spcPts val="0"/>
              </a:spcAft>
              <a:buNone/>
            </a:pPr>
            <a:r>
              <a:rPr lang="en-US" sz="2400" u="none" strike="noStrike">
                <a:solidFill>
                  <a:srgbClr val="503C30"/>
                </a:solidFill>
                <a:latin typeface="Inter"/>
                <a:ea typeface="Inter"/>
                <a:cs typeface="Inter"/>
                <a:sym typeface="Inter"/>
              </a:rPr>
              <a:t>Aplicación: Se crea el mensaje.</a:t>
            </a:r>
            <a:endParaRPr/>
          </a:p>
          <a:p>
            <a:pPr indent="0" lvl="0" marL="0" marR="0" rtl="0" algn="l">
              <a:lnSpc>
                <a:spcPct val="140000"/>
              </a:lnSpc>
              <a:spcBef>
                <a:spcPts val="0"/>
              </a:spcBef>
              <a:spcAft>
                <a:spcPts val="0"/>
              </a:spcAft>
              <a:buNone/>
            </a:pPr>
            <a:r>
              <a:rPr lang="en-US" sz="2400" u="none" strike="noStrike">
                <a:solidFill>
                  <a:srgbClr val="503C30"/>
                </a:solidFill>
                <a:latin typeface="Inter"/>
                <a:ea typeface="Inter"/>
                <a:cs typeface="Inter"/>
                <a:sym typeface="Inter"/>
              </a:rPr>
              <a:t>Transporte: Se divide en segmentos.</a:t>
            </a:r>
            <a:endParaRPr/>
          </a:p>
          <a:p>
            <a:pPr indent="0" lvl="0" marL="0" marR="0" rtl="0" algn="l">
              <a:lnSpc>
                <a:spcPct val="140000"/>
              </a:lnSpc>
              <a:spcBef>
                <a:spcPts val="0"/>
              </a:spcBef>
              <a:spcAft>
                <a:spcPts val="0"/>
              </a:spcAft>
              <a:buNone/>
            </a:pPr>
            <a:r>
              <a:rPr lang="en-US" sz="2400" u="none" strike="noStrike">
                <a:solidFill>
                  <a:srgbClr val="503C30"/>
                </a:solidFill>
                <a:latin typeface="Inter"/>
                <a:ea typeface="Inter"/>
                <a:cs typeface="Inter"/>
                <a:sym typeface="Inter"/>
              </a:rPr>
              <a:t>Red: Se enruta al receptor.</a:t>
            </a:r>
            <a:endParaRPr/>
          </a:p>
          <a:p>
            <a:pPr indent="0" lvl="0" marL="0" marR="0" rtl="0" algn="l">
              <a:lnSpc>
                <a:spcPct val="140000"/>
              </a:lnSpc>
              <a:spcBef>
                <a:spcPts val="0"/>
              </a:spcBef>
              <a:spcAft>
                <a:spcPts val="0"/>
              </a:spcAft>
              <a:buNone/>
            </a:pPr>
            <a:r>
              <a:rPr lang="en-US" sz="2400" u="none" strike="noStrike">
                <a:solidFill>
                  <a:srgbClr val="503C30"/>
                </a:solidFill>
                <a:latin typeface="Inter"/>
                <a:ea typeface="Inter"/>
                <a:cs typeface="Inter"/>
                <a:sym typeface="Inter"/>
              </a:rPr>
              <a:t>Enlace y Física: Se transmite por el medio.</a:t>
            </a:r>
            <a:endParaRPr/>
          </a:p>
          <a:p>
            <a:pPr indent="0" lvl="0" marL="0" marR="0" rtl="0" algn="l">
              <a:lnSpc>
                <a:spcPct val="140000"/>
              </a:lnSpc>
              <a:spcBef>
                <a:spcPts val="0"/>
              </a:spcBef>
              <a:spcAft>
                <a:spcPts val="0"/>
              </a:spcAft>
              <a:buNone/>
            </a:pPr>
            <a:r>
              <a:rPr lang="en-US" sz="2400" u="none" strike="noStrike">
                <a:solidFill>
                  <a:srgbClr val="503C30"/>
                </a:solidFill>
                <a:latin typeface="Inter"/>
                <a:ea typeface="Inter"/>
                <a:cs typeface="Inter"/>
                <a:sym typeface="Inter"/>
              </a:rPr>
              <a:t>En el receptor, el proceso se invierte hasta mostrar el mensaje. Este modelo asegura una comunicación ordenada y fiable (Yndurain, 2025).</a:t>
            </a:r>
            <a:endParaRPr/>
          </a:p>
          <a:p>
            <a:pPr indent="0" lvl="0" marL="0" marR="0" rtl="0" algn="l">
              <a:lnSpc>
                <a:spcPct val="140000"/>
              </a:lnSpc>
              <a:spcBef>
                <a:spcPts val="0"/>
              </a:spcBef>
              <a:spcAft>
                <a:spcPts val="0"/>
              </a:spcAft>
              <a:buNone/>
            </a:pPr>
            <a:r>
              <a:t/>
            </a:r>
            <a:endParaRPr sz="2400" u="none" strike="noStrike">
              <a:solidFill>
                <a:srgbClr val="503C30"/>
              </a:solidFill>
              <a:latin typeface="Inter"/>
              <a:ea typeface="Inter"/>
              <a:cs typeface="Inter"/>
              <a:sym typeface="Inter"/>
            </a:endParaRPr>
          </a:p>
        </p:txBody>
      </p:sp>
      <p:sp>
        <p:nvSpPr>
          <p:cNvPr id="390" name="Google Shape;390;p20"/>
          <p:cNvSpPr txBox="1"/>
          <p:nvPr/>
        </p:nvSpPr>
        <p:spPr>
          <a:xfrm>
            <a:off x="1373818" y="997127"/>
            <a:ext cx="15627300" cy="15861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5600" u="none" strike="noStrike">
                <a:solidFill>
                  <a:srgbClr val="503C30"/>
                </a:solidFill>
                <a:latin typeface="Arial"/>
                <a:ea typeface="Arial"/>
                <a:cs typeface="Arial"/>
                <a:sym typeface="Arial"/>
              </a:rPr>
              <a:t>COMO SE ENVIA UN MENSAJE Y RECIBE UN MENSAJE DE ACUERDO AL MODELO OSI </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par>
                                <p:cTn fill="hold" nodeType="with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500"/>
                                        <p:tgtEl>
                                          <p:spTgt spid="380"/>
                                        </p:tgtEl>
                                      </p:cBhvr>
                                    </p:animEffect>
                                  </p:childTnLst>
                                </p:cTn>
                              </p:par>
                              <p:par>
                                <p:cTn fill="hold" nodeType="with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par>
                                <p:cTn fill="hold" nodeType="with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par>
                                <p:cTn fill="hold" nodeType="with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par>
                                <p:cTn fill="hold" nodeType="with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394" name="Shape 394"/>
        <p:cNvGrpSpPr/>
        <p:nvPr/>
      </p:nvGrpSpPr>
      <p:grpSpPr>
        <a:xfrm>
          <a:off x="0" y="0"/>
          <a:ext cx="0" cy="0"/>
          <a:chOff x="0" y="0"/>
          <a:chExt cx="0" cy="0"/>
        </a:xfrm>
      </p:grpSpPr>
      <p:sp>
        <p:nvSpPr>
          <p:cNvPr id="395" name="Google Shape;395;p21"/>
          <p:cNvSpPr/>
          <p:nvPr/>
        </p:nvSpPr>
        <p:spPr>
          <a:xfrm rot="-1258227">
            <a:off x="-202998" y="8963887"/>
            <a:ext cx="2463395" cy="2646226"/>
          </a:xfrm>
          <a:custGeom>
            <a:rect b="b" l="l" r="r" t="t"/>
            <a:pathLst>
              <a:path extrusionOk="0" h="2646226" w="2463395">
                <a:moveTo>
                  <a:pt x="0" y="0"/>
                </a:moveTo>
                <a:lnTo>
                  <a:pt x="2463396" y="0"/>
                </a:lnTo>
                <a:lnTo>
                  <a:pt x="2463396" y="2646226"/>
                </a:lnTo>
                <a:lnTo>
                  <a:pt x="0" y="2646226"/>
                </a:lnTo>
                <a:lnTo>
                  <a:pt x="0" y="0"/>
                </a:lnTo>
                <a:close/>
              </a:path>
            </a:pathLst>
          </a:custGeom>
          <a:blipFill rotWithShape="1">
            <a:blip r:embed="rId3">
              <a:alphaModFix/>
            </a:blip>
            <a:stretch>
              <a:fillRect b="0" l="0" r="0" t="0"/>
            </a:stretch>
          </a:blipFill>
          <a:ln>
            <a:noFill/>
          </a:ln>
        </p:spPr>
      </p:sp>
      <p:sp>
        <p:nvSpPr>
          <p:cNvPr id="396" name="Google Shape;396;p21"/>
          <p:cNvSpPr/>
          <p:nvPr/>
        </p:nvSpPr>
        <p:spPr>
          <a:xfrm rot="4094958">
            <a:off x="15767105" y="4458767"/>
            <a:ext cx="1910240" cy="1967476"/>
          </a:xfrm>
          <a:custGeom>
            <a:rect b="b" l="l" r="r" t="t"/>
            <a:pathLst>
              <a:path extrusionOk="0" h="1967476" w="1910240">
                <a:moveTo>
                  <a:pt x="0" y="0"/>
                </a:moveTo>
                <a:lnTo>
                  <a:pt x="1910240" y="0"/>
                </a:lnTo>
                <a:lnTo>
                  <a:pt x="1910240" y="1967476"/>
                </a:lnTo>
                <a:lnTo>
                  <a:pt x="0" y="1967476"/>
                </a:lnTo>
                <a:lnTo>
                  <a:pt x="0" y="0"/>
                </a:lnTo>
                <a:close/>
              </a:path>
            </a:pathLst>
          </a:custGeom>
          <a:blipFill rotWithShape="1">
            <a:blip r:embed="rId4">
              <a:alphaModFix/>
            </a:blip>
            <a:stretch>
              <a:fillRect b="0" l="0" r="0" t="0"/>
            </a:stretch>
          </a:blipFill>
          <a:ln>
            <a:noFill/>
          </a:ln>
        </p:spPr>
      </p:sp>
      <p:sp>
        <p:nvSpPr>
          <p:cNvPr id="397" name="Google Shape;397;p21"/>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5">
              <a:alphaModFix/>
            </a:blip>
            <a:stretch>
              <a:fillRect b="0" l="0" r="0" t="0"/>
            </a:stretch>
          </a:blipFill>
          <a:ln>
            <a:noFill/>
          </a:ln>
        </p:spPr>
      </p:sp>
      <p:sp>
        <p:nvSpPr>
          <p:cNvPr id="398" name="Google Shape;398;p21"/>
          <p:cNvSpPr/>
          <p:nvPr/>
        </p:nvSpPr>
        <p:spPr>
          <a:xfrm rot="5089641">
            <a:off x="13564178" y="63939"/>
            <a:ext cx="1573859" cy="1433642"/>
          </a:xfrm>
          <a:custGeom>
            <a:rect b="b" l="l" r="r" t="t"/>
            <a:pathLst>
              <a:path extrusionOk="0" h="1433642" w="1573859">
                <a:moveTo>
                  <a:pt x="0" y="0"/>
                </a:moveTo>
                <a:lnTo>
                  <a:pt x="1573859" y="0"/>
                </a:lnTo>
                <a:lnTo>
                  <a:pt x="1573859" y="1433642"/>
                </a:lnTo>
                <a:lnTo>
                  <a:pt x="0" y="1433642"/>
                </a:lnTo>
                <a:lnTo>
                  <a:pt x="0" y="0"/>
                </a:lnTo>
                <a:close/>
              </a:path>
            </a:pathLst>
          </a:custGeom>
          <a:blipFill rotWithShape="1">
            <a:blip r:embed="rId6">
              <a:alphaModFix/>
            </a:blip>
            <a:stretch>
              <a:fillRect b="0" l="0" r="0" t="0"/>
            </a:stretch>
          </a:blipFill>
          <a:ln>
            <a:noFill/>
          </a:ln>
        </p:spPr>
      </p:sp>
      <p:sp>
        <p:nvSpPr>
          <p:cNvPr id="399" name="Google Shape;399;p21"/>
          <p:cNvSpPr txBox="1"/>
          <p:nvPr/>
        </p:nvSpPr>
        <p:spPr>
          <a:xfrm>
            <a:off x="3971822" y="647700"/>
            <a:ext cx="10056315" cy="9525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EJEMPLO 1</a:t>
            </a:r>
            <a:endParaRPr/>
          </a:p>
        </p:txBody>
      </p:sp>
      <p:sp>
        <p:nvSpPr>
          <p:cNvPr id="400" name="Google Shape;400;p21"/>
          <p:cNvSpPr txBox="1"/>
          <p:nvPr/>
        </p:nvSpPr>
        <p:spPr>
          <a:xfrm>
            <a:off x="1028700" y="1812138"/>
            <a:ext cx="16230600" cy="74578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010" u="sng">
                <a:solidFill>
                  <a:srgbClr val="503C30"/>
                </a:solidFill>
                <a:latin typeface="Inter"/>
                <a:ea typeface="Inter"/>
                <a:cs typeface="Inter"/>
                <a:sym typeface="Inter"/>
                <a:hlinkClick action="ppaction://hlinksldjump" r:id="rId7">
                  <a:extLst>
                    <a:ext uri="{A12FA001-AC4F-418D-AE19-62706E023703}">
                      <ahyp:hlinkClr val="tx"/>
                    </a:ext>
                  </a:extLst>
                </a:hlinkClick>
              </a:rPr>
              <a:t>Cuando alguien en Nueva York envía un correo a Londres:</a:t>
            </a:r>
            <a:endParaRPr/>
          </a:p>
          <a:p>
            <a:pPr indent="0" lvl="0" marL="0" marR="0" rtl="0" algn="l">
              <a:lnSpc>
                <a:spcPct val="140000"/>
              </a:lnSpc>
              <a:spcBef>
                <a:spcPts val="0"/>
              </a:spcBef>
              <a:spcAft>
                <a:spcPts val="0"/>
              </a:spcAft>
              <a:buNone/>
            </a:pPr>
            <a:r>
              <a:t/>
            </a:r>
            <a:endParaRPr sz="3010" u="sng">
              <a:solidFill>
                <a:srgbClr val="503C30"/>
              </a:solidFill>
              <a:latin typeface="Inter"/>
              <a:ea typeface="Inter"/>
              <a:cs typeface="Inter"/>
              <a:sym typeface="Inter"/>
              <a:hlinkClick action="ppaction://hlinksldjump" r:id="rId8">
                <a:extLst>
                  <a:ext uri="{A12FA001-AC4F-418D-AE19-62706E023703}">
                    <ahyp:hlinkClr val="tx"/>
                  </a:ext>
                </a:extLst>
              </a:hlinkClick>
            </a:endParaRPr>
          </a:p>
          <a:p>
            <a:pPr indent="0" lvl="0" marL="0" marR="0" rtl="0" algn="l">
              <a:lnSpc>
                <a:spcPct val="140000"/>
              </a:lnSpc>
              <a:spcBef>
                <a:spcPts val="0"/>
              </a:spcBef>
              <a:spcAft>
                <a:spcPts val="0"/>
              </a:spcAft>
              <a:buNone/>
            </a:pPr>
            <a:r>
              <a:rPr lang="en-US" sz="3010" u="sng">
                <a:solidFill>
                  <a:srgbClr val="503C30"/>
                </a:solidFill>
                <a:latin typeface="Inter"/>
                <a:ea typeface="Inter"/>
                <a:cs typeface="Inter"/>
                <a:sym typeface="Inter"/>
                <a:hlinkClick action="ppaction://hlinksldjump" r:id="rId9">
                  <a:extLst>
                    <a:ext uri="{A12FA001-AC4F-418D-AE19-62706E023703}">
                      <ahyp:hlinkClr val="tx"/>
                    </a:ext>
                  </a:extLst>
                </a:hlinkClick>
              </a:rPr>
              <a:t>Capa 7 (Aplicación): El programa de correo crea y envía el mensaje con SMTP.</a:t>
            </a:r>
            <a:endParaRPr/>
          </a:p>
          <a:p>
            <a:pPr indent="0" lvl="0" marL="0" marR="0" rtl="0" algn="l">
              <a:lnSpc>
                <a:spcPct val="140000"/>
              </a:lnSpc>
              <a:spcBef>
                <a:spcPts val="0"/>
              </a:spcBef>
              <a:spcAft>
                <a:spcPts val="0"/>
              </a:spcAft>
              <a:buNone/>
            </a:pPr>
            <a:r>
              <a:rPr lang="en-US" sz="3010" u="sng">
                <a:solidFill>
                  <a:srgbClr val="503C30"/>
                </a:solidFill>
                <a:latin typeface="Inter"/>
                <a:ea typeface="Inter"/>
                <a:cs typeface="Inter"/>
                <a:sym typeface="Inter"/>
                <a:hlinkClick action="ppaction://hlinksldjump" r:id="rId10">
                  <a:extLst>
                    <a:ext uri="{A12FA001-AC4F-418D-AE19-62706E023703}">
                      <ahyp:hlinkClr val="tx"/>
                    </a:ext>
                  </a:extLst>
                </a:hlinkClick>
              </a:rPr>
              <a:t>Capa 6 (Presentación): El mensaje se formatea y cifra.</a:t>
            </a:r>
            <a:endParaRPr/>
          </a:p>
          <a:p>
            <a:pPr indent="0" lvl="0" marL="0" marR="0" rtl="0" algn="l">
              <a:lnSpc>
                <a:spcPct val="140000"/>
              </a:lnSpc>
              <a:spcBef>
                <a:spcPts val="0"/>
              </a:spcBef>
              <a:spcAft>
                <a:spcPts val="0"/>
              </a:spcAft>
              <a:buNone/>
            </a:pPr>
            <a:r>
              <a:rPr lang="en-US" sz="3010" u="sng">
                <a:solidFill>
                  <a:srgbClr val="503C30"/>
                </a:solidFill>
                <a:latin typeface="Inter"/>
                <a:ea typeface="Inter"/>
                <a:cs typeface="Inter"/>
                <a:sym typeface="Inter"/>
                <a:hlinkClick action="ppaction://hlinksldjump" r:id="rId11">
                  <a:extLst>
                    <a:ext uri="{A12FA001-AC4F-418D-AE19-62706E023703}">
                      <ahyp:hlinkClr val="tx"/>
                    </a:ext>
                  </a:extLst>
                </a:hlinkClick>
              </a:rPr>
              <a:t>Capa 5 (Sesión): Se abre la sesión entre los servidores.</a:t>
            </a:r>
            <a:endParaRPr/>
          </a:p>
          <a:p>
            <a:pPr indent="0" lvl="0" marL="0" marR="0" rtl="0" algn="l">
              <a:lnSpc>
                <a:spcPct val="140000"/>
              </a:lnSpc>
              <a:spcBef>
                <a:spcPts val="0"/>
              </a:spcBef>
              <a:spcAft>
                <a:spcPts val="0"/>
              </a:spcAft>
              <a:buNone/>
            </a:pPr>
            <a:r>
              <a:rPr lang="en-US" sz="3010" u="sng">
                <a:solidFill>
                  <a:srgbClr val="503C30"/>
                </a:solidFill>
                <a:latin typeface="Inter"/>
                <a:ea typeface="Inter"/>
                <a:cs typeface="Inter"/>
                <a:sym typeface="Inter"/>
                <a:hlinkClick action="ppaction://hlinksldjump" r:id="rId12">
                  <a:extLst>
                    <a:ext uri="{A12FA001-AC4F-418D-AE19-62706E023703}">
                      <ahyp:hlinkClr val="tx"/>
                    </a:ext>
                  </a:extLst>
                </a:hlinkClick>
              </a:rPr>
              <a:t>Capa 4 (Transporte): El correo se divide en partes y TCP asegura que lleguen bien.</a:t>
            </a:r>
            <a:endParaRPr/>
          </a:p>
          <a:p>
            <a:pPr indent="0" lvl="0" marL="0" marR="0" rtl="0" algn="l">
              <a:lnSpc>
                <a:spcPct val="140000"/>
              </a:lnSpc>
              <a:spcBef>
                <a:spcPts val="0"/>
              </a:spcBef>
              <a:spcAft>
                <a:spcPts val="0"/>
              </a:spcAft>
              <a:buNone/>
            </a:pPr>
            <a:r>
              <a:rPr lang="en-US" sz="3010" u="sng">
                <a:solidFill>
                  <a:srgbClr val="503C30"/>
                </a:solidFill>
                <a:latin typeface="Inter"/>
                <a:ea typeface="Inter"/>
                <a:cs typeface="Inter"/>
                <a:sym typeface="Inter"/>
                <a:hlinkClick action="ppaction://hlinksldjump" r:id="rId13">
                  <a:extLst>
                    <a:ext uri="{A12FA001-AC4F-418D-AE19-62706E023703}">
                      <ahyp:hlinkClr val="tx"/>
                    </a:ext>
                  </a:extLst>
                </a:hlinkClick>
              </a:rPr>
              <a:t>Capa 3 (Red): Se añaden direcciones IP para viajar por redes y enrutadores.</a:t>
            </a:r>
            <a:endParaRPr/>
          </a:p>
          <a:p>
            <a:pPr indent="0" lvl="0" marL="0" marR="0" rtl="0" algn="l">
              <a:lnSpc>
                <a:spcPct val="140000"/>
              </a:lnSpc>
              <a:spcBef>
                <a:spcPts val="0"/>
              </a:spcBef>
              <a:spcAft>
                <a:spcPts val="0"/>
              </a:spcAft>
              <a:buNone/>
            </a:pPr>
            <a:r>
              <a:rPr lang="en-US" sz="3010" u="sng">
                <a:solidFill>
                  <a:srgbClr val="503C30"/>
                </a:solidFill>
                <a:latin typeface="Inter"/>
                <a:ea typeface="Inter"/>
                <a:cs typeface="Inter"/>
                <a:sym typeface="Inter"/>
                <a:hlinkClick action="ppaction://hlinksldjump" r:id="rId14">
                  <a:extLst>
                    <a:ext uri="{A12FA001-AC4F-418D-AE19-62706E023703}">
                      <ahyp:hlinkClr val="tx"/>
                    </a:ext>
                  </a:extLst>
                </a:hlinkClick>
              </a:rPr>
              <a:t>Capa 2 (Enlace): Se usan direcciones MAC y se corrigen errores locales.</a:t>
            </a:r>
            <a:endParaRPr/>
          </a:p>
          <a:p>
            <a:pPr indent="0" lvl="0" marL="0" marR="0" rtl="0" algn="l">
              <a:lnSpc>
                <a:spcPct val="140000"/>
              </a:lnSpc>
              <a:spcBef>
                <a:spcPts val="0"/>
              </a:spcBef>
              <a:spcAft>
                <a:spcPts val="0"/>
              </a:spcAft>
              <a:buNone/>
            </a:pPr>
            <a:r>
              <a:rPr lang="en-US" sz="3010" u="sng">
                <a:solidFill>
                  <a:srgbClr val="503C30"/>
                </a:solidFill>
                <a:latin typeface="Inter"/>
                <a:ea typeface="Inter"/>
                <a:cs typeface="Inter"/>
                <a:sym typeface="Inter"/>
                <a:hlinkClick action="ppaction://hlinksldjump" r:id="rId15">
                  <a:extLst>
                    <a:ext uri="{A12FA001-AC4F-418D-AE19-62706E023703}">
                      <ahyp:hlinkClr val="tx"/>
                    </a:ext>
                  </a:extLst>
                </a:hlinkClick>
              </a:rPr>
              <a:t>Capa 1 (Física): Los datos viajan como señales por cables (incluida fibra bajo el océano).</a:t>
            </a:r>
            <a:endParaRPr/>
          </a:p>
          <a:p>
            <a:pPr indent="0" lvl="0" marL="0" marR="0" rtl="0" algn="l">
              <a:lnSpc>
                <a:spcPct val="140000"/>
              </a:lnSpc>
              <a:spcBef>
                <a:spcPts val="0"/>
              </a:spcBef>
              <a:spcAft>
                <a:spcPts val="0"/>
              </a:spcAft>
              <a:buNone/>
            </a:pPr>
            <a:r>
              <a:t/>
            </a:r>
            <a:endParaRPr sz="3010" u="sng">
              <a:solidFill>
                <a:srgbClr val="503C30"/>
              </a:solidFill>
              <a:latin typeface="Inter"/>
              <a:ea typeface="Inter"/>
              <a:cs typeface="Inter"/>
              <a:sym typeface="Inter"/>
              <a:hlinkClick action="ppaction://hlinksldjump" r:id="rId16">
                <a:extLst>
                  <a:ext uri="{A12FA001-AC4F-418D-AE19-62706E023703}">
                    <ahyp:hlinkClr val="tx"/>
                  </a:ext>
                </a:extLst>
              </a:hlinkClick>
            </a:endParaRPr>
          </a:p>
          <a:p>
            <a:pPr indent="0" lvl="0" marL="0" marR="0" rtl="0" algn="l">
              <a:lnSpc>
                <a:spcPct val="140000"/>
              </a:lnSpc>
              <a:spcBef>
                <a:spcPts val="0"/>
              </a:spcBef>
              <a:spcAft>
                <a:spcPts val="0"/>
              </a:spcAft>
              <a:buNone/>
            </a:pPr>
            <a:r>
              <a:rPr lang="en-US" sz="3010" u="sng">
                <a:solidFill>
                  <a:srgbClr val="503C30"/>
                </a:solidFill>
                <a:latin typeface="Inter"/>
                <a:ea typeface="Inter"/>
                <a:cs typeface="Inter"/>
                <a:sym typeface="Inter"/>
                <a:hlinkClick action="ppaction://hlinksldjump" r:id="rId17">
                  <a:extLst>
                    <a:ext uri="{A12FA001-AC4F-418D-AE19-62706E023703}">
                      <ahyp:hlinkClr val="tx"/>
                    </a:ext>
                  </a:extLst>
                </a:hlinkClick>
              </a:rPr>
              <a:t>Al llegar a Londres, las capas realizan el proceso inverso hasta que el correo aparece en la bandeja de entrada.(Sillam, 2024)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1000"/>
                                        <p:tgtEl>
                                          <p:spTgt spid="395"/>
                                        </p:tgtEl>
                                      </p:cBhvr>
                                    </p:animEffect>
                                  </p:childTnLst>
                                </p:cTn>
                              </p:par>
                              <p:par>
                                <p:cTn fill="hold" nodeType="with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1000"/>
                                        <p:tgtEl>
                                          <p:spTgt spid="396"/>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1000"/>
                                        <p:tgtEl>
                                          <p:spTgt spid="397"/>
                                        </p:tgtEl>
                                      </p:cBhvr>
                                    </p:animEffect>
                                  </p:childTnLst>
                                </p:cTn>
                              </p:par>
                              <p:par>
                                <p:cTn fill="hold" nodeType="with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par>
                                <p:cTn fill="hold" nodeType="with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DFE"/>
        </a:solidFill>
      </p:bgPr>
    </p:bg>
    <p:spTree>
      <p:nvGrpSpPr>
        <p:cNvPr id="404" name="Shape 404"/>
        <p:cNvGrpSpPr/>
        <p:nvPr/>
      </p:nvGrpSpPr>
      <p:grpSpPr>
        <a:xfrm>
          <a:off x="0" y="0"/>
          <a:ext cx="0" cy="0"/>
          <a:chOff x="0" y="0"/>
          <a:chExt cx="0" cy="0"/>
        </a:xfrm>
      </p:grpSpPr>
      <p:sp>
        <p:nvSpPr>
          <p:cNvPr id="405" name="Google Shape;405;p22"/>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3">
              <a:alphaModFix/>
            </a:blip>
            <a:stretch>
              <a:fillRect b="0" l="0" r="0" t="0"/>
            </a:stretch>
          </a:blipFill>
          <a:ln>
            <a:noFill/>
          </a:ln>
        </p:spPr>
      </p:sp>
      <p:sp>
        <p:nvSpPr>
          <p:cNvPr id="406" name="Google Shape;406;p22"/>
          <p:cNvSpPr/>
          <p:nvPr/>
        </p:nvSpPr>
        <p:spPr>
          <a:xfrm rot="5089641">
            <a:off x="16728159" y="152511"/>
            <a:ext cx="1700877" cy="1549344"/>
          </a:xfrm>
          <a:custGeom>
            <a:rect b="b" l="l" r="r" t="t"/>
            <a:pathLst>
              <a:path extrusionOk="0" h="1549344" w="1700877">
                <a:moveTo>
                  <a:pt x="0" y="0"/>
                </a:moveTo>
                <a:lnTo>
                  <a:pt x="1700878" y="0"/>
                </a:lnTo>
                <a:lnTo>
                  <a:pt x="1700878" y="1549344"/>
                </a:lnTo>
                <a:lnTo>
                  <a:pt x="0" y="1549344"/>
                </a:lnTo>
                <a:lnTo>
                  <a:pt x="0" y="0"/>
                </a:lnTo>
                <a:close/>
              </a:path>
            </a:pathLst>
          </a:custGeom>
          <a:blipFill rotWithShape="1">
            <a:blip r:embed="rId4">
              <a:alphaModFix/>
            </a:blip>
            <a:stretch>
              <a:fillRect b="0" l="0" r="0" t="0"/>
            </a:stretch>
          </a:blipFill>
          <a:ln>
            <a:noFill/>
          </a:ln>
        </p:spPr>
      </p:sp>
      <p:sp>
        <p:nvSpPr>
          <p:cNvPr id="407" name="Google Shape;407;p22"/>
          <p:cNvSpPr/>
          <p:nvPr/>
        </p:nvSpPr>
        <p:spPr>
          <a:xfrm rot="-5399999">
            <a:off x="1661243" y="8661889"/>
            <a:ext cx="1700877" cy="1549344"/>
          </a:xfrm>
          <a:custGeom>
            <a:rect b="b" l="l" r="r" t="t"/>
            <a:pathLst>
              <a:path extrusionOk="0" h="1549344" w="1700877">
                <a:moveTo>
                  <a:pt x="0" y="0"/>
                </a:moveTo>
                <a:lnTo>
                  <a:pt x="1700877" y="0"/>
                </a:lnTo>
                <a:lnTo>
                  <a:pt x="1700877" y="1549345"/>
                </a:lnTo>
                <a:lnTo>
                  <a:pt x="0" y="1549345"/>
                </a:lnTo>
                <a:lnTo>
                  <a:pt x="0" y="0"/>
                </a:lnTo>
                <a:close/>
              </a:path>
            </a:pathLst>
          </a:custGeom>
          <a:blipFill rotWithShape="1">
            <a:blip r:embed="rId4">
              <a:alphaModFix/>
            </a:blip>
            <a:stretch>
              <a:fillRect b="0" l="0" r="0" t="0"/>
            </a:stretch>
          </a:blipFill>
          <a:ln>
            <a:noFill/>
          </a:ln>
        </p:spPr>
      </p:sp>
      <p:sp>
        <p:nvSpPr>
          <p:cNvPr id="408" name="Google Shape;408;p22"/>
          <p:cNvSpPr/>
          <p:nvPr/>
        </p:nvSpPr>
        <p:spPr>
          <a:xfrm>
            <a:off x="2427179" y="2171700"/>
            <a:ext cx="13433641" cy="7001665"/>
          </a:xfrm>
          <a:custGeom>
            <a:rect b="b" l="l" r="r" t="t"/>
            <a:pathLst>
              <a:path extrusionOk="0" h="7001665" w="13433641">
                <a:moveTo>
                  <a:pt x="0" y="0"/>
                </a:moveTo>
                <a:lnTo>
                  <a:pt x="13433642" y="0"/>
                </a:lnTo>
                <a:lnTo>
                  <a:pt x="13433642" y="7001665"/>
                </a:lnTo>
                <a:lnTo>
                  <a:pt x="0" y="7001665"/>
                </a:lnTo>
                <a:lnTo>
                  <a:pt x="0" y="0"/>
                </a:lnTo>
                <a:close/>
              </a:path>
            </a:pathLst>
          </a:custGeom>
          <a:blipFill rotWithShape="1">
            <a:blip r:embed="rId5">
              <a:alphaModFix/>
            </a:blip>
            <a:stretch>
              <a:fillRect b="0" l="0" r="0" t="0"/>
            </a:stretch>
          </a:blipFill>
          <a:ln>
            <a:noFill/>
          </a:ln>
        </p:spPr>
      </p:sp>
      <p:sp>
        <p:nvSpPr>
          <p:cNvPr id="409" name="Google Shape;409;p22"/>
          <p:cNvSpPr txBox="1"/>
          <p:nvPr/>
        </p:nvSpPr>
        <p:spPr>
          <a:xfrm>
            <a:off x="3799253" y="1219200"/>
            <a:ext cx="10056315" cy="9525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GLOSARIO</a:t>
            </a:r>
            <a:endParaRPr/>
          </a:p>
        </p:txBody>
      </p:sp>
      <p:sp>
        <p:nvSpPr>
          <p:cNvPr id="410" name="Google Shape;410;p22">
            <a:hlinkClick action="ppaction://hlinksldjump" r:id="rId6"/>
          </p:cNvPr>
          <p:cNvSpPr/>
          <p:nvPr/>
        </p:nvSpPr>
        <p:spPr>
          <a:xfrm>
            <a:off x="17510760" y="38627"/>
            <a:ext cx="762000" cy="647700"/>
          </a:xfrm>
          <a:prstGeom prst="leftArrow">
            <a:avLst>
              <a:gd fmla="val 50000" name="adj1"/>
              <a:gd fmla="val 50000" name="adj2"/>
            </a:avLst>
          </a:prstGeom>
          <a:solidFill>
            <a:srgbClr val="D8D2FA"/>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000"/>
                                        <p:tgtEl>
                                          <p:spTgt spid="405"/>
                                        </p:tgtEl>
                                      </p:cBhvr>
                                    </p:animEffect>
                                  </p:childTnLst>
                                </p:cTn>
                              </p:par>
                              <p:par>
                                <p:cTn fill="hold" nodeType="with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1000"/>
                                        <p:tgtEl>
                                          <p:spTgt spid="406"/>
                                        </p:tgtEl>
                                      </p:cBhvr>
                                    </p:animEffect>
                                  </p:childTnLst>
                                </p:cTn>
                              </p:par>
                              <p:par>
                                <p:cTn fill="hold" nodeType="with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1000"/>
                                        <p:tgtEl>
                                          <p:spTgt spid="407"/>
                                        </p:tgtEl>
                                      </p:cBhvr>
                                    </p:animEffect>
                                  </p:childTnLst>
                                </p:cTn>
                              </p:par>
                              <p:par>
                                <p:cTn fill="hold" nodeType="with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1000"/>
                                        <p:tgtEl>
                                          <p:spTgt spid="408"/>
                                        </p:tgtEl>
                                      </p:cBhvr>
                                    </p:animEffect>
                                  </p:childTnLst>
                                </p:cTn>
                              </p:par>
                              <p:par>
                                <p:cTn fill="hold" nodeType="with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1000"/>
                                        <p:tgtEl>
                                          <p:spTgt spid="409"/>
                                        </p:tgtEl>
                                      </p:cBhvr>
                                    </p:animEffect>
                                  </p:childTnLst>
                                </p:cTn>
                              </p:par>
                              <p:par>
                                <p:cTn fill="hold" nodeType="with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1000"/>
                                        <p:tgtEl>
                                          <p:spTgt spid="4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414" name="Shape 414"/>
        <p:cNvGrpSpPr/>
        <p:nvPr/>
      </p:nvGrpSpPr>
      <p:grpSpPr>
        <a:xfrm>
          <a:off x="0" y="0"/>
          <a:ext cx="0" cy="0"/>
          <a:chOff x="0" y="0"/>
          <a:chExt cx="0" cy="0"/>
        </a:xfrm>
      </p:grpSpPr>
      <p:sp>
        <p:nvSpPr>
          <p:cNvPr id="415" name="Google Shape;415;p23"/>
          <p:cNvSpPr txBox="1"/>
          <p:nvPr/>
        </p:nvSpPr>
        <p:spPr>
          <a:xfrm>
            <a:off x="3930674" y="441957"/>
            <a:ext cx="10056315" cy="9525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EJEMPLO 2</a:t>
            </a:r>
            <a:endParaRPr/>
          </a:p>
        </p:txBody>
      </p:sp>
      <p:sp>
        <p:nvSpPr>
          <p:cNvPr id="416" name="Google Shape;416;p23"/>
          <p:cNvSpPr/>
          <p:nvPr/>
        </p:nvSpPr>
        <p:spPr>
          <a:xfrm rot="-1258227">
            <a:off x="-202998" y="8963887"/>
            <a:ext cx="2463395" cy="2646226"/>
          </a:xfrm>
          <a:custGeom>
            <a:rect b="b" l="l" r="r" t="t"/>
            <a:pathLst>
              <a:path extrusionOk="0" h="2646226" w="2463395">
                <a:moveTo>
                  <a:pt x="0" y="0"/>
                </a:moveTo>
                <a:lnTo>
                  <a:pt x="2463396" y="0"/>
                </a:lnTo>
                <a:lnTo>
                  <a:pt x="2463396" y="2646226"/>
                </a:lnTo>
                <a:lnTo>
                  <a:pt x="0" y="2646226"/>
                </a:lnTo>
                <a:lnTo>
                  <a:pt x="0" y="0"/>
                </a:lnTo>
                <a:close/>
              </a:path>
            </a:pathLst>
          </a:custGeom>
          <a:blipFill rotWithShape="1">
            <a:blip r:embed="rId3">
              <a:alphaModFix/>
            </a:blip>
            <a:stretch>
              <a:fillRect b="0" l="0" r="0" t="0"/>
            </a:stretch>
          </a:blipFill>
          <a:ln>
            <a:noFill/>
          </a:ln>
        </p:spPr>
      </p:sp>
      <p:sp>
        <p:nvSpPr>
          <p:cNvPr id="417" name="Google Shape;417;p23"/>
          <p:cNvSpPr txBox="1"/>
          <p:nvPr/>
        </p:nvSpPr>
        <p:spPr>
          <a:xfrm>
            <a:off x="737506" y="1562436"/>
            <a:ext cx="16521794" cy="79914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000" u="sng">
                <a:solidFill>
                  <a:srgbClr val="503C30"/>
                </a:solidFill>
                <a:latin typeface="Inter"/>
                <a:ea typeface="Inter"/>
                <a:cs typeface="Inter"/>
                <a:sym typeface="Inter"/>
                <a:hlinkClick action="ppaction://hlinksldjump" r:id="rId4">
                  <a:extLst>
                    <a:ext uri="{A12FA001-AC4F-418D-AE19-62706E023703}">
                      <ahyp:hlinkClr val="tx"/>
                    </a:ext>
                  </a:extLst>
                </a:hlinkClick>
              </a:rPr>
              <a:t>Cuando el señor Cooper envía un correo a la señora Palmer, el mensaje baja por las 7 capas del modelo OSI en su dispositivo:</a:t>
            </a:r>
            <a:endParaRPr/>
          </a:p>
          <a:p>
            <a:pPr indent="-323850" lvl="1" marL="647700" marR="0" rtl="0" algn="l">
              <a:lnSpc>
                <a:spcPct val="140000"/>
              </a:lnSpc>
              <a:spcBef>
                <a:spcPts val="0"/>
              </a:spcBef>
              <a:spcAft>
                <a:spcPts val="0"/>
              </a:spcAft>
              <a:buClr>
                <a:srgbClr val="503C30"/>
              </a:buClr>
              <a:buSzPts val="3000"/>
              <a:buFont typeface="Arial"/>
              <a:buChar char="•"/>
            </a:pPr>
            <a:r>
              <a:rPr b="0" i="0" lang="en-US" sz="3000" u="sng" cap="none" strike="noStrike">
                <a:solidFill>
                  <a:srgbClr val="503C30"/>
                </a:solidFill>
                <a:latin typeface="Inter"/>
                <a:ea typeface="Inter"/>
                <a:cs typeface="Inter"/>
                <a:sym typeface="Inter"/>
                <a:hlinkClick action="ppaction://hlinksldjump" r:id="rId5">
                  <a:extLst>
                    <a:ext uri="{A12FA001-AC4F-418D-AE19-62706E023703}">
                      <ahyp:hlinkClr val="tx"/>
                    </a:ext>
                  </a:extLst>
                </a:hlinkClick>
              </a:rPr>
              <a:t>Aplicación: La app de correo usa SMTP para preparar el mensaje.</a:t>
            </a:r>
            <a:endParaRPr/>
          </a:p>
          <a:p>
            <a:pPr indent="-323850" lvl="1" marL="647700" marR="0" rtl="0" algn="l">
              <a:lnSpc>
                <a:spcPct val="140000"/>
              </a:lnSpc>
              <a:spcBef>
                <a:spcPts val="0"/>
              </a:spcBef>
              <a:spcAft>
                <a:spcPts val="0"/>
              </a:spcAft>
              <a:buClr>
                <a:srgbClr val="503C30"/>
              </a:buClr>
              <a:buSzPts val="3000"/>
              <a:buFont typeface="Arial"/>
              <a:buChar char="•"/>
            </a:pPr>
            <a:r>
              <a:rPr b="0" i="0" lang="en-US" sz="3000" u="sng" cap="none" strike="noStrike">
                <a:solidFill>
                  <a:srgbClr val="503C30"/>
                </a:solidFill>
                <a:latin typeface="Inter"/>
                <a:ea typeface="Inter"/>
                <a:cs typeface="Inter"/>
                <a:sym typeface="Inter"/>
                <a:hlinkClick action="ppaction://hlinksldjump" r:id="rId6">
                  <a:extLst>
                    <a:ext uri="{A12FA001-AC4F-418D-AE19-62706E023703}">
                      <ahyp:hlinkClr val="tx"/>
                    </a:ext>
                  </a:extLst>
                </a:hlinkClick>
              </a:rPr>
              <a:t>Presentación: Comprime o transforma los datos.</a:t>
            </a:r>
            <a:endParaRPr/>
          </a:p>
          <a:p>
            <a:pPr indent="-323850" lvl="1" marL="647700" marR="0" rtl="0" algn="l">
              <a:lnSpc>
                <a:spcPct val="140000"/>
              </a:lnSpc>
              <a:spcBef>
                <a:spcPts val="0"/>
              </a:spcBef>
              <a:spcAft>
                <a:spcPts val="0"/>
              </a:spcAft>
              <a:buClr>
                <a:srgbClr val="503C30"/>
              </a:buClr>
              <a:buSzPts val="3000"/>
              <a:buFont typeface="Arial"/>
              <a:buChar char="•"/>
            </a:pPr>
            <a:r>
              <a:rPr b="0" i="0" lang="en-US" sz="3000" u="sng" cap="none" strike="noStrike">
                <a:solidFill>
                  <a:srgbClr val="503C30"/>
                </a:solidFill>
                <a:latin typeface="Inter"/>
                <a:ea typeface="Inter"/>
                <a:cs typeface="Inter"/>
                <a:sym typeface="Inter"/>
                <a:hlinkClick action="ppaction://hlinksldjump" r:id="rId7">
                  <a:extLst>
                    <a:ext uri="{A12FA001-AC4F-418D-AE19-62706E023703}">
                      <ahyp:hlinkClr val="tx"/>
                    </a:ext>
                  </a:extLst>
                </a:hlinkClick>
              </a:rPr>
              <a:t>Sesión: Abre la sesión de comunicación.</a:t>
            </a:r>
            <a:endParaRPr/>
          </a:p>
          <a:p>
            <a:pPr indent="-323850" lvl="1" marL="647700" marR="0" rtl="0" algn="l">
              <a:lnSpc>
                <a:spcPct val="140000"/>
              </a:lnSpc>
              <a:spcBef>
                <a:spcPts val="0"/>
              </a:spcBef>
              <a:spcAft>
                <a:spcPts val="0"/>
              </a:spcAft>
              <a:buClr>
                <a:srgbClr val="503C30"/>
              </a:buClr>
              <a:buSzPts val="3000"/>
              <a:buFont typeface="Arial"/>
              <a:buChar char="•"/>
            </a:pPr>
            <a:r>
              <a:rPr b="0" i="0" lang="en-US" sz="3000" u="sng" cap="none" strike="noStrike">
                <a:solidFill>
                  <a:srgbClr val="503C30"/>
                </a:solidFill>
                <a:latin typeface="Inter"/>
                <a:ea typeface="Inter"/>
                <a:cs typeface="Inter"/>
                <a:sym typeface="Inter"/>
                <a:hlinkClick action="ppaction://hlinksldjump" r:id="rId8">
                  <a:extLst>
                    <a:ext uri="{A12FA001-AC4F-418D-AE19-62706E023703}">
                      <ahyp:hlinkClr val="tx"/>
                    </a:ext>
                  </a:extLst>
                </a:hlinkClick>
              </a:rPr>
              <a:t>Transporte: Divide los datos en segmentos.</a:t>
            </a:r>
            <a:endParaRPr/>
          </a:p>
          <a:p>
            <a:pPr indent="-323850" lvl="1" marL="647700" marR="0" rtl="0" algn="l">
              <a:lnSpc>
                <a:spcPct val="140000"/>
              </a:lnSpc>
              <a:spcBef>
                <a:spcPts val="0"/>
              </a:spcBef>
              <a:spcAft>
                <a:spcPts val="0"/>
              </a:spcAft>
              <a:buClr>
                <a:srgbClr val="503C30"/>
              </a:buClr>
              <a:buSzPts val="3000"/>
              <a:buFont typeface="Arial"/>
              <a:buChar char="•"/>
            </a:pPr>
            <a:r>
              <a:rPr b="0" i="0" lang="en-US" sz="3000" u="sng" cap="none" strike="noStrike">
                <a:solidFill>
                  <a:srgbClr val="503C30"/>
                </a:solidFill>
                <a:latin typeface="Inter"/>
                <a:ea typeface="Inter"/>
                <a:cs typeface="Inter"/>
                <a:sym typeface="Inter"/>
                <a:hlinkClick action="ppaction://hlinksldjump" r:id="rId9">
                  <a:extLst>
                    <a:ext uri="{A12FA001-AC4F-418D-AE19-62706E023703}">
                      <ahyp:hlinkClr val="tx"/>
                    </a:ext>
                  </a:extLst>
                </a:hlinkClick>
              </a:rPr>
              <a:t>Red: Convierte los segmentos en paquetes.</a:t>
            </a:r>
            <a:endParaRPr/>
          </a:p>
          <a:p>
            <a:pPr indent="-323850" lvl="1" marL="647700" marR="0" rtl="0" algn="l">
              <a:lnSpc>
                <a:spcPct val="140000"/>
              </a:lnSpc>
              <a:spcBef>
                <a:spcPts val="0"/>
              </a:spcBef>
              <a:spcAft>
                <a:spcPts val="0"/>
              </a:spcAft>
              <a:buClr>
                <a:srgbClr val="503C30"/>
              </a:buClr>
              <a:buSzPts val="3000"/>
              <a:buFont typeface="Arial"/>
              <a:buChar char="•"/>
            </a:pPr>
            <a:r>
              <a:rPr b="0" i="0" lang="en-US" sz="3000" u="sng" cap="none" strike="noStrike">
                <a:solidFill>
                  <a:srgbClr val="503C30"/>
                </a:solidFill>
                <a:latin typeface="Inter"/>
                <a:ea typeface="Inter"/>
                <a:cs typeface="Inter"/>
                <a:sym typeface="Inter"/>
                <a:hlinkClick action="ppaction://hlinksldjump" r:id="rId10">
                  <a:extLst>
                    <a:ext uri="{A12FA001-AC4F-418D-AE19-62706E023703}">
                      <ahyp:hlinkClr val="tx"/>
                    </a:ext>
                  </a:extLst>
                </a:hlinkClick>
              </a:rPr>
              <a:t>Enlace de datos: Convierte los paquetes en tramas.</a:t>
            </a:r>
            <a:endParaRPr/>
          </a:p>
          <a:p>
            <a:pPr indent="-323850" lvl="1" marL="647700" marR="0" rtl="0" algn="l">
              <a:lnSpc>
                <a:spcPct val="140000"/>
              </a:lnSpc>
              <a:spcBef>
                <a:spcPts val="0"/>
              </a:spcBef>
              <a:spcAft>
                <a:spcPts val="0"/>
              </a:spcAft>
              <a:buClr>
                <a:srgbClr val="503C30"/>
              </a:buClr>
              <a:buSzPts val="3000"/>
              <a:buFont typeface="Arial"/>
              <a:buChar char="•"/>
            </a:pPr>
            <a:r>
              <a:rPr b="0" i="0" lang="en-US" sz="3000" u="sng" cap="none" strike="noStrike">
                <a:solidFill>
                  <a:srgbClr val="503C30"/>
                </a:solidFill>
                <a:latin typeface="Inter"/>
                <a:ea typeface="Inter"/>
                <a:cs typeface="Inter"/>
                <a:sym typeface="Inter"/>
                <a:hlinkClick action="ppaction://hlinksldjump" r:id="rId11">
                  <a:extLst>
                    <a:ext uri="{A12FA001-AC4F-418D-AE19-62706E023703}">
                      <ahyp:hlinkClr val="tx"/>
                    </a:ext>
                  </a:extLst>
                </a:hlinkClick>
              </a:rPr>
              <a:t>Física: Transforma las tramas en bits (1 y 0) y los envía por un medio, como un cable o WiFi.</a:t>
            </a:r>
            <a:endParaRPr/>
          </a:p>
          <a:p>
            <a:pPr indent="0" lvl="0" marL="0" marR="0" rtl="0" algn="l">
              <a:lnSpc>
                <a:spcPct val="140000"/>
              </a:lnSpc>
              <a:spcBef>
                <a:spcPts val="0"/>
              </a:spcBef>
              <a:spcAft>
                <a:spcPts val="0"/>
              </a:spcAft>
              <a:buNone/>
            </a:pPr>
            <a:r>
              <a:rPr lang="en-US" sz="3000" u="sng">
                <a:solidFill>
                  <a:srgbClr val="503C30"/>
                </a:solidFill>
                <a:latin typeface="Inter"/>
                <a:ea typeface="Inter"/>
                <a:cs typeface="Inter"/>
                <a:sym typeface="Inter"/>
                <a:hlinkClick action="ppaction://hlinksldjump" r:id="rId12">
                  <a:extLst>
                    <a:ext uri="{A12FA001-AC4F-418D-AE19-62706E023703}">
                      <ahyp:hlinkClr val="tx"/>
                    </a:ext>
                  </a:extLst>
                </a:hlinkClick>
              </a:rPr>
              <a:t>En el dispositivo de la señora Palmer, el proceso sube por las capas en orden inverso:</a:t>
            </a:r>
            <a:endParaRPr/>
          </a:p>
          <a:p>
            <a:pPr indent="-323850" lvl="1" marL="647700" marR="0" rtl="0" algn="l">
              <a:lnSpc>
                <a:spcPct val="140000"/>
              </a:lnSpc>
              <a:spcBef>
                <a:spcPts val="0"/>
              </a:spcBef>
              <a:spcAft>
                <a:spcPts val="0"/>
              </a:spcAft>
              <a:buClr>
                <a:srgbClr val="503C30"/>
              </a:buClr>
              <a:buSzPts val="3000"/>
              <a:buFont typeface="Arial"/>
              <a:buChar char="•"/>
            </a:pPr>
            <a:r>
              <a:rPr b="0" i="0" lang="en-US" sz="3000" u="sng" cap="none" strike="noStrike">
                <a:solidFill>
                  <a:srgbClr val="503C30"/>
                </a:solidFill>
                <a:latin typeface="Inter"/>
                <a:ea typeface="Inter"/>
                <a:cs typeface="Inter"/>
                <a:sym typeface="Inter"/>
                <a:hlinkClick action="ppaction://hlinksldjump" r:id="rId13">
                  <a:extLst>
                    <a:ext uri="{A12FA001-AC4F-418D-AE19-62706E023703}">
                      <ahyp:hlinkClr val="tx"/>
                    </a:ext>
                  </a:extLst>
                </a:hlinkClick>
              </a:rPr>
              <a:t>los bits → tramas → paquetes → segmentos → datos legibles.</a:t>
            </a:r>
            <a:endParaRPr/>
          </a:p>
          <a:p>
            <a:pPr indent="0" lvl="0" marL="0" marR="0" rtl="0" algn="l">
              <a:lnSpc>
                <a:spcPct val="140000"/>
              </a:lnSpc>
              <a:spcBef>
                <a:spcPts val="0"/>
              </a:spcBef>
              <a:spcAft>
                <a:spcPts val="0"/>
              </a:spcAft>
              <a:buNone/>
            </a:pPr>
            <a:r>
              <a:rPr lang="en-US" sz="3000" u="sng">
                <a:solidFill>
                  <a:srgbClr val="503C30"/>
                </a:solidFill>
                <a:latin typeface="Inter"/>
                <a:ea typeface="Inter"/>
                <a:cs typeface="Inter"/>
                <a:sym typeface="Inter"/>
                <a:hlinkClick action="ppaction://hlinksldjump" r:id="rId14">
                  <a:extLst>
                    <a:ext uri="{A12FA001-AC4F-418D-AE19-62706E023703}">
                      <ahyp:hlinkClr val="tx"/>
                    </a:ext>
                  </a:extLst>
                </a:hlinkClick>
              </a:rPr>
              <a:t>Al final, su aplicación de correo muestra el mensaje en pantalla.(Cloudflare, 2025)</a:t>
            </a:r>
            <a:endParaRPr/>
          </a:p>
        </p:txBody>
      </p:sp>
      <p:sp>
        <p:nvSpPr>
          <p:cNvPr id="418" name="Google Shape;418;p23"/>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15">
              <a:alphaModFix/>
            </a:blip>
            <a:stretch>
              <a:fillRect b="0" l="0" r="0" t="0"/>
            </a:stretch>
          </a:blipFill>
          <a:ln>
            <a:noFill/>
          </a:ln>
        </p:spPr>
      </p:sp>
      <p:sp>
        <p:nvSpPr>
          <p:cNvPr id="419" name="Google Shape;419;p23"/>
          <p:cNvSpPr/>
          <p:nvPr/>
        </p:nvSpPr>
        <p:spPr>
          <a:xfrm rot="5089641">
            <a:off x="10522647" y="-170647"/>
            <a:ext cx="1573859" cy="1433642"/>
          </a:xfrm>
          <a:custGeom>
            <a:rect b="b" l="l" r="r" t="t"/>
            <a:pathLst>
              <a:path extrusionOk="0" h="1433642" w="1573859">
                <a:moveTo>
                  <a:pt x="0" y="0"/>
                </a:moveTo>
                <a:lnTo>
                  <a:pt x="1573859" y="0"/>
                </a:lnTo>
                <a:lnTo>
                  <a:pt x="1573859" y="1433643"/>
                </a:lnTo>
                <a:lnTo>
                  <a:pt x="0" y="1433643"/>
                </a:lnTo>
                <a:lnTo>
                  <a:pt x="0" y="0"/>
                </a:lnTo>
                <a:close/>
              </a:path>
            </a:pathLst>
          </a:custGeom>
          <a:blipFill rotWithShape="1">
            <a:blip r:embed="rId16">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par>
                                <p:cTn fill="hold" nodeType="with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1000"/>
                                        <p:tgtEl>
                                          <p:spTgt spid="417"/>
                                        </p:tgtEl>
                                      </p:cBhvr>
                                    </p:animEffect>
                                  </p:childTnLst>
                                </p:cTn>
                              </p:par>
                              <p:par>
                                <p:cTn fill="hold" nodeType="with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1000"/>
                                        <p:tgtEl>
                                          <p:spTgt spid="418"/>
                                        </p:tgtEl>
                                      </p:cBhvr>
                                    </p:animEffect>
                                  </p:childTnLst>
                                </p:cTn>
                              </p:par>
                              <p:par>
                                <p:cTn fill="hold" nodeType="with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DFE"/>
        </a:solidFill>
      </p:bgPr>
    </p:bg>
    <p:spTree>
      <p:nvGrpSpPr>
        <p:cNvPr id="423" name="Shape 423"/>
        <p:cNvGrpSpPr/>
        <p:nvPr/>
      </p:nvGrpSpPr>
      <p:grpSpPr>
        <a:xfrm>
          <a:off x="0" y="0"/>
          <a:ext cx="0" cy="0"/>
          <a:chOff x="0" y="0"/>
          <a:chExt cx="0" cy="0"/>
        </a:xfrm>
      </p:grpSpPr>
      <p:sp>
        <p:nvSpPr>
          <p:cNvPr id="424" name="Google Shape;424;p24"/>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3">
              <a:alphaModFix/>
            </a:blip>
            <a:stretch>
              <a:fillRect b="0" l="0" r="0" t="0"/>
            </a:stretch>
          </a:blipFill>
          <a:ln>
            <a:noFill/>
          </a:ln>
        </p:spPr>
      </p:sp>
      <p:sp>
        <p:nvSpPr>
          <p:cNvPr id="425" name="Google Shape;425;p24"/>
          <p:cNvSpPr/>
          <p:nvPr/>
        </p:nvSpPr>
        <p:spPr>
          <a:xfrm rot="5089641">
            <a:off x="16728159" y="152511"/>
            <a:ext cx="1700877" cy="1549344"/>
          </a:xfrm>
          <a:custGeom>
            <a:rect b="b" l="l" r="r" t="t"/>
            <a:pathLst>
              <a:path extrusionOk="0" h="1549344" w="1700877">
                <a:moveTo>
                  <a:pt x="0" y="0"/>
                </a:moveTo>
                <a:lnTo>
                  <a:pt x="1700878" y="0"/>
                </a:lnTo>
                <a:lnTo>
                  <a:pt x="1700878" y="1549344"/>
                </a:lnTo>
                <a:lnTo>
                  <a:pt x="0" y="1549344"/>
                </a:lnTo>
                <a:lnTo>
                  <a:pt x="0" y="0"/>
                </a:lnTo>
                <a:close/>
              </a:path>
            </a:pathLst>
          </a:custGeom>
          <a:blipFill rotWithShape="1">
            <a:blip r:embed="rId4">
              <a:alphaModFix/>
            </a:blip>
            <a:stretch>
              <a:fillRect b="0" l="0" r="0" t="0"/>
            </a:stretch>
          </a:blipFill>
          <a:ln>
            <a:noFill/>
          </a:ln>
        </p:spPr>
      </p:sp>
      <p:sp>
        <p:nvSpPr>
          <p:cNvPr id="426" name="Google Shape;426;p24"/>
          <p:cNvSpPr/>
          <p:nvPr/>
        </p:nvSpPr>
        <p:spPr>
          <a:xfrm rot="-5399999">
            <a:off x="1661243" y="8661889"/>
            <a:ext cx="1700877" cy="1549344"/>
          </a:xfrm>
          <a:custGeom>
            <a:rect b="b" l="l" r="r" t="t"/>
            <a:pathLst>
              <a:path extrusionOk="0" h="1549344" w="1700877">
                <a:moveTo>
                  <a:pt x="0" y="0"/>
                </a:moveTo>
                <a:lnTo>
                  <a:pt x="1700877" y="0"/>
                </a:lnTo>
                <a:lnTo>
                  <a:pt x="1700877" y="1549345"/>
                </a:lnTo>
                <a:lnTo>
                  <a:pt x="0" y="1549345"/>
                </a:lnTo>
                <a:lnTo>
                  <a:pt x="0" y="0"/>
                </a:lnTo>
                <a:close/>
              </a:path>
            </a:pathLst>
          </a:custGeom>
          <a:blipFill rotWithShape="1">
            <a:blip r:embed="rId4">
              <a:alphaModFix/>
            </a:blip>
            <a:stretch>
              <a:fillRect b="0" l="0" r="0" t="0"/>
            </a:stretch>
          </a:blipFill>
          <a:ln>
            <a:noFill/>
          </a:ln>
        </p:spPr>
      </p:sp>
      <p:sp>
        <p:nvSpPr>
          <p:cNvPr id="427" name="Google Shape;427;p24"/>
          <p:cNvSpPr/>
          <p:nvPr/>
        </p:nvSpPr>
        <p:spPr>
          <a:xfrm>
            <a:off x="2932754" y="2525631"/>
            <a:ext cx="4021857" cy="6137634"/>
          </a:xfrm>
          <a:custGeom>
            <a:rect b="b" l="l" r="r" t="t"/>
            <a:pathLst>
              <a:path extrusionOk="0" h="6137634" w="4021857">
                <a:moveTo>
                  <a:pt x="0" y="0"/>
                </a:moveTo>
                <a:lnTo>
                  <a:pt x="4021857" y="0"/>
                </a:lnTo>
                <a:lnTo>
                  <a:pt x="4021857" y="6137635"/>
                </a:lnTo>
                <a:lnTo>
                  <a:pt x="0" y="6137635"/>
                </a:lnTo>
                <a:lnTo>
                  <a:pt x="0" y="0"/>
                </a:lnTo>
                <a:close/>
              </a:path>
            </a:pathLst>
          </a:custGeom>
          <a:blipFill rotWithShape="1">
            <a:blip r:embed="rId5">
              <a:alphaModFix/>
            </a:blip>
            <a:stretch>
              <a:fillRect b="0" l="0" r="-217500" t="0"/>
            </a:stretch>
          </a:blipFill>
          <a:ln>
            <a:noFill/>
          </a:ln>
        </p:spPr>
      </p:sp>
      <p:sp>
        <p:nvSpPr>
          <p:cNvPr id="428" name="Google Shape;428;p24"/>
          <p:cNvSpPr txBox="1"/>
          <p:nvPr/>
        </p:nvSpPr>
        <p:spPr>
          <a:xfrm>
            <a:off x="3799253" y="1219200"/>
            <a:ext cx="10056315" cy="9525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GLOSARIO</a:t>
            </a:r>
            <a:endParaRPr/>
          </a:p>
        </p:txBody>
      </p:sp>
      <p:sp>
        <p:nvSpPr>
          <p:cNvPr id="429" name="Google Shape;429;p24"/>
          <p:cNvSpPr/>
          <p:nvPr/>
        </p:nvSpPr>
        <p:spPr>
          <a:xfrm>
            <a:off x="7402286" y="2525631"/>
            <a:ext cx="4000500" cy="6137634"/>
          </a:xfrm>
          <a:custGeom>
            <a:rect b="b" l="l" r="r" t="t"/>
            <a:pathLst>
              <a:path extrusionOk="0" h="6137634" w="4000500">
                <a:moveTo>
                  <a:pt x="0" y="0"/>
                </a:moveTo>
                <a:lnTo>
                  <a:pt x="4000500" y="0"/>
                </a:lnTo>
                <a:lnTo>
                  <a:pt x="4000500" y="6137635"/>
                </a:lnTo>
                <a:lnTo>
                  <a:pt x="0" y="6137635"/>
                </a:lnTo>
                <a:lnTo>
                  <a:pt x="0" y="0"/>
                </a:lnTo>
                <a:close/>
              </a:path>
            </a:pathLst>
          </a:custGeom>
          <a:blipFill rotWithShape="1">
            <a:blip r:embed="rId5">
              <a:alphaModFix/>
            </a:blip>
            <a:stretch>
              <a:fillRect b="0" l="-108966" r="-110226" t="0"/>
            </a:stretch>
          </a:blipFill>
          <a:ln>
            <a:noFill/>
          </a:ln>
        </p:spPr>
      </p:sp>
      <p:sp>
        <p:nvSpPr>
          <p:cNvPr id="430" name="Google Shape;430;p24"/>
          <p:cNvSpPr/>
          <p:nvPr/>
        </p:nvSpPr>
        <p:spPr>
          <a:xfrm>
            <a:off x="11854794" y="2525631"/>
            <a:ext cx="4001547" cy="6137634"/>
          </a:xfrm>
          <a:custGeom>
            <a:rect b="b" l="l" r="r" t="t"/>
            <a:pathLst>
              <a:path extrusionOk="0" h="6137634" w="4001547">
                <a:moveTo>
                  <a:pt x="0" y="0"/>
                </a:moveTo>
                <a:lnTo>
                  <a:pt x="4001547" y="0"/>
                </a:lnTo>
                <a:lnTo>
                  <a:pt x="4001547" y="6137635"/>
                </a:lnTo>
                <a:lnTo>
                  <a:pt x="0" y="6137635"/>
                </a:lnTo>
                <a:lnTo>
                  <a:pt x="0" y="0"/>
                </a:lnTo>
                <a:close/>
              </a:path>
            </a:pathLst>
          </a:custGeom>
          <a:blipFill rotWithShape="1">
            <a:blip r:embed="rId5">
              <a:alphaModFix/>
            </a:blip>
            <a:stretch>
              <a:fillRect b="0" l="-219111" r="0" t="0"/>
            </a:stretch>
          </a:blipFill>
          <a:ln>
            <a:noFill/>
          </a:ln>
        </p:spPr>
      </p:sp>
      <p:sp>
        <p:nvSpPr>
          <p:cNvPr id="431" name="Google Shape;431;p24">
            <a:hlinkClick action="ppaction://hlinksldjump" r:id="rId6"/>
          </p:cNvPr>
          <p:cNvSpPr/>
          <p:nvPr/>
        </p:nvSpPr>
        <p:spPr>
          <a:xfrm>
            <a:off x="17510760" y="38627"/>
            <a:ext cx="762000" cy="647700"/>
          </a:xfrm>
          <a:prstGeom prst="leftArrow">
            <a:avLst>
              <a:gd fmla="val 50000" name="adj1"/>
              <a:gd fmla="val 50000" name="adj2"/>
            </a:avLst>
          </a:prstGeom>
          <a:solidFill>
            <a:srgbClr val="D8D2FA"/>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par>
                                <p:cTn fill="hold" nodeType="with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500"/>
                                        <p:tgtEl>
                                          <p:spTgt spid="425"/>
                                        </p:tgtEl>
                                      </p:cBhvr>
                                    </p:animEffect>
                                  </p:childTnLst>
                                </p:cTn>
                              </p:par>
                              <p:par>
                                <p:cTn fill="hold" nodeType="with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500"/>
                                        <p:tgtEl>
                                          <p:spTgt spid="426"/>
                                        </p:tgtEl>
                                      </p:cBhvr>
                                    </p:animEffect>
                                  </p:childTnLst>
                                </p:cTn>
                              </p:par>
                              <p:par>
                                <p:cTn fill="hold" nodeType="withEffect" presetClass="entr" presetID="10" presetSubtype="0">
                                  <p:stCondLst>
                                    <p:cond delay="0"/>
                                  </p:stCondLst>
                                  <p:childTnLst>
                                    <p:set>
                                      <p:cBhvr>
                                        <p:cTn dur="1" fill="hold">
                                          <p:stCondLst>
                                            <p:cond delay="0"/>
                                          </p:stCondLst>
                                        </p:cTn>
                                        <p:tgtEl>
                                          <p:spTgt spid="427"/>
                                        </p:tgtEl>
                                        <p:attrNameLst>
                                          <p:attrName>style.visibility</p:attrName>
                                        </p:attrNameLst>
                                      </p:cBhvr>
                                      <p:to>
                                        <p:strVal val="visible"/>
                                      </p:to>
                                    </p:set>
                                    <p:animEffect filter="fade" transition="in">
                                      <p:cBhvr>
                                        <p:cTn dur="500"/>
                                        <p:tgtEl>
                                          <p:spTgt spid="427"/>
                                        </p:tgtEl>
                                      </p:cBhvr>
                                    </p:animEffect>
                                  </p:childTnLst>
                                </p:cTn>
                              </p:par>
                              <p:par>
                                <p:cTn fill="hold" nodeType="with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500"/>
                                        <p:tgtEl>
                                          <p:spTgt spid="428"/>
                                        </p:tgtEl>
                                      </p:cBhvr>
                                    </p:animEffect>
                                  </p:childTnLst>
                                </p:cTn>
                              </p:par>
                              <p:par>
                                <p:cTn fill="hold" nodeType="with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500"/>
                                        <p:tgtEl>
                                          <p:spTgt spid="429"/>
                                        </p:tgtEl>
                                      </p:cBhvr>
                                    </p:animEffect>
                                  </p:childTnLst>
                                </p:cTn>
                              </p:par>
                              <p:par>
                                <p:cTn fill="hold" nodeType="with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500"/>
                                        <p:tgtEl>
                                          <p:spTgt spid="430"/>
                                        </p:tgtEl>
                                      </p:cBhvr>
                                    </p:animEffect>
                                  </p:childTnLst>
                                </p:cTn>
                              </p:par>
                              <p:par>
                                <p:cTn fill="hold" nodeType="with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435" name="Shape 435"/>
        <p:cNvGrpSpPr/>
        <p:nvPr/>
      </p:nvGrpSpPr>
      <p:grpSpPr>
        <a:xfrm>
          <a:off x="0" y="0"/>
          <a:ext cx="0" cy="0"/>
          <a:chOff x="0" y="0"/>
          <a:chExt cx="0" cy="0"/>
        </a:xfrm>
      </p:grpSpPr>
      <p:sp>
        <p:nvSpPr>
          <p:cNvPr id="436" name="Google Shape;436;p25"/>
          <p:cNvSpPr txBox="1"/>
          <p:nvPr/>
        </p:nvSpPr>
        <p:spPr>
          <a:xfrm>
            <a:off x="1028700" y="1930502"/>
            <a:ext cx="16230600" cy="743793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000">
                <a:solidFill>
                  <a:srgbClr val="503C30"/>
                </a:solidFill>
                <a:latin typeface="Inter"/>
                <a:ea typeface="Inter"/>
                <a:cs typeface="Inter"/>
                <a:sym typeface="Inter"/>
              </a:rPr>
              <a:t>Una trama (frame) es la unidad básica de datos usada en la capa de enlace de datos del modelo OSI.Sirve para enviar información entre dispositivos cercanos dentro de una misma red (por ejemplo, entre tu PC y el router).Cada trama está formada por tres partes:</a:t>
            </a:r>
            <a:endParaRPr/>
          </a:p>
          <a:p>
            <a:pPr indent="0" lvl="0" marL="0" marR="0" rtl="0" algn="l">
              <a:lnSpc>
                <a:spcPct val="140000"/>
              </a:lnSpc>
              <a:spcBef>
                <a:spcPts val="0"/>
              </a:spcBef>
              <a:spcAft>
                <a:spcPts val="0"/>
              </a:spcAft>
              <a:buNone/>
            </a:pPr>
            <a:r>
              <a:t/>
            </a:r>
            <a:endParaRPr sz="3000">
              <a:solidFill>
                <a:srgbClr val="503C30"/>
              </a:solidFill>
              <a:latin typeface="Inter"/>
              <a:ea typeface="Inter"/>
              <a:cs typeface="Inter"/>
              <a:sym typeface="Inter"/>
            </a:endParaRPr>
          </a:p>
          <a:p>
            <a:pPr indent="-323850" lvl="1" marL="647700" marR="0" rtl="0" algn="l">
              <a:lnSpc>
                <a:spcPct val="140000"/>
              </a:lnSpc>
              <a:spcBef>
                <a:spcPts val="0"/>
              </a:spcBef>
              <a:spcAft>
                <a:spcPts val="0"/>
              </a:spcAft>
              <a:buClr>
                <a:srgbClr val="503C30"/>
              </a:buClr>
              <a:buSzPts val="3000"/>
              <a:buFont typeface="Arial"/>
              <a:buChar char="•"/>
            </a:pPr>
            <a:r>
              <a:rPr b="0" i="0" lang="en-US" sz="3000" u="none" cap="none" strike="noStrike">
                <a:solidFill>
                  <a:srgbClr val="503C30"/>
                </a:solidFill>
                <a:latin typeface="Inter"/>
                <a:ea typeface="Inter"/>
                <a:cs typeface="Inter"/>
                <a:sym typeface="Inter"/>
              </a:rPr>
              <a:t>Cabecera: Contiene las direcciones MAC de origen y destino.</a:t>
            </a:r>
            <a:endParaRPr/>
          </a:p>
          <a:p>
            <a:pPr indent="-323850" lvl="1" marL="647700" marR="0" rtl="0" algn="l">
              <a:lnSpc>
                <a:spcPct val="140000"/>
              </a:lnSpc>
              <a:spcBef>
                <a:spcPts val="0"/>
              </a:spcBef>
              <a:spcAft>
                <a:spcPts val="0"/>
              </a:spcAft>
              <a:buClr>
                <a:srgbClr val="503C30"/>
              </a:buClr>
              <a:buSzPts val="3000"/>
              <a:buFont typeface="Arial"/>
              <a:buChar char="•"/>
            </a:pPr>
            <a:r>
              <a:rPr b="0" i="0" lang="en-US" sz="3000" u="none" cap="none" strike="noStrike">
                <a:solidFill>
                  <a:srgbClr val="503C30"/>
                </a:solidFill>
                <a:latin typeface="Inter"/>
                <a:ea typeface="Inter"/>
                <a:cs typeface="Inter"/>
                <a:sym typeface="Inter"/>
              </a:rPr>
              <a:t>Carga útil: Es la información real que se transmite (por ejemplo, un paquete IP).</a:t>
            </a:r>
            <a:endParaRPr/>
          </a:p>
          <a:p>
            <a:pPr indent="-323850" lvl="1" marL="647700" marR="0" rtl="0" algn="l">
              <a:lnSpc>
                <a:spcPct val="140000"/>
              </a:lnSpc>
              <a:spcBef>
                <a:spcPts val="0"/>
              </a:spcBef>
              <a:spcAft>
                <a:spcPts val="0"/>
              </a:spcAft>
              <a:buClr>
                <a:srgbClr val="503C30"/>
              </a:buClr>
              <a:buSzPts val="3000"/>
              <a:buFont typeface="Arial"/>
              <a:buChar char="•"/>
            </a:pPr>
            <a:r>
              <a:rPr b="0" i="0" lang="en-US" sz="3000" u="none" cap="none" strike="noStrike">
                <a:solidFill>
                  <a:srgbClr val="503C30"/>
                </a:solidFill>
                <a:latin typeface="Inter"/>
                <a:ea typeface="Inter"/>
                <a:cs typeface="Inter"/>
                <a:sym typeface="Inter"/>
              </a:rPr>
              <a:t>Tráiler: Incluye un código de verificación (CRC) para detectar errores.</a:t>
            </a:r>
            <a:endParaRPr/>
          </a:p>
          <a:p>
            <a:pPr indent="0" lvl="0" marL="0" marR="0" rtl="0" algn="l">
              <a:lnSpc>
                <a:spcPct val="140000"/>
              </a:lnSpc>
              <a:spcBef>
                <a:spcPts val="0"/>
              </a:spcBef>
              <a:spcAft>
                <a:spcPts val="0"/>
              </a:spcAft>
              <a:buNone/>
            </a:pPr>
            <a:r>
              <a:t/>
            </a:r>
            <a:endParaRPr sz="3000">
              <a:solidFill>
                <a:srgbClr val="503C30"/>
              </a:solidFill>
              <a:latin typeface="Inter"/>
              <a:ea typeface="Inter"/>
              <a:cs typeface="Inter"/>
              <a:sym typeface="Inter"/>
            </a:endParaRPr>
          </a:p>
          <a:p>
            <a:pPr indent="0" lvl="0" marL="0" marR="0" rtl="0" algn="l">
              <a:lnSpc>
                <a:spcPct val="140000"/>
              </a:lnSpc>
              <a:spcBef>
                <a:spcPts val="0"/>
              </a:spcBef>
              <a:spcAft>
                <a:spcPts val="0"/>
              </a:spcAft>
              <a:buNone/>
            </a:pPr>
            <a:r>
              <a:rPr lang="en-US" sz="3000">
                <a:solidFill>
                  <a:srgbClr val="503C30"/>
                </a:solidFill>
                <a:latin typeface="Inter"/>
                <a:ea typeface="Inter"/>
                <a:cs typeface="Inter"/>
                <a:sym typeface="Inter"/>
              </a:rPr>
              <a:t>El tamaño y el formato de la trama dependen del protocolo usado, como Ethernet, Wi-Fi o Bluetooth.Ejemplos:Una trama Ethernet puede medir hasta 1518 bytes.Una trama Wi-Fi puede llegar hasta 2346 bytes.(Deepanshu, 2024)</a:t>
            </a:r>
            <a:endParaRPr/>
          </a:p>
          <a:p>
            <a:pPr indent="0" lvl="0" marL="0" marR="0" rtl="0" algn="l">
              <a:lnSpc>
                <a:spcPct val="112000"/>
              </a:lnSpc>
              <a:spcBef>
                <a:spcPts val="0"/>
              </a:spcBef>
              <a:spcAft>
                <a:spcPts val="0"/>
              </a:spcAft>
              <a:buNone/>
            </a:pPr>
            <a:r>
              <a:t/>
            </a:r>
            <a:endParaRPr sz="3000">
              <a:solidFill>
                <a:srgbClr val="503C30"/>
              </a:solidFill>
              <a:latin typeface="Inter"/>
              <a:ea typeface="Inter"/>
              <a:cs typeface="Inter"/>
              <a:sym typeface="Inter"/>
            </a:endParaRPr>
          </a:p>
        </p:txBody>
      </p:sp>
      <p:sp>
        <p:nvSpPr>
          <p:cNvPr id="437" name="Google Shape;437;p25"/>
          <p:cNvSpPr txBox="1"/>
          <p:nvPr/>
        </p:nvSpPr>
        <p:spPr>
          <a:xfrm>
            <a:off x="2652350" y="647700"/>
            <a:ext cx="12489000" cy="10620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¿QUÉ ES UNA TRAMA?</a:t>
            </a:r>
            <a:endParaRPr/>
          </a:p>
        </p:txBody>
      </p:sp>
      <p:sp>
        <p:nvSpPr>
          <p:cNvPr id="438" name="Google Shape;438;p25"/>
          <p:cNvSpPr/>
          <p:nvPr/>
        </p:nvSpPr>
        <p:spPr>
          <a:xfrm rot="-1258227">
            <a:off x="-202998" y="8963887"/>
            <a:ext cx="2463395" cy="2646226"/>
          </a:xfrm>
          <a:custGeom>
            <a:rect b="b" l="l" r="r" t="t"/>
            <a:pathLst>
              <a:path extrusionOk="0" h="2646226" w="2463395">
                <a:moveTo>
                  <a:pt x="0" y="0"/>
                </a:moveTo>
                <a:lnTo>
                  <a:pt x="2463396" y="0"/>
                </a:lnTo>
                <a:lnTo>
                  <a:pt x="2463396" y="2646226"/>
                </a:lnTo>
                <a:lnTo>
                  <a:pt x="0" y="2646226"/>
                </a:lnTo>
                <a:lnTo>
                  <a:pt x="0" y="0"/>
                </a:lnTo>
                <a:close/>
              </a:path>
            </a:pathLst>
          </a:custGeom>
          <a:blipFill rotWithShape="1">
            <a:blip r:embed="rId3">
              <a:alphaModFix/>
            </a:blip>
            <a:stretch>
              <a:fillRect b="0" l="0" r="0" t="0"/>
            </a:stretch>
          </a:blipFill>
          <a:ln>
            <a:noFill/>
          </a:ln>
        </p:spPr>
      </p:sp>
      <p:sp>
        <p:nvSpPr>
          <p:cNvPr id="439" name="Google Shape;439;p25"/>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4">
              <a:alphaModFix/>
            </a:blip>
            <a:stretch>
              <a:fillRect b="0" l="0" r="0" t="0"/>
            </a:stretch>
          </a:blipFill>
          <a:ln>
            <a:noFill/>
          </a:ln>
        </p:spPr>
      </p:sp>
      <p:sp>
        <p:nvSpPr>
          <p:cNvPr id="440" name="Google Shape;440;p25"/>
          <p:cNvSpPr/>
          <p:nvPr/>
        </p:nvSpPr>
        <p:spPr>
          <a:xfrm rot="5089892">
            <a:off x="15952345" y="-53529"/>
            <a:ext cx="1572383" cy="1432297"/>
          </a:xfrm>
          <a:custGeom>
            <a:rect b="b" l="l" r="r" t="t"/>
            <a:pathLst>
              <a:path extrusionOk="0" h="1433642" w="1573859">
                <a:moveTo>
                  <a:pt x="0" y="0"/>
                </a:moveTo>
                <a:lnTo>
                  <a:pt x="1573859" y="0"/>
                </a:lnTo>
                <a:lnTo>
                  <a:pt x="1573859" y="1433642"/>
                </a:lnTo>
                <a:lnTo>
                  <a:pt x="0" y="143364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par>
                                <p:cTn fill="hold" nodeType="with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500"/>
                                        <p:tgtEl>
                                          <p:spTgt spid="437"/>
                                        </p:tgtEl>
                                      </p:cBhvr>
                                    </p:animEffect>
                                  </p:childTnLst>
                                </p:cTn>
                              </p:par>
                              <p:par>
                                <p:cTn fill="hold" nodeType="with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500"/>
                                        <p:tgtEl>
                                          <p:spTgt spid="438"/>
                                        </p:tgtEl>
                                      </p:cBhvr>
                                    </p:animEffect>
                                  </p:childTnLst>
                                </p:cTn>
                              </p:par>
                              <p:par>
                                <p:cTn fill="hold" nodeType="with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500"/>
                                        <p:tgtEl>
                                          <p:spTgt spid="439"/>
                                        </p:tgtEl>
                                      </p:cBhvr>
                                    </p:animEffect>
                                  </p:childTnLst>
                                </p:cTn>
                              </p:par>
                              <p:par>
                                <p:cTn fill="hold" nodeType="with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500"/>
                                        <p:tgtEl>
                                          <p:spTgt spid="4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444" name="Shape 444"/>
        <p:cNvGrpSpPr/>
        <p:nvPr/>
      </p:nvGrpSpPr>
      <p:grpSpPr>
        <a:xfrm>
          <a:off x="0" y="0"/>
          <a:ext cx="0" cy="0"/>
          <a:chOff x="0" y="0"/>
          <a:chExt cx="0" cy="0"/>
        </a:xfrm>
      </p:grpSpPr>
      <p:sp>
        <p:nvSpPr>
          <p:cNvPr id="445" name="Google Shape;445;p26"/>
          <p:cNvSpPr/>
          <p:nvPr/>
        </p:nvSpPr>
        <p:spPr>
          <a:xfrm rot="-1258227">
            <a:off x="-202998" y="8963887"/>
            <a:ext cx="2463395" cy="2646226"/>
          </a:xfrm>
          <a:custGeom>
            <a:rect b="b" l="l" r="r" t="t"/>
            <a:pathLst>
              <a:path extrusionOk="0" h="2646226" w="2463395">
                <a:moveTo>
                  <a:pt x="0" y="0"/>
                </a:moveTo>
                <a:lnTo>
                  <a:pt x="2463396" y="0"/>
                </a:lnTo>
                <a:lnTo>
                  <a:pt x="2463396" y="2646226"/>
                </a:lnTo>
                <a:lnTo>
                  <a:pt x="0" y="2646226"/>
                </a:lnTo>
                <a:lnTo>
                  <a:pt x="0" y="0"/>
                </a:lnTo>
                <a:close/>
              </a:path>
            </a:pathLst>
          </a:custGeom>
          <a:blipFill rotWithShape="1">
            <a:blip r:embed="rId3">
              <a:alphaModFix/>
            </a:blip>
            <a:stretch>
              <a:fillRect b="0" l="0" r="0" t="0"/>
            </a:stretch>
          </a:blipFill>
          <a:ln>
            <a:noFill/>
          </a:ln>
        </p:spPr>
      </p:sp>
      <p:sp>
        <p:nvSpPr>
          <p:cNvPr id="446" name="Google Shape;446;p26"/>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4">
              <a:alphaModFix/>
            </a:blip>
            <a:stretch>
              <a:fillRect b="0" l="0" r="0" t="0"/>
            </a:stretch>
          </a:blipFill>
          <a:ln>
            <a:noFill/>
          </a:ln>
        </p:spPr>
      </p:sp>
      <p:sp>
        <p:nvSpPr>
          <p:cNvPr id="447" name="Google Shape;447;p26"/>
          <p:cNvSpPr/>
          <p:nvPr/>
        </p:nvSpPr>
        <p:spPr>
          <a:xfrm rot="5089892">
            <a:off x="14539412" y="131351"/>
            <a:ext cx="1572383" cy="1432297"/>
          </a:xfrm>
          <a:custGeom>
            <a:rect b="b" l="l" r="r" t="t"/>
            <a:pathLst>
              <a:path extrusionOk="0" h="1433642" w="1573859">
                <a:moveTo>
                  <a:pt x="0" y="0"/>
                </a:moveTo>
                <a:lnTo>
                  <a:pt x="1573859" y="0"/>
                </a:lnTo>
                <a:lnTo>
                  <a:pt x="1573859" y="1433642"/>
                </a:lnTo>
                <a:lnTo>
                  <a:pt x="0" y="1433642"/>
                </a:lnTo>
                <a:lnTo>
                  <a:pt x="0" y="0"/>
                </a:lnTo>
                <a:close/>
              </a:path>
            </a:pathLst>
          </a:custGeom>
          <a:blipFill rotWithShape="1">
            <a:blip r:embed="rId5">
              <a:alphaModFix/>
            </a:blip>
            <a:stretch>
              <a:fillRect b="0" l="0" r="0" t="0"/>
            </a:stretch>
          </a:blipFill>
          <a:ln>
            <a:noFill/>
          </a:ln>
        </p:spPr>
      </p:sp>
      <p:sp>
        <p:nvSpPr>
          <p:cNvPr id="448" name="Google Shape;448;p26"/>
          <p:cNvSpPr txBox="1"/>
          <p:nvPr/>
        </p:nvSpPr>
        <p:spPr>
          <a:xfrm>
            <a:off x="4115843" y="647700"/>
            <a:ext cx="10056315" cy="9525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EJEMPLO TRAMA</a:t>
            </a:r>
            <a:endParaRPr/>
          </a:p>
        </p:txBody>
      </p:sp>
      <p:sp>
        <p:nvSpPr>
          <p:cNvPr id="449" name="Google Shape;449;p26"/>
          <p:cNvSpPr txBox="1"/>
          <p:nvPr/>
        </p:nvSpPr>
        <p:spPr>
          <a:xfrm>
            <a:off x="1028700" y="2371150"/>
            <a:ext cx="16230600" cy="6924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000">
                <a:solidFill>
                  <a:srgbClr val="503C30"/>
                </a:solidFill>
                <a:latin typeface="Inter"/>
                <a:ea typeface="Inter"/>
                <a:cs typeface="Inter"/>
                <a:sym typeface="Inter"/>
              </a:rPr>
              <a:t>U</a:t>
            </a:r>
            <a:r>
              <a:rPr lang="en-US" sz="3000" u="none" strike="noStrike">
                <a:solidFill>
                  <a:srgbClr val="503C30"/>
                </a:solidFill>
                <a:latin typeface="Inter"/>
                <a:ea typeface="Inter"/>
                <a:cs typeface="Inter"/>
                <a:sym typeface="Inter"/>
              </a:rPr>
              <a:t>na trama funciona como un sobre usado para enviar un mensaje dentro de una misma red local.</a:t>
            </a:r>
            <a:endParaRPr/>
          </a:p>
          <a:p>
            <a:pPr indent="0" lvl="0" marL="0" marR="0" rtl="0" algn="l">
              <a:lnSpc>
                <a:spcPct val="140000"/>
              </a:lnSpc>
              <a:spcBef>
                <a:spcPts val="0"/>
              </a:spcBef>
              <a:spcAft>
                <a:spcPts val="0"/>
              </a:spcAft>
              <a:buNone/>
            </a:pPr>
            <a:r>
              <a:rPr lang="en-US" sz="3000" u="none" strike="noStrike">
                <a:solidFill>
                  <a:srgbClr val="503C30"/>
                </a:solidFill>
                <a:latin typeface="Inter"/>
                <a:ea typeface="Inter"/>
                <a:cs typeface="Inter"/>
                <a:sym typeface="Inter"/>
              </a:rPr>
              <a:t>En el ejemplo del edificio:</a:t>
            </a:r>
            <a:endParaRPr/>
          </a:p>
          <a:p>
            <a:pPr indent="0" lvl="0" marL="0" marR="0" rtl="0" algn="l">
              <a:lnSpc>
                <a:spcPct val="140000"/>
              </a:lnSpc>
              <a:spcBef>
                <a:spcPts val="0"/>
              </a:spcBef>
              <a:spcAft>
                <a:spcPts val="0"/>
              </a:spcAft>
              <a:buNone/>
            </a:pPr>
            <a:r>
              <a:rPr lang="en-US" sz="3000" u="none" strike="noStrike">
                <a:solidFill>
                  <a:srgbClr val="503C30"/>
                </a:solidFill>
                <a:latin typeface="Inter"/>
                <a:ea typeface="Inter"/>
                <a:cs typeface="Inter"/>
                <a:sym typeface="Inter"/>
              </a:rPr>
              <a:t>La cabecera es como lo que escribes afuera del sobre:</a:t>
            </a:r>
            <a:endParaRPr/>
          </a:p>
          <a:p>
            <a:pPr indent="0" lvl="0" marL="0" marR="0" rtl="0" algn="l">
              <a:lnSpc>
                <a:spcPct val="140000"/>
              </a:lnSpc>
              <a:spcBef>
                <a:spcPts val="0"/>
              </a:spcBef>
              <a:spcAft>
                <a:spcPts val="0"/>
              </a:spcAft>
              <a:buNone/>
            </a:pPr>
            <a:r>
              <a:rPr lang="en-US" sz="3000" u="none" strike="noStrike">
                <a:solidFill>
                  <a:srgbClr val="503C30"/>
                </a:solidFill>
                <a:latin typeface="Inter"/>
                <a:ea typeface="Inter"/>
                <a:cs typeface="Inter"/>
                <a:sym typeface="Inter"/>
              </a:rPr>
              <a:t>Apartamento 5 → Apartamento 7 (direcciones MAC de origen y destino).</a:t>
            </a:r>
            <a:endParaRPr/>
          </a:p>
          <a:p>
            <a:pPr indent="0" lvl="0" marL="0" marR="0" rtl="0" algn="l">
              <a:lnSpc>
                <a:spcPct val="140000"/>
              </a:lnSpc>
              <a:spcBef>
                <a:spcPts val="0"/>
              </a:spcBef>
              <a:spcAft>
                <a:spcPts val="0"/>
              </a:spcAft>
              <a:buNone/>
            </a:pPr>
            <a:r>
              <a:rPr lang="en-US" sz="3000" u="none" strike="noStrike">
                <a:solidFill>
                  <a:srgbClr val="503C30"/>
                </a:solidFill>
                <a:latin typeface="Inter"/>
                <a:ea typeface="Inter"/>
                <a:cs typeface="Inter"/>
                <a:sym typeface="Inter"/>
              </a:rPr>
              <a:t>La carga útil es la carta que va dentro (los datos que se envían, como un paquete IP).</a:t>
            </a:r>
            <a:endParaRPr/>
          </a:p>
          <a:p>
            <a:pPr indent="0" lvl="0" marL="0" marR="0" rtl="0" algn="l">
              <a:lnSpc>
                <a:spcPct val="140000"/>
              </a:lnSpc>
              <a:spcBef>
                <a:spcPts val="0"/>
              </a:spcBef>
              <a:spcAft>
                <a:spcPts val="0"/>
              </a:spcAft>
              <a:buNone/>
            </a:pPr>
            <a:r>
              <a:rPr lang="en-US" sz="3000" u="none" strike="noStrike">
                <a:solidFill>
                  <a:srgbClr val="503C30"/>
                </a:solidFill>
                <a:latin typeface="Inter"/>
                <a:ea typeface="Inter"/>
                <a:cs typeface="Inter"/>
                <a:sym typeface="Inter"/>
              </a:rPr>
              <a:t>El tráiler es una etiqueta de verificación que sirve para comprobar si la carta llegó sin daños (CRC).</a:t>
            </a:r>
            <a:endParaRPr/>
          </a:p>
          <a:p>
            <a:pPr indent="0" lvl="0" marL="0" marR="0" rtl="0" algn="l">
              <a:lnSpc>
                <a:spcPct val="140000"/>
              </a:lnSpc>
              <a:spcBef>
                <a:spcPts val="0"/>
              </a:spcBef>
              <a:spcAft>
                <a:spcPts val="0"/>
              </a:spcAft>
              <a:buNone/>
            </a:pPr>
            <a:r>
              <a:rPr lang="en-US" sz="3000" u="none" strike="noStrike">
                <a:solidFill>
                  <a:srgbClr val="503C30"/>
                </a:solidFill>
                <a:latin typeface="Inter"/>
                <a:ea typeface="Inter"/>
                <a:cs typeface="Inter"/>
                <a:sym typeface="Inter"/>
              </a:rPr>
              <a:t>La capa de enlace de datos (capa 2) crea este “sobre” completo, y la capa física (capa 1) actúa como el mensajero que transporta el sobre por el “pasillo” (cable o Wi-Fi) hasta el destino.Si todo llega bien, el destinatario abre el sobre y usa los datos.Si hay daños, se detectan gracias al CRC y se solicita reenviar.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500"/>
                                        <p:tgtEl>
                                          <p:spTgt spid="445"/>
                                        </p:tgtEl>
                                      </p:cBhvr>
                                    </p:animEffect>
                                  </p:childTnLst>
                                </p:cTn>
                              </p:par>
                              <p:par>
                                <p:cTn fill="hold" nodeType="with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par>
                                <p:cTn fill="hold" nodeType="with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par>
                                <p:cTn fill="hold" nodeType="with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500"/>
                                        <p:tgtEl>
                                          <p:spTgt spid="448"/>
                                        </p:tgtEl>
                                      </p:cBhvr>
                                    </p:animEffect>
                                  </p:childTnLst>
                                </p:cTn>
                              </p:par>
                              <p:par>
                                <p:cTn fill="hold" nodeType="with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500"/>
                                        <p:tgtEl>
                                          <p:spTgt spid="4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453" name="Shape 453"/>
        <p:cNvGrpSpPr/>
        <p:nvPr/>
      </p:nvGrpSpPr>
      <p:grpSpPr>
        <a:xfrm>
          <a:off x="0" y="0"/>
          <a:ext cx="0" cy="0"/>
          <a:chOff x="0" y="0"/>
          <a:chExt cx="0" cy="0"/>
        </a:xfrm>
      </p:grpSpPr>
      <p:sp>
        <p:nvSpPr>
          <p:cNvPr id="454" name="Google Shape;454;p27"/>
          <p:cNvSpPr/>
          <p:nvPr/>
        </p:nvSpPr>
        <p:spPr>
          <a:xfrm rot="-1258227">
            <a:off x="-202998" y="8963887"/>
            <a:ext cx="2463395" cy="2646226"/>
          </a:xfrm>
          <a:custGeom>
            <a:rect b="b" l="l" r="r" t="t"/>
            <a:pathLst>
              <a:path extrusionOk="0" h="2646226" w="2463395">
                <a:moveTo>
                  <a:pt x="0" y="0"/>
                </a:moveTo>
                <a:lnTo>
                  <a:pt x="2463396" y="0"/>
                </a:lnTo>
                <a:lnTo>
                  <a:pt x="2463396" y="2646226"/>
                </a:lnTo>
                <a:lnTo>
                  <a:pt x="0" y="2646226"/>
                </a:lnTo>
                <a:lnTo>
                  <a:pt x="0" y="0"/>
                </a:lnTo>
                <a:close/>
              </a:path>
            </a:pathLst>
          </a:custGeom>
          <a:blipFill rotWithShape="1">
            <a:blip r:embed="rId3">
              <a:alphaModFix/>
            </a:blip>
            <a:stretch>
              <a:fillRect b="0" l="0" r="0" t="0"/>
            </a:stretch>
          </a:blipFill>
          <a:ln>
            <a:noFill/>
          </a:ln>
        </p:spPr>
      </p:sp>
      <p:sp>
        <p:nvSpPr>
          <p:cNvPr id="455" name="Google Shape;455;p27"/>
          <p:cNvSpPr/>
          <p:nvPr/>
        </p:nvSpPr>
        <p:spPr>
          <a:xfrm rot="4094958">
            <a:off x="15767105" y="4458767"/>
            <a:ext cx="1910240" cy="1967476"/>
          </a:xfrm>
          <a:custGeom>
            <a:rect b="b" l="l" r="r" t="t"/>
            <a:pathLst>
              <a:path extrusionOk="0" h="1967476" w="1910240">
                <a:moveTo>
                  <a:pt x="0" y="0"/>
                </a:moveTo>
                <a:lnTo>
                  <a:pt x="1910240" y="0"/>
                </a:lnTo>
                <a:lnTo>
                  <a:pt x="1910240" y="1967476"/>
                </a:lnTo>
                <a:lnTo>
                  <a:pt x="0" y="1967476"/>
                </a:lnTo>
                <a:lnTo>
                  <a:pt x="0" y="0"/>
                </a:lnTo>
                <a:close/>
              </a:path>
            </a:pathLst>
          </a:custGeom>
          <a:blipFill rotWithShape="1">
            <a:blip r:embed="rId4">
              <a:alphaModFix/>
            </a:blip>
            <a:stretch>
              <a:fillRect b="0" l="0" r="0" t="0"/>
            </a:stretch>
          </a:blipFill>
          <a:ln>
            <a:noFill/>
          </a:ln>
        </p:spPr>
      </p:sp>
      <p:sp>
        <p:nvSpPr>
          <p:cNvPr id="456" name="Google Shape;456;p27"/>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5">
              <a:alphaModFix/>
            </a:blip>
            <a:stretch>
              <a:fillRect b="0" l="0" r="0" t="0"/>
            </a:stretch>
          </a:blipFill>
          <a:ln>
            <a:noFill/>
          </a:ln>
        </p:spPr>
      </p:sp>
      <p:sp>
        <p:nvSpPr>
          <p:cNvPr id="457" name="Google Shape;457;p27"/>
          <p:cNvSpPr/>
          <p:nvPr/>
        </p:nvSpPr>
        <p:spPr>
          <a:xfrm rot="5089892">
            <a:off x="16972696" y="-53537"/>
            <a:ext cx="1572383" cy="1432297"/>
          </a:xfrm>
          <a:custGeom>
            <a:rect b="b" l="l" r="r" t="t"/>
            <a:pathLst>
              <a:path extrusionOk="0" h="1433642" w="1573859">
                <a:moveTo>
                  <a:pt x="0" y="0"/>
                </a:moveTo>
                <a:lnTo>
                  <a:pt x="1573859" y="0"/>
                </a:lnTo>
                <a:lnTo>
                  <a:pt x="1573859" y="1433642"/>
                </a:lnTo>
                <a:lnTo>
                  <a:pt x="0" y="1433642"/>
                </a:lnTo>
                <a:lnTo>
                  <a:pt x="0" y="0"/>
                </a:lnTo>
                <a:close/>
              </a:path>
            </a:pathLst>
          </a:custGeom>
          <a:blipFill rotWithShape="1">
            <a:blip r:embed="rId6">
              <a:alphaModFix/>
            </a:blip>
            <a:stretch>
              <a:fillRect b="0" l="0" r="0" t="0"/>
            </a:stretch>
          </a:blipFill>
          <a:ln>
            <a:noFill/>
          </a:ln>
        </p:spPr>
      </p:sp>
      <p:sp>
        <p:nvSpPr>
          <p:cNvPr id="458" name="Google Shape;458;p27"/>
          <p:cNvSpPr txBox="1"/>
          <p:nvPr/>
        </p:nvSpPr>
        <p:spPr>
          <a:xfrm>
            <a:off x="1123600" y="647700"/>
            <a:ext cx="15849900" cy="10620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 </a:t>
            </a:r>
            <a:r>
              <a:rPr lang="en-US" sz="6900">
                <a:solidFill>
                  <a:srgbClr val="503C30"/>
                </a:solidFill>
                <a:latin typeface="Arial"/>
                <a:ea typeface="Arial"/>
                <a:cs typeface="Arial"/>
                <a:sym typeface="Arial"/>
              </a:rPr>
              <a:t>TIEMPOS DE PASO POR CADA FASE</a:t>
            </a:r>
            <a:endParaRPr sz="800"/>
          </a:p>
        </p:txBody>
      </p:sp>
      <p:sp>
        <p:nvSpPr>
          <p:cNvPr id="459" name="Google Shape;459;p27"/>
          <p:cNvSpPr txBox="1"/>
          <p:nvPr/>
        </p:nvSpPr>
        <p:spPr>
          <a:xfrm>
            <a:off x="1028700" y="1857265"/>
            <a:ext cx="16230600" cy="792035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lang="en-US" sz="2799" u="sng">
                <a:solidFill>
                  <a:srgbClr val="503C30"/>
                </a:solidFill>
                <a:latin typeface="Inter"/>
                <a:ea typeface="Inter"/>
                <a:cs typeface="Inter"/>
                <a:sym typeface="Inter"/>
                <a:hlinkClick action="ppaction://hlinksldjump" r:id="rId7">
                  <a:extLst>
                    <a:ext uri="{A12FA001-AC4F-418D-AE19-62706E023703}">
                      <ahyp:hlinkClr val="tx"/>
                    </a:ext>
                  </a:extLst>
                </a:hlinkClick>
              </a:rPr>
              <a:t>No existen tiempos fijos para cada capa del Modelo OSI, porque el procesamiento depende del hardware, el software y la carga de la red.</a:t>
            </a:r>
            <a:endParaRPr/>
          </a:p>
          <a:p>
            <a:pPr indent="0" lvl="0" marL="0" marR="0" rtl="0" algn="l">
              <a:lnSpc>
                <a:spcPct val="140014"/>
              </a:lnSpc>
              <a:spcBef>
                <a:spcPts val="0"/>
              </a:spcBef>
              <a:spcAft>
                <a:spcPts val="0"/>
              </a:spcAft>
              <a:buNone/>
            </a:pPr>
            <a:r>
              <a:rPr lang="en-US" sz="2799" u="sng">
                <a:solidFill>
                  <a:srgbClr val="503C30"/>
                </a:solidFill>
                <a:latin typeface="Inter"/>
                <a:ea typeface="Inter"/>
                <a:cs typeface="Inter"/>
                <a:sym typeface="Inter"/>
                <a:hlinkClick action="ppaction://hlinksldjump" r:id="rId8">
                  <a:extLst>
                    <a:ext uri="{A12FA001-AC4F-418D-AE19-62706E023703}">
                      <ahyp:hlinkClr val="tx"/>
                    </a:ext>
                  </a:extLst>
                </a:hlinkClick>
              </a:rPr>
              <a:t> En vez de tiempos exactos, se analiza el retardo de procesamiento, que varía según lo difícil que sea la tarea de cada capa.</a:t>
            </a:r>
            <a:endParaRPr/>
          </a:p>
          <a:p>
            <a:pPr indent="0" lvl="0" marL="0" marR="0" rtl="0" algn="l">
              <a:lnSpc>
                <a:spcPct val="140014"/>
              </a:lnSpc>
              <a:spcBef>
                <a:spcPts val="0"/>
              </a:spcBef>
              <a:spcAft>
                <a:spcPts val="0"/>
              </a:spcAft>
              <a:buNone/>
            </a:pPr>
            <a:r>
              <a:rPr lang="en-US" sz="2799" u="sng">
                <a:solidFill>
                  <a:srgbClr val="503C30"/>
                </a:solidFill>
                <a:latin typeface="Inter"/>
                <a:ea typeface="Inter"/>
                <a:cs typeface="Inter"/>
                <a:sym typeface="Inter"/>
                <a:hlinkClick action="ppaction://hlinksldjump" r:id="rId9">
                  <a:extLst>
                    <a:ext uri="{A12FA001-AC4F-418D-AE19-62706E023703}">
                      <ahyp:hlinkClr val="tx"/>
                    </a:ext>
                  </a:extLst>
                </a:hlinkClick>
              </a:rPr>
              <a:t>Capas con mayor retardo (procesos más pesados):</a:t>
            </a:r>
            <a:endParaRPr/>
          </a:p>
          <a:p>
            <a:pPr indent="-302260" lvl="1" marL="604519" marR="0" rtl="0" algn="l">
              <a:lnSpc>
                <a:spcPct val="140014"/>
              </a:lnSpc>
              <a:spcBef>
                <a:spcPts val="0"/>
              </a:spcBef>
              <a:spcAft>
                <a:spcPts val="0"/>
              </a:spcAft>
              <a:buClr>
                <a:srgbClr val="503C30"/>
              </a:buClr>
              <a:buSzPts val="2799"/>
              <a:buFont typeface="Arial"/>
              <a:buChar char="•"/>
            </a:pPr>
            <a:r>
              <a:rPr b="0" i="0" lang="en-US" sz="2799" u="sng" cap="none" strike="noStrike">
                <a:solidFill>
                  <a:srgbClr val="503C30"/>
                </a:solidFill>
                <a:latin typeface="Inter"/>
                <a:ea typeface="Inter"/>
                <a:cs typeface="Inter"/>
                <a:sym typeface="Inter"/>
                <a:hlinkClick action="ppaction://hlinksldjump" r:id="rId10">
                  <a:extLst>
                    <a:ext uri="{A12FA001-AC4F-418D-AE19-62706E023703}">
                      <ahyp:hlinkClr val="tx"/>
                    </a:ext>
                  </a:extLst>
                </a:hlinkClick>
              </a:rPr>
              <a:t>Capa 3 (Red): Consume tiempo porque debe calcular rutas y hacer enrutamiento.</a:t>
            </a:r>
            <a:endParaRPr/>
          </a:p>
          <a:p>
            <a:pPr indent="-302260" lvl="1" marL="604519" marR="0" rtl="0" algn="l">
              <a:lnSpc>
                <a:spcPct val="140014"/>
              </a:lnSpc>
              <a:spcBef>
                <a:spcPts val="0"/>
              </a:spcBef>
              <a:spcAft>
                <a:spcPts val="0"/>
              </a:spcAft>
              <a:buClr>
                <a:srgbClr val="503C30"/>
              </a:buClr>
              <a:buSzPts val="2799"/>
              <a:buFont typeface="Arial"/>
              <a:buChar char="•"/>
            </a:pPr>
            <a:r>
              <a:rPr b="0" i="0" lang="en-US" sz="2799" u="sng" cap="none" strike="noStrike">
                <a:solidFill>
                  <a:srgbClr val="503C30"/>
                </a:solidFill>
                <a:latin typeface="Inter"/>
                <a:ea typeface="Inter"/>
                <a:cs typeface="Inter"/>
                <a:sym typeface="Inter"/>
                <a:hlinkClick action="ppaction://hlinksldjump" r:id="rId11">
                  <a:extLst>
                    <a:ext uri="{A12FA001-AC4F-418D-AE19-62706E023703}">
                      <ahyp:hlinkClr val="tx"/>
                    </a:ext>
                  </a:extLst>
                </a:hlinkClick>
              </a:rPr>
              <a:t>Capa 6 (Presentación): Genera retardo por tareas costosas como cifrar o descifrar datos.</a:t>
            </a:r>
            <a:endParaRPr/>
          </a:p>
          <a:p>
            <a:pPr indent="-302260" lvl="1" marL="604519" marR="0" rtl="0" algn="l">
              <a:lnSpc>
                <a:spcPct val="140014"/>
              </a:lnSpc>
              <a:spcBef>
                <a:spcPts val="0"/>
              </a:spcBef>
              <a:spcAft>
                <a:spcPts val="0"/>
              </a:spcAft>
              <a:buClr>
                <a:srgbClr val="503C30"/>
              </a:buClr>
              <a:buSzPts val="2799"/>
              <a:buFont typeface="Arial"/>
              <a:buChar char="•"/>
            </a:pPr>
            <a:r>
              <a:rPr b="0" i="0" lang="en-US" sz="2799" u="sng" cap="none" strike="noStrike">
                <a:solidFill>
                  <a:srgbClr val="503C30"/>
                </a:solidFill>
                <a:latin typeface="Inter"/>
                <a:ea typeface="Inter"/>
                <a:cs typeface="Inter"/>
                <a:sym typeface="Inter"/>
                <a:hlinkClick action="ppaction://hlinksldjump" r:id="rId12">
                  <a:extLst>
                    <a:ext uri="{A12FA001-AC4F-418D-AE19-62706E023703}">
                      <ahyp:hlinkClr val="tx"/>
                    </a:ext>
                  </a:extLst>
                </a:hlinkClick>
              </a:rPr>
              <a:t>Capa 7 (Aplicación): Depende de la aplicación; puede tardar si debe generar páginas, consultas, etc.</a:t>
            </a:r>
            <a:endParaRPr/>
          </a:p>
          <a:p>
            <a:pPr indent="0" lvl="0" marL="0" marR="0" rtl="0" algn="l">
              <a:lnSpc>
                <a:spcPct val="140014"/>
              </a:lnSpc>
              <a:spcBef>
                <a:spcPts val="0"/>
              </a:spcBef>
              <a:spcAft>
                <a:spcPts val="0"/>
              </a:spcAft>
              <a:buNone/>
            </a:pPr>
            <a:r>
              <a:rPr lang="en-US" sz="2799" u="sng">
                <a:solidFill>
                  <a:srgbClr val="503C30"/>
                </a:solidFill>
                <a:latin typeface="Inter"/>
                <a:ea typeface="Inter"/>
                <a:cs typeface="Inter"/>
                <a:sym typeface="Inter"/>
                <a:hlinkClick action="ppaction://hlinksldjump" r:id="rId13">
                  <a:extLst>
                    <a:ext uri="{A12FA001-AC4F-418D-AE19-62706E023703}">
                      <ahyp:hlinkClr val="tx"/>
                    </a:ext>
                  </a:extLst>
                </a:hlinkClick>
              </a:rPr>
              <a:t>Capas con menor retardo (procesadas por hardware rápido):</a:t>
            </a:r>
            <a:endParaRPr/>
          </a:p>
          <a:p>
            <a:pPr indent="-302260" lvl="1" marL="604519" marR="0" rtl="0" algn="l">
              <a:lnSpc>
                <a:spcPct val="140014"/>
              </a:lnSpc>
              <a:spcBef>
                <a:spcPts val="0"/>
              </a:spcBef>
              <a:spcAft>
                <a:spcPts val="0"/>
              </a:spcAft>
              <a:buClr>
                <a:srgbClr val="503C30"/>
              </a:buClr>
              <a:buSzPts val="2799"/>
              <a:buFont typeface="Arial"/>
              <a:buChar char="•"/>
            </a:pPr>
            <a:r>
              <a:rPr b="0" i="0" lang="en-US" sz="2799" u="sng" cap="none" strike="noStrike">
                <a:solidFill>
                  <a:srgbClr val="503C30"/>
                </a:solidFill>
                <a:latin typeface="Inter"/>
                <a:ea typeface="Inter"/>
                <a:cs typeface="Inter"/>
                <a:sym typeface="Inter"/>
                <a:hlinkClick action="ppaction://hlinksldjump" r:id="rId14">
                  <a:extLst>
                    <a:ext uri="{A12FA001-AC4F-418D-AE19-62706E023703}">
                      <ahyp:hlinkClr val="tx"/>
                    </a:ext>
                  </a:extLst>
                </a:hlinkClick>
              </a:rPr>
              <a:t>Capa 2 (Enlace de datos): Muy rápida gracias a hardware especializado (switches con ASIC).</a:t>
            </a:r>
            <a:endParaRPr/>
          </a:p>
          <a:p>
            <a:pPr indent="-302260" lvl="1" marL="604519" marR="0" rtl="0" algn="l">
              <a:lnSpc>
                <a:spcPct val="140014"/>
              </a:lnSpc>
              <a:spcBef>
                <a:spcPts val="0"/>
              </a:spcBef>
              <a:spcAft>
                <a:spcPts val="0"/>
              </a:spcAft>
              <a:buClr>
                <a:srgbClr val="503C30"/>
              </a:buClr>
              <a:buSzPts val="2799"/>
              <a:buFont typeface="Arial"/>
              <a:buChar char="•"/>
            </a:pPr>
            <a:r>
              <a:rPr b="0" i="0" lang="en-US" sz="2799" u="sng" cap="none" strike="noStrike">
                <a:solidFill>
                  <a:srgbClr val="503C30"/>
                </a:solidFill>
                <a:latin typeface="Inter"/>
                <a:ea typeface="Inter"/>
                <a:cs typeface="Inter"/>
                <a:sym typeface="Inter"/>
                <a:hlinkClick action="ppaction://hlinksldjump" r:id="rId15">
                  <a:extLst>
                    <a:ext uri="{A12FA001-AC4F-418D-AE19-62706E023703}">
                      <ahyp:hlinkClr val="tx"/>
                    </a:ext>
                  </a:extLst>
                </a:hlinkClick>
              </a:rPr>
              <a:t>Capa 1 (Física): Casi no tiene procesamiento; el retardo depende de cuánto tarda la señal en viajar por el cable o la fibra.</a:t>
            </a:r>
            <a:endParaRPr/>
          </a:p>
          <a:p>
            <a:pPr indent="0" lvl="0" marL="0" marR="0" rtl="0" algn="l">
              <a:lnSpc>
                <a:spcPct val="140014"/>
              </a:lnSpc>
              <a:spcBef>
                <a:spcPts val="0"/>
              </a:spcBef>
              <a:spcAft>
                <a:spcPts val="0"/>
              </a:spcAft>
              <a:buNone/>
            </a:pPr>
            <a:r>
              <a:t/>
            </a:r>
            <a:endParaRPr sz="2799" u="sng">
              <a:solidFill>
                <a:srgbClr val="503C30"/>
              </a:solidFill>
              <a:latin typeface="Inter"/>
              <a:ea typeface="Inter"/>
              <a:cs typeface="Inter"/>
              <a:sym typeface="Inter"/>
              <a:hlinkClick action="ppaction://hlinksldjump" r:id="rId16">
                <a:extLst>
                  <a:ext uri="{A12FA001-AC4F-418D-AE19-62706E023703}">
                    <ahyp:hlinkClr val="tx"/>
                  </a:ext>
                </a:extLst>
              </a:hlinkClic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par>
                                <p:cTn fill="hold" nodeType="with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par>
                                <p:cTn fill="hold" nodeType="with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par>
                                <p:cTn fill="hold" nodeType="with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500"/>
                                        <p:tgtEl>
                                          <p:spTgt spid="457"/>
                                        </p:tgtEl>
                                      </p:cBhvr>
                                    </p:animEffect>
                                  </p:childTnLst>
                                </p:cTn>
                              </p:par>
                              <p:par>
                                <p:cTn fill="hold" nodeType="with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500"/>
                                        <p:tgtEl>
                                          <p:spTgt spid="458"/>
                                        </p:tgtEl>
                                      </p:cBhvr>
                                    </p:animEffect>
                                  </p:childTnLst>
                                </p:cTn>
                              </p:par>
                              <p:par>
                                <p:cTn fill="hold" nodeType="with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500"/>
                                        <p:tgtEl>
                                          <p:spTgt spid="4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DFE"/>
        </a:solidFill>
      </p:bgPr>
    </p:bg>
    <p:spTree>
      <p:nvGrpSpPr>
        <p:cNvPr id="463" name="Shape 463"/>
        <p:cNvGrpSpPr/>
        <p:nvPr/>
      </p:nvGrpSpPr>
      <p:grpSpPr>
        <a:xfrm>
          <a:off x="0" y="0"/>
          <a:ext cx="0" cy="0"/>
          <a:chOff x="0" y="0"/>
          <a:chExt cx="0" cy="0"/>
        </a:xfrm>
      </p:grpSpPr>
      <p:sp>
        <p:nvSpPr>
          <p:cNvPr id="464" name="Google Shape;464;p28"/>
          <p:cNvSpPr/>
          <p:nvPr/>
        </p:nvSpPr>
        <p:spPr>
          <a:xfrm>
            <a:off x="-1791561" y="-302177"/>
            <a:ext cx="5058135" cy="1931288"/>
          </a:xfrm>
          <a:custGeom>
            <a:rect b="b" l="l" r="r" t="t"/>
            <a:pathLst>
              <a:path extrusionOk="0" h="1931288" w="5058135">
                <a:moveTo>
                  <a:pt x="0" y="0"/>
                </a:moveTo>
                <a:lnTo>
                  <a:pt x="5058134" y="0"/>
                </a:lnTo>
                <a:lnTo>
                  <a:pt x="5058134" y="1931288"/>
                </a:lnTo>
                <a:lnTo>
                  <a:pt x="0" y="1931288"/>
                </a:lnTo>
                <a:lnTo>
                  <a:pt x="0" y="0"/>
                </a:lnTo>
                <a:close/>
              </a:path>
            </a:pathLst>
          </a:custGeom>
          <a:blipFill rotWithShape="1">
            <a:blip r:embed="rId3">
              <a:alphaModFix/>
            </a:blip>
            <a:stretch>
              <a:fillRect b="0" l="0" r="0" t="0"/>
            </a:stretch>
          </a:blipFill>
          <a:ln>
            <a:noFill/>
          </a:ln>
        </p:spPr>
      </p:sp>
      <p:sp>
        <p:nvSpPr>
          <p:cNvPr id="465" name="Google Shape;465;p28"/>
          <p:cNvSpPr/>
          <p:nvPr/>
        </p:nvSpPr>
        <p:spPr>
          <a:xfrm rot="5089641">
            <a:off x="16728159" y="152511"/>
            <a:ext cx="1700877" cy="1549344"/>
          </a:xfrm>
          <a:custGeom>
            <a:rect b="b" l="l" r="r" t="t"/>
            <a:pathLst>
              <a:path extrusionOk="0" h="1549344" w="1700877">
                <a:moveTo>
                  <a:pt x="0" y="0"/>
                </a:moveTo>
                <a:lnTo>
                  <a:pt x="1700878" y="0"/>
                </a:lnTo>
                <a:lnTo>
                  <a:pt x="1700878" y="1549344"/>
                </a:lnTo>
                <a:lnTo>
                  <a:pt x="0" y="1549344"/>
                </a:lnTo>
                <a:lnTo>
                  <a:pt x="0" y="0"/>
                </a:lnTo>
                <a:close/>
              </a:path>
            </a:pathLst>
          </a:custGeom>
          <a:blipFill rotWithShape="1">
            <a:blip r:embed="rId4">
              <a:alphaModFix/>
            </a:blip>
            <a:stretch>
              <a:fillRect b="0" l="0" r="0" t="0"/>
            </a:stretch>
          </a:blipFill>
          <a:ln>
            <a:noFill/>
          </a:ln>
        </p:spPr>
      </p:sp>
      <p:sp>
        <p:nvSpPr>
          <p:cNvPr id="466" name="Google Shape;466;p28"/>
          <p:cNvSpPr/>
          <p:nvPr/>
        </p:nvSpPr>
        <p:spPr>
          <a:xfrm rot="-5399999">
            <a:off x="1661243" y="8661889"/>
            <a:ext cx="1700877" cy="1549344"/>
          </a:xfrm>
          <a:custGeom>
            <a:rect b="b" l="l" r="r" t="t"/>
            <a:pathLst>
              <a:path extrusionOk="0" h="1549344" w="1700877">
                <a:moveTo>
                  <a:pt x="0" y="0"/>
                </a:moveTo>
                <a:lnTo>
                  <a:pt x="1700877" y="0"/>
                </a:lnTo>
                <a:lnTo>
                  <a:pt x="1700877" y="1549345"/>
                </a:lnTo>
                <a:lnTo>
                  <a:pt x="0" y="1549345"/>
                </a:lnTo>
                <a:lnTo>
                  <a:pt x="0" y="0"/>
                </a:lnTo>
                <a:close/>
              </a:path>
            </a:pathLst>
          </a:custGeom>
          <a:blipFill rotWithShape="1">
            <a:blip r:embed="rId4">
              <a:alphaModFix/>
            </a:blip>
            <a:stretch>
              <a:fillRect b="0" l="0" r="0" t="0"/>
            </a:stretch>
          </a:blipFill>
          <a:ln>
            <a:noFill/>
          </a:ln>
        </p:spPr>
      </p:sp>
      <p:sp>
        <p:nvSpPr>
          <p:cNvPr id="467" name="Google Shape;467;p28"/>
          <p:cNvSpPr/>
          <p:nvPr/>
        </p:nvSpPr>
        <p:spPr>
          <a:xfrm>
            <a:off x="1028700" y="3025112"/>
            <a:ext cx="10114974" cy="4707598"/>
          </a:xfrm>
          <a:custGeom>
            <a:rect b="b" l="l" r="r" t="t"/>
            <a:pathLst>
              <a:path extrusionOk="0" h="4707598" w="10114974">
                <a:moveTo>
                  <a:pt x="0" y="0"/>
                </a:moveTo>
                <a:lnTo>
                  <a:pt x="10114974" y="0"/>
                </a:lnTo>
                <a:lnTo>
                  <a:pt x="10114974" y="4707598"/>
                </a:lnTo>
                <a:lnTo>
                  <a:pt x="0" y="4707598"/>
                </a:lnTo>
                <a:lnTo>
                  <a:pt x="0" y="0"/>
                </a:lnTo>
                <a:close/>
              </a:path>
            </a:pathLst>
          </a:custGeom>
          <a:blipFill rotWithShape="1">
            <a:blip r:embed="rId5">
              <a:alphaModFix/>
            </a:blip>
            <a:stretch>
              <a:fillRect b="0" l="0" r="0" t="0"/>
            </a:stretch>
          </a:blipFill>
          <a:ln>
            <a:noFill/>
          </a:ln>
        </p:spPr>
      </p:sp>
      <p:sp>
        <p:nvSpPr>
          <p:cNvPr id="468" name="Google Shape;468;p28"/>
          <p:cNvSpPr/>
          <p:nvPr/>
        </p:nvSpPr>
        <p:spPr>
          <a:xfrm>
            <a:off x="11342195" y="3830209"/>
            <a:ext cx="5917105" cy="5327578"/>
          </a:xfrm>
          <a:custGeom>
            <a:rect b="b" l="l" r="r" t="t"/>
            <a:pathLst>
              <a:path extrusionOk="0" h="5327578" w="5917105">
                <a:moveTo>
                  <a:pt x="0" y="0"/>
                </a:moveTo>
                <a:lnTo>
                  <a:pt x="5917105" y="0"/>
                </a:lnTo>
                <a:lnTo>
                  <a:pt x="5917105" y="5327578"/>
                </a:lnTo>
                <a:lnTo>
                  <a:pt x="0" y="5327578"/>
                </a:lnTo>
                <a:lnTo>
                  <a:pt x="0" y="0"/>
                </a:lnTo>
                <a:close/>
              </a:path>
            </a:pathLst>
          </a:custGeom>
          <a:blipFill rotWithShape="1">
            <a:blip r:embed="rId6">
              <a:alphaModFix/>
            </a:blip>
            <a:stretch>
              <a:fillRect b="-11130" l="-123426" r="-5437" t="-3416"/>
            </a:stretch>
          </a:blipFill>
          <a:ln>
            <a:noFill/>
          </a:ln>
        </p:spPr>
      </p:sp>
      <p:sp>
        <p:nvSpPr>
          <p:cNvPr id="469" name="Google Shape;469;p28"/>
          <p:cNvSpPr txBox="1"/>
          <p:nvPr/>
        </p:nvSpPr>
        <p:spPr>
          <a:xfrm>
            <a:off x="3799253" y="1219200"/>
            <a:ext cx="10056315" cy="952500"/>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7500">
                <a:solidFill>
                  <a:srgbClr val="503C30"/>
                </a:solidFill>
                <a:latin typeface="Arial"/>
                <a:ea typeface="Arial"/>
                <a:cs typeface="Arial"/>
                <a:sym typeface="Arial"/>
              </a:rPr>
              <a:t>GLOSARIO</a:t>
            </a:r>
            <a:endParaRPr/>
          </a:p>
        </p:txBody>
      </p:sp>
      <p:sp>
        <p:nvSpPr>
          <p:cNvPr id="470" name="Google Shape;470;p28"/>
          <p:cNvSpPr/>
          <p:nvPr/>
        </p:nvSpPr>
        <p:spPr>
          <a:xfrm>
            <a:off x="12636747" y="2069871"/>
            <a:ext cx="3019128" cy="1760339"/>
          </a:xfrm>
          <a:custGeom>
            <a:rect b="b" l="l" r="r" t="t"/>
            <a:pathLst>
              <a:path extrusionOk="0" h="1760339" w="3019128">
                <a:moveTo>
                  <a:pt x="0" y="0"/>
                </a:moveTo>
                <a:lnTo>
                  <a:pt x="3019128" y="0"/>
                </a:lnTo>
                <a:lnTo>
                  <a:pt x="3019128" y="1760338"/>
                </a:lnTo>
                <a:lnTo>
                  <a:pt x="0" y="1760338"/>
                </a:lnTo>
                <a:lnTo>
                  <a:pt x="0" y="0"/>
                </a:lnTo>
                <a:close/>
              </a:path>
            </a:pathLst>
          </a:custGeom>
          <a:blipFill rotWithShape="1">
            <a:blip r:embed="rId7">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500"/>
                                        <p:tgtEl>
                                          <p:spTgt spid="464"/>
                                        </p:tgtEl>
                                      </p:cBhvr>
                                    </p:animEffect>
                                  </p:childTnLst>
                                </p:cTn>
                              </p:par>
                              <p:par>
                                <p:cTn fill="hold" nodeType="with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500"/>
                                        <p:tgtEl>
                                          <p:spTgt spid="465"/>
                                        </p:tgtEl>
                                      </p:cBhvr>
                                    </p:animEffect>
                                  </p:childTnLst>
                                </p:cTn>
                              </p:par>
                              <p:par>
                                <p:cTn fill="hold" nodeType="with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500"/>
                                        <p:tgtEl>
                                          <p:spTgt spid="466"/>
                                        </p:tgtEl>
                                      </p:cBhvr>
                                    </p:animEffect>
                                  </p:childTnLst>
                                </p:cTn>
                              </p:par>
                              <p:par>
                                <p:cTn fill="hold" nodeType="with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500"/>
                                        <p:tgtEl>
                                          <p:spTgt spid="467"/>
                                        </p:tgtEl>
                                      </p:cBhvr>
                                    </p:animEffect>
                                  </p:childTnLst>
                                </p:cTn>
                              </p:par>
                              <p:par>
                                <p:cTn fill="hold" nodeType="with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par>
                                <p:cTn fill="hold" nodeType="with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500"/>
                                        <p:tgtEl>
                                          <p:spTgt spid="469"/>
                                        </p:tgtEl>
                                      </p:cBhvr>
                                    </p:animEffect>
                                  </p:childTnLst>
                                </p:cTn>
                              </p:par>
                              <p:par>
                                <p:cTn fill="hold" nodeType="with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500"/>
                                        <p:tgtEl>
                                          <p:spTgt spid="4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474" name="Shape 474"/>
        <p:cNvGrpSpPr/>
        <p:nvPr/>
      </p:nvGrpSpPr>
      <p:grpSpPr>
        <a:xfrm>
          <a:off x="0" y="0"/>
          <a:ext cx="0" cy="0"/>
          <a:chOff x="0" y="0"/>
          <a:chExt cx="0" cy="0"/>
        </a:xfrm>
      </p:grpSpPr>
      <p:sp>
        <p:nvSpPr>
          <p:cNvPr id="475" name="Google Shape;475;p29"/>
          <p:cNvSpPr/>
          <p:nvPr/>
        </p:nvSpPr>
        <p:spPr>
          <a:xfrm rot="4094958">
            <a:off x="7907573" y="734662"/>
            <a:ext cx="1910240" cy="1967476"/>
          </a:xfrm>
          <a:custGeom>
            <a:rect b="b" l="l" r="r" t="t"/>
            <a:pathLst>
              <a:path extrusionOk="0" h="1967476" w="1910240">
                <a:moveTo>
                  <a:pt x="0" y="0"/>
                </a:moveTo>
                <a:lnTo>
                  <a:pt x="1910240" y="0"/>
                </a:lnTo>
                <a:lnTo>
                  <a:pt x="1910240" y="1967476"/>
                </a:lnTo>
                <a:lnTo>
                  <a:pt x="0" y="1967476"/>
                </a:lnTo>
                <a:lnTo>
                  <a:pt x="0" y="0"/>
                </a:lnTo>
                <a:close/>
              </a:path>
            </a:pathLst>
          </a:custGeom>
          <a:blipFill rotWithShape="1">
            <a:blip r:embed="rId3">
              <a:alphaModFix/>
            </a:blip>
            <a:stretch>
              <a:fillRect b="0" l="0" r="0" t="0"/>
            </a:stretch>
          </a:blipFill>
          <a:ln>
            <a:noFill/>
          </a:ln>
        </p:spPr>
      </p:sp>
      <p:sp>
        <p:nvSpPr>
          <p:cNvPr id="476" name="Google Shape;476;p29"/>
          <p:cNvSpPr/>
          <p:nvPr/>
        </p:nvSpPr>
        <p:spPr>
          <a:xfrm>
            <a:off x="16027602" y="7640774"/>
            <a:ext cx="2463395" cy="2646226"/>
          </a:xfrm>
          <a:custGeom>
            <a:rect b="b" l="l" r="r" t="t"/>
            <a:pathLst>
              <a:path extrusionOk="0" h="2646226" w="2463395">
                <a:moveTo>
                  <a:pt x="0" y="0"/>
                </a:moveTo>
                <a:lnTo>
                  <a:pt x="2463396" y="0"/>
                </a:lnTo>
                <a:lnTo>
                  <a:pt x="2463396" y="2646226"/>
                </a:lnTo>
                <a:lnTo>
                  <a:pt x="0" y="2646226"/>
                </a:lnTo>
                <a:lnTo>
                  <a:pt x="0" y="0"/>
                </a:lnTo>
                <a:close/>
              </a:path>
            </a:pathLst>
          </a:custGeom>
          <a:blipFill rotWithShape="1">
            <a:blip r:embed="rId4">
              <a:alphaModFix/>
            </a:blip>
            <a:stretch>
              <a:fillRect b="0" l="0" r="0" t="0"/>
            </a:stretch>
          </a:blipFill>
          <a:ln>
            <a:noFill/>
          </a:ln>
        </p:spPr>
      </p:sp>
      <p:sp>
        <p:nvSpPr>
          <p:cNvPr id="477" name="Google Shape;477;p29"/>
          <p:cNvSpPr/>
          <p:nvPr/>
        </p:nvSpPr>
        <p:spPr>
          <a:xfrm>
            <a:off x="1028700" y="2743312"/>
            <a:ext cx="5872289" cy="5313024"/>
          </a:xfrm>
          <a:custGeom>
            <a:rect b="b" l="l" r="r" t="t"/>
            <a:pathLst>
              <a:path extrusionOk="0" h="5313024" w="5872289">
                <a:moveTo>
                  <a:pt x="0" y="0"/>
                </a:moveTo>
                <a:lnTo>
                  <a:pt x="5872289" y="0"/>
                </a:lnTo>
                <a:lnTo>
                  <a:pt x="5872289" y="5313023"/>
                </a:lnTo>
                <a:lnTo>
                  <a:pt x="0" y="5313023"/>
                </a:lnTo>
                <a:lnTo>
                  <a:pt x="0" y="0"/>
                </a:lnTo>
                <a:close/>
              </a:path>
            </a:pathLst>
          </a:custGeom>
          <a:blipFill rotWithShape="1">
            <a:blip r:embed="rId5">
              <a:alphaModFix/>
            </a:blip>
            <a:stretch>
              <a:fillRect b="0" l="0" r="0" t="0"/>
            </a:stretch>
          </a:blipFill>
          <a:ln>
            <a:noFill/>
          </a:ln>
        </p:spPr>
      </p:sp>
      <p:sp>
        <p:nvSpPr>
          <p:cNvPr id="478" name="Google Shape;478;p29"/>
          <p:cNvSpPr txBox="1"/>
          <p:nvPr/>
        </p:nvSpPr>
        <p:spPr>
          <a:xfrm>
            <a:off x="8862693" y="3729037"/>
            <a:ext cx="7552687" cy="2821305"/>
          </a:xfrm>
          <a:prstGeom prst="rect">
            <a:avLst/>
          </a:prstGeom>
          <a:noFill/>
          <a:ln>
            <a:noFill/>
          </a:ln>
        </p:spPr>
        <p:txBody>
          <a:bodyPr anchorCtr="0" anchor="t" bIns="0" lIns="0" spcFirstLastPara="1" rIns="0" wrap="square" tIns="0">
            <a:spAutoFit/>
          </a:bodyPr>
          <a:lstStyle/>
          <a:p>
            <a:pPr indent="-194310" lvl="1" marL="388620" marR="0" rtl="0" algn="l">
              <a:lnSpc>
                <a:spcPct val="140000"/>
              </a:lnSpc>
              <a:spcBef>
                <a:spcPts val="0"/>
              </a:spcBef>
              <a:spcAft>
                <a:spcPts val="0"/>
              </a:spcAft>
              <a:buClr>
                <a:srgbClr val="503C30"/>
              </a:buClr>
              <a:buSzPts val="1800"/>
              <a:buFont typeface="Arial"/>
              <a:buChar char="•"/>
            </a:pPr>
            <a:r>
              <a:rPr b="0" i="0" lang="en-US" sz="1800" u="none" cap="none" strike="noStrike">
                <a:solidFill>
                  <a:srgbClr val="503C30"/>
                </a:solidFill>
                <a:latin typeface="Inter"/>
                <a:ea typeface="Inter"/>
                <a:cs typeface="Inter"/>
                <a:sym typeface="Inter"/>
              </a:rPr>
              <a:t>Los protocolos son conjuntos de reglas y estándares que permiten la comunicación entre dispositivos en una red.</a:t>
            </a:r>
            <a:endParaRPr/>
          </a:p>
          <a:p>
            <a:pPr indent="-194310" lvl="1" marL="388620" marR="0" rtl="0" algn="l">
              <a:lnSpc>
                <a:spcPct val="140000"/>
              </a:lnSpc>
              <a:spcBef>
                <a:spcPts val="0"/>
              </a:spcBef>
              <a:spcAft>
                <a:spcPts val="0"/>
              </a:spcAft>
              <a:buClr>
                <a:srgbClr val="503C30"/>
              </a:buClr>
              <a:buSzPts val="1800"/>
              <a:buFont typeface="Arial"/>
              <a:buChar char="•"/>
            </a:pPr>
            <a:r>
              <a:rPr b="0" i="0" lang="en-US" sz="1800" u="none" cap="none" strike="noStrike">
                <a:solidFill>
                  <a:srgbClr val="503C30"/>
                </a:solidFill>
                <a:latin typeface="Inter"/>
                <a:ea typeface="Inter"/>
                <a:cs typeface="Inter"/>
                <a:sym typeface="Inter"/>
              </a:rPr>
              <a:t>En el contexto del modelo OSI, cada capa tiene sus propios protocolos. Por ejemplo, en la capa de enlace de datos (capa 2), algunos protocolos comunes son Ethernet, PPP y Wi-Fi.</a:t>
            </a:r>
            <a:endParaRPr/>
          </a:p>
          <a:p>
            <a:pPr indent="0" lvl="0" marL="0" marR="0" rtl="0" algn="l">
              <a:lnSpc>
                <a:spcPct val="140000"/>
              </a:lnSpc>
              <a:spcBef>
                <a:spcPts val="0"/>
              </a:spcBef>
              <a:spcAft>
                <a:spcPts val="0"/>
              </a:spcAft>
              <a:buNone/>
            </a:pPr>
            <a:r>
              <a:rPr lang="en-US" sz="1800" u="none">
                <a:solidFill>
                  <a:srgbClr val="503C30"/>
                </a:solidFill>
                <a:latin typeface="Inter"/>
                <a:ea typeface="Inter"/>
                <a:cs typeface="Inter"/>
                <a:sym typeface="Inter"/>
              </a:rPr>
              <a:t>Los protocolos aseguran que los datos se transmitan de manera correcta, segura y eficiente entre los sistemas.(Sanguino, S. A. A., Ibáñez, E. B., &amp; Rico-Bautista, D., 2023)</a:t>
            </a:r>
            <a:endParaRPr/>
          </a:p>
        </p:txBody>
      </p:sp>
      <p:sp>
        <p:nvSpPr>
          <p:cNvPr id="479" name="Google Shape;479;p29"/>
          <p:cNvSpPr txBox="1"/>
          <p:nvPr/>
        </p:nvSpPr>
        <p:spPr>
          <a:xfrm>
            <a:off x="723964" y="981075"/>
            <a:ext cx="6238567" cy="737325"/>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rPr lang="en-US" sz="2096">
                <a:solidFill>
                  <a:srgbClr val="503C30"/>
                </a:solidFill>
                <a:latin typeface="Arial"/>
                <a:ea typeface="Arial"/>
                <a:cs typeface="Arial"/>
                <a:sym typeface="Arial"/>
              </a:rPr>
              <a:t>FIGURA 5</a:t>
            </a:r>
            <a:endParaRPr/>
          </a:p>
          <a:p>
            <a:pPr indent="0" lvl="0" marL="0" marR="0" rtl="0" algn="l">
              <a:lnSpc>
                <a:spcPct val="140028"/>
              </a:lnSpc>
              <a:spcBef>
                <a:spcPts val="0"/>
              </a:spcBef>
              <a:spcAft>
                <a:spcPts val="0"/>
              </a:spcAft>
              <a:buNone/>
            </a:pPr>
            <a:r>
              <a:rPr lang="en-US" sz="2096">
                <a:solidFill>
                  <a:srgbClr val="503C30"/>
                </a:solidFill>
                <a:latin typeface="Arial"/>
                <a:ea typeface="Arial"/>
                <a:cs typeface="Arial"/>
                <a:sym typeface="Arial"/>
              </a:rPr>
              <a:t>FAMILIA DE PROTOCOLOS DE INTERNET</a:t>
            </a:r>
            <a:endParaRPr/>
          </a:p>
        </p:txBody>
      </p:sp>
      <p:sp>
        <p:nvSpPr>
          <p:cNvPr id="480" name="Google Shape;480;p29"/>
          <p:cNvSpPr txBox="1"/>
          <p:nvPr/>
        </p:nvSpPr>
        <p:spPr>
          <a:xfrm>
            <a:off x="1037267" y="8262122"/>
            <a:ext cx="6557788" cy="701765"/>
          </a:xfrm>
          <a:prstGeom prst="rect">
            <a:avLst/>
          </a:prstGeom>
          <a:noFill/>
          <a:ln>
            <a:noFill/>
          </a:ln>
        </p:spPr>
        <p:txBody>
          <a:bodyPr anchorCtr="0" anchor="t" bIns="0" lIns="0" spcFirstLastPara="1" rIns="0" wrap="square" tIns="0">
            <a:spAutoFit/>
          </a:bodyPr>
          <a:lstStyle/>
          <a:p>
            <a:pPr indent="0" lvl="0" marL="0" marR="0" rtl="0" algn="l">
              <a:lnSpc>
                <a:spcPct val="140100"/>
              </a:lnSpc>
              <a:spcBef>
                <a:spcPts val="0"/>
              </a:spcBef>
              <a:spcAft>
                <a:spcPts val="0"/>
              </a:spcAft>
              <a:buNone/>
            </a:pPr>
            <a:r>
              <a:rPr lang="en-US" sz="1995">
                <a:solidFill>
                  <a:srgbClr val="503C30"/>
                </a:solidFill>
                <a:latin typeface="Arial"/>
                <a:ea typeface="Arial"/>
                <a:cs typeface="Arial"/>
                <a:sym typeface="Arial"/>
              </a:rPr>
              <a:t>(WIKIPEDIA, 2025) </a:t>
            </a:r>
            <a:endParaRPr/>
          </a:p>
          <a:p>
            <a:pPr indent="0" lvl="0" marL="0" marR="0" rtl="0" algn="l">
              <a:lnSpc>
                <a:spcPct val="140100"/>
              </a:lnSpc>
              <a:spcBef>
                <a:spcPts val="0"/>
              </a:spcBef>
              <a:spcAft>
                <a:spcPts val="0"/>
              </a:spcAft>
              <a:buNone/>
            </a:pPr>
            <a:r>
              <a:rPr lang="en-US" sz="1995" u="sng">
                <a:solidFill>
                  <a:srgbClr val="503C30"/>
                </a:solidFill>
                <a:latin typeface="Arial"/>
                <a:ea typeface="Arial"/>
                <a:cs typeface="Arial"/>
                <a:sym typeface="Arial"/>
                <a:hlinkClick r:id="rId6">
                  <a:extLst>
                    <a:ext uri="{A12FA001-AC4F-418D-AE19-62706E023703}">
                      <ahyp:hlinkClr val="tx"/>
                    </a:ext>
                  </a:extLst>
                </a:hlinkClick>
              </a:rPr>
              <a:t>HTTPS://ACORTAR.LINK/KG7EHW</a:t>
            </a:r>
            <a:endParaRPr/>
          </a:p>
        </p:txBody>
      </p:sp>
      <p:sp>
        <p:nvSpPr>
          <p:cNvPr id="481" name="Google Shape;481;p29"/>
          <p:cNvSpPr txBox="1"/>
          <p:nvPr/>
        </p:nvSpPr>
        <p:spPr>
          <a:xfrm>
            <a:off x="8862693" y="2362312"/>
            <a:ext cx="8719500" cy="7221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lang="en-US" sz="5100">
                <a:solidFill>
                  <a:srgbClr val="503C30"/>
                </a:solidFill>
                <a:latin typeface="Arial"/>
                <a:ea typeface="Arial"/>
                <a:cs typeface="Arial"/>
                <a:sym typeface="Arial"/>
              </a:rPr>
              <a:t>¿QUE ES UN PROTOCOLO?</a:t>
            </a:r>
            <a:endParaRPr sz="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par>
                                <p:cTn fill="hold" nodeType="with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500"/>
                                        <p:tgtEl>
                                          <p:spTgt spid="476"/>
                                        </p:tgtEl>
                                      </p:cBhvr>
                                    </p:animEffect>
                                  </p:childTnLst>
                                </p:cTn>
                              </p:par>
                              <p:par>
                                <p:cTn fill="hold" nodeType="with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500"/>
                                        <p:tgtEl>
                                          <p:spTgt spid="477"/>
                                        </p:tgtEl>
                                      </p:cBhvr>
                                    </p:animEffect>
                                  </p:childTnLst>
                                </p:cTn>
                              </p:par>
                              <p:par>
                                <p:cTn fill="hold" nodeType="with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500"/>
                                        <p:tgtEl>
                                          <p:spTgt spid="478"/>
                                        </p:tgtEl>
                                      </p:cBhvr>
                                    </p:animEffect>
                                  </p:childTnLst>
                                </p:cTn>
                              </p:par>
                              <p:par>
                                <p:cTn fill="hold" nodeType="with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500"/>
                                        <p:tgtEl>
                                          <p:spTgt spid="479"/>
                                        </p:tgtEl>
                                      </p:cBhvr>
                                    </p:animEffect>
                                  </p:childTnLst>
                                </p:cTn>
                              </p:par>
                              <p:par>
                                <p:cTn fill="hold" nodeType="with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500"/>
                                        <p:tgtEl>
                                          <p:spTgt spid="480"/>
                                        </p:tgtEl>
                                      </p:cBhvr>
                                    </p:animEffect>
                                  </p:childTnLst>
                                </p:cTn>
                              </p:par>
                              <p:par>
                                <p:cTn fill="hold" nodeType="with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485" name="Shape 485"/>
        <p:cNvGrpSpPr/>
        <p:nvPr/>
      </p:nvGrpSpPr>
      <p:grpSpPr>
        <a:xfrm>
          <a:off x="0" y="0"/>
          <a:ext cx="0" cy="0"/>
          <a:chOff x="0" y="0"/>
          <a:chExt cx="0" cy="0"/>
        </a:xfrm>
      </p:grpSpPr>
      <p:sp>
        <p:nvSpPr>
          <p:cNvPr id="486" name="Google Shape;486;p30"/>
          <p:cNvSpPr/>
          <p:nvPr/>
        </p:nvSpPr>
        <p:spPr>
          <a:xfrm>
            <a:off x="1028700" y="1989388"/>
            <a:ext cx="16230600" cy="7628382"/>
          </a:xfrm>
          <a:custGeom>
            <a:rect b="b" l="l" r="r" t="t"/>
            <a:pathLst>
              <a:path extrusionOk="0" h="7628382" w="16230600">
                <a:moveTo>
                  <a:pt x="0" y="0"/>
                </a:moveTo>
                <a:lnTo>
                  <a:pt x="16230600" y="0"/>
                </a:lnTo>
                <a:lnTo>
                  <a:pt x="16230600" y="7628382"/>
                </a:lnTo>
                <a:lnTo>
                  <a:pt x="0" y="7628382"/>
                </a:lnTo>
                <a:lnTo>
                  <a:pt x="0" y="0"/>
                </a:lnTo>
                <a:close/>
              </a:path>
            </a:pathLst>
          </a:custGeom>
          <a:blipFill rotWithShape="1">
            <a:blip r:embed="rId3">
              <a:alphaModFix/>
            </a:blip>
            <a:stretch>
              <a:fillRect b="0" l="0" r="0" t="0"/>
            </a:stretch>
          </a:blipFill>
          <a:ln>
            <a:noFill/>
          </a:ln>
        </p:spPr>
      </p:sp>
      <p:sp>
        <p:nvSpPr>
          <p:cNvPr id="487" name="Google Shape;487;p30"/>
          <p:cNvSpPr txBox="1"/>
          <p:nvPr/>
        </p:nvSpPr>
        <p:spPr>
          <a:xfrm>
            <a:off x="1042529" y="793055"/>
            <a:ext cx="16203000" cy="716400"/>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None/>
            </a:pPr>
            <a:r>
              <a:rPr lang="en-US" sz="4900">
                <a:solidFill>
                  <a:srgbClr val="503C30"/>
                </a:solidFill>
                <a:latin typeface="Arial"/>
                <a:ea typeface="Arial"/>
                <a:cs typeface="Arial"/>
                <a:sym typeface="Arial"/>
              </a:rPr>
              <a:t>CUADRO PROTOCOLOS POR CAPA DEL MODELO OSI</a:t>
            </a:r>
            <a:endParaRPr sz="300"/>
          </a:p>
        </p:txBody>
      </p:sp>
      <p:sp>
        <p:nvSpPr>
          <p:cNvPr id="488" name="Google Shape;488;p30"/>
          <p:cNvSpPr txBox="1"/>
          <p:nvPr/>
        </p:nvSpPr>
        <p:spPr>
          <a:xfrm>
            <a:off x="15030448" y="3305191"/>
            <a:ext cx="1993052" cy="207645"/>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1" lang="en-US" sz="1200">
                <a:solidFill>
                  <a:srgbClr val="000000"/>
                </a:solidFill>
                <a:latin typeface="Inter"/>
                <a:ea typeface="Inter"/>
                <a:cs typeface="Inter"/>
                <a:sym typeface="Inter"/>
              </a:rPr>
              <a:t>(GeeksforGeeks, 2025)</a:t>
            </a:r>
            <a:endParaRPr/>
          </a:p>
        </p:txBody>
      </p:sp>
      <p:sp>
        <p:nvSpPr>
          <p:cNvPr id="489" name="Google Shape;489;p30"/>
          <p:cNvSpPr txBox="1"/>
          <p:nvPr/>
        </p:nvSpPr>
        <p:spPr>
          <a:xfrm>
            <a:off x="16084761" y="5234396"/>
            <a:ext cx="938738" cy="28702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825">
                <a:solidFill>
                  <a:srgbClr val="000000"/>
                </a:solidFill>
                <a:latin typeface="Inter"/>
                <a:ea typeface="Inter"/>
                <a:cs typeface="Inter"/>
                <a:sym typeface="Inter"/>
              </a:rPr>
              <a:t>(GeeksforGeeks, 2025)</a:t>
            </a:r>
            <a:endParaRPr/>
          </a:p>
        </p:txBody>
      </p:sp>
      <p:sp>
        <p:nvSpPr>
          <p:cNvPr id="490" name="Google Shape;490;p30"/>
          <p:cNvSpPr txBox="1"/>
          <p:nvPr/>
        </p:nvSpPr>
        <p:spPr>
          <a:xfrm>
            <a:off x="16237161" y="4408411"/>
            <a:ext cx="786338" cy="230505"/>
          </a:xfrm>
          <a:prstGeom prst="rect">
            <a:avLst/>
          </a:prstGeom>
          <a:noFill/>
          <a:ln>
            <a:noFill/>
          </a:ln>
        </p:spPr>
        <p:txBody>
          <a:bodyPr anchorCtr="0" anchor="t" bIns="0" lIns="0" spcFirstLastPara="1" rIns="0" wrap="square" tIns="0">
            <a:spAutoFit/>
          </a:bodyPr>
          <a:lstStyle/>
          <a:p>
            <a:pPr indent="0" lvl="0" marL="0" marR="0" rtl="0" algn="ctr">
              <a:lnSpc>
                <a:spcPct val="139851"/>
              </a:lnSpc>
              <a:spcBef>
                <a:spcPts val="0"/>
              </a:spcBef>
              <a:spcAft>
                <a:spcPts val="0"/>
              </a:spcAft>
              <a:buNone/>
            </a:pPr>
            <a:r>
              <a:rPr b="1" lang="en-US" sz="675">
                <a:solidFill>
                  <a:srgbClr val="000000"/>
                </a:solidFill>
                <a:latin typeface="Inter"/>
                <a:ea typeface="Inter"/>
                <a:cs typeface="Inter"/>
                <a:sym typeface="Inter"/>
              </a:rPr>
              <a:t>(GeeksforGeeks, 2025)</a:t>
            </a:r>
            <a:endParaRPr/>
          </a:p>
        </p:txBody>
      </p:sp>
      <p:sp>
        <p:nvSpPr>
          <p:cNvPr id="491" name="Google Shape;491;p30"/>
          <p:cNvSpPr txBox="1"/>
          <p:nvPr/>
        </p:nvSpPr>
        <p:spPr>
          <a:xfrm>
            <a:off x="15030448" y="6042559"/>
            <a:ext cx="1993052" cy="207645"/>
          </a:xfrm>
          <a:prstGeom prst="rect">
            <a:avLst/>
          </a:prstGeom>
          <a:noFill/>
          <a:ln>
            <a:noFill/>
          </a:ln>
        </p:spPr>
        <p:txBody>
          <a:bodyPr anchorCtr="0" anchor="t" bIns="0" lIns="0" spcFirstLastPara="1" rIns="0" wrap="square" tIns="0">
            <a:spAutoFit/>
          </a:bodyPr>
          <a:lstStyle/>
          <a:p>
            <a:pPr indent="0" lvl="0" marL="0" marR="0" rtl="0" algn="ctr">
              <a:lnSpc>
                <a:spcPct val="139916"/>
              </a:lnSpc>
              <a:spcBef>
                <a:spcPts val="0"/>
              </a:spcBef>
              <a:spcAft>
                <a:spcPts val="0"/>
              </a:spcAft>
              <a:buNone/>
            </a:pPr>
            <a:r>
              <a:rPr b="1" lang="en-US" sz="1200">
                <a:solidFill>
                  <a:srgbClr val="000000"/>
                </a:solidFill>
                <a:latin typeface="Inter"/>
                <a:ea typeface="Inter"/>
                <a:cs typeface="Inter"/>
                <a:sym typeface="Inter"/>
              </a:rPr>
              <a:t>(GeeksforGeeks, 2025)</a:t>
            </a:r>
            <a:endParaRPr/>
          </a:p>
        </p:txBody>
      </p:sp>
      <p:sp>
        <p:nvSpPr>
          <p:cNvPr id="492" name="Google Shape;492;p30"/>
          <p:cNvSpPr txBox="1"/>
          <p:nvPr/>
        </p:nvSpPr>
        <p:spPr>
          <a:xfrm>
            <a:off x="15266248" y="7162706"/>
            <a:ext cx="1757251" cy="1746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1000">
                <a:solidFill>
                  <a:srgbClr val="000000"/>
                </a:solidFill>
                <a:latin typeface="Inter"/>
                <a:ea typeface="Inter"/>
                <a:cs typeface="Inter"/>
                <a:sym typeface="Inter"/>
              </a:rPr>
              <a:t>(GeeksforGeeks, 2025)</a:t>
            </a:r>
            <a:endParaRPr/>
          </a:p>
        </p:txBody>
      </p:sp>
      <p:sp>
        <p:nvSpPr>
          <p:cNvPr id="493" name="Google Shape;493;p30"/>
          <p:cNvSpPr txBox="1"/>
          <p:nvPr/>
        </p:nvSpPr>
        <p:spPr>
          <a:xfrm>
            <a:off x="15775835" y="7972330"/>
            <a:ext cx="1247664" cy="276417"/>
          </a:xfrm>
          <a:prstGeom prst="rect">
            <a:avLst/>
          </a:prstGeom>
          <a:noFill/>
          <a:ln>
            <a:noFill/>
          </a:ln>
        </p:spPr>
        <p:txBody>
          <a:bodyPr anchorCtr="0" anchor="t" bIns="0" lIns="0" spcFirstLastPara="1" rIns="0" wrap="square" tIns="0">
            <a:spAutoFit/>
          </a:bodyPr>
          <a:lstStyle/>
          <a:p>
            <a:pPr indent="0" lvl="0" marL="0" marR="0" rtl="0" algn="ctr">
              <a:lnSpc>
                <a:spcPct val="139949"/>
              </a:lnSpc>
              <a:spcBef>
                <a:spcPts val="0"/>
              </a:spcBef>
              <a:spcAft>
                <a:spcPts val="0"/>
              </a:spcAft>
              <a:buNone/>
            </a:pPr>
            <a:r>
              <a:rPr b="1" lang="en-US" sz="791">
                <a:solidFill>
                  <a:srgbClr val="000000"/>
                </a:solidFill>
                <a:latin typeface="Inter"/>
                <a:ea typeface="Inter"/>
                <a:cs typeface="Inter"/>
                <a:sym typeface="Inter"/>
              </a:rPr>
              <a:t>(GeeksforGeeks, 2025)</a:t>
            </a:r>
            <a:endParaRPr/>
          </a:p>
        </p:txBody>
      </p:sp>
      <p:sp>
        <p:nvSpPr>
          <p:cNvPr id="494" name="Google Shape;494;p30"/>
          <p:cNvSpPr txBox="1"/>
          <p:nvPr/>
        </p:nvSpPr>
        <p:spPr>
          <a:xfrm>
            <a:off x="15240635" y="8779928"/>
            <a:ext cx="1782864" cy="1746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1000">
                <a:solidFill>
                  <a:srgbClr val="000000"/>
                </a:solidFill>
                <a:latin typeface="Inter"/>
                <a:ea typeface="Inter"/>
                <a:cs typeface="Inter"/>
                <a:sym typeface="Inter"/>
              </a:rPr>
              <a:t>(GeeksforGeeks, 2025)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1000"/>
                                        <p:tgtEl>
                                          <p:spTgt spid="486"/>
                                        </p:tgtEl>
                                      </p:cBhvr>
                                    </p:animEffect>
                                  </p:childTnLst>
                                </p:cTn>
                              </p:par>
                              <p:par>
                                <p:cTn fill="hold" nodeType="with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1000"/>
                                        <p:tgtEl>
                                          <p:spTgt spid="487"/>
                                        </p:tgtEl>
                                      </p:cBhvr>
                                    </p:animEffect>
                                  </p:childTnLst>
                                </p:cTn>
                              </p:par>
                              <p:par>
                                <p:cTn fill="hold" nodeType="with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par>
                                <p:cTn fill="hold" nodeType="with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1000"/>
                                        <p:tgtEl>
                                          <p:spTgt spid="489"/>
                                        </p:tgtEl>
                                      </p:cBhvr>
                                    </p:animEffect>
                                  </p:childTnLst>
                                </p:cTn>
                              </p:par>
                              <p:par>
                                <p:cTn fill="hold" nodeType="with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1000"/>
                                        <p:tgtEl>
                                          <p:spTgt spid="490"/>
                                        </p:tgtEl>
                                      </p:cBhvr>
                                    </p:animEffect>
                                  </p:childTnLst>
                                </p:cTn>
                              </p:par>
                              <p:par>
                                <p:cTn fill="hold" nodeType="with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1000"/>
                                        <p:tgtEl>
                                          <p:spTgt spid="491"/>
                                        </p:tgtEl>
                                      </p:cBhvr>
                                    </p:animEffect>
                                  </p:childTnLst>
                                </p:cTn>
                              </p:par>
                              <p:par>
                                <p:cTn fill="hold" nodeType="with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1000"/>
                                        <p:tgtEl>
                                          <p:spTgt spid="492"/>
                                        </p:tgtEl>
                                      </p:cBhvr>
                                    </p:animEffect>
                                  </p:childTnLst>
                                </p:cTn>
                              </p:par>
                              <p:par>
                                <p:cTn fill="hold" nodeType="with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1000"/>
                                        <p:tgtEl>
                                          <p:spTgt spid="493"/>
                                        </p:tgtEl>
                                      </p:cBhvr>
                                    </p:animEffect>
                                  </p:childTnLst>
                                </p:cTn>
                              </p:par>
                              <p:par>
                                <p:cTn fill="hold" nodeType="with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1000"/>
                                        <p:tgtEl>
                                          <p:spTgt spid="4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498" name="Shape 498"/>
        <p:cNvGrpSpPr/>
        <p:nvPr/>
      </p:nvGrpSpPr>
      <p:grpSpPr>
        <a:xfrm>
          <a:off x="0" y="0"/>
          <a:ext cx="0" cy="0"/>
          <a:chOff x="0" y="0"/>
          <a:chExt cx="0" cy="0"/>
        </a:xfrm>
      </p:grpSpPr>
      <p:sp>
        <p:nvSpPr>
          <p:cNvPr id="499" name="Google Shape;499;p31"/>
          <p:cNvSpPr/>
          <p:nvPr/>
        </p:nvSpPr>
        <p:spPr>
          <a:xfrm>
            <a:off x="449877" y="2527713"/>
            <a:ext cx="17388247" cy="6781416"/>
          </a:xfrm>
          <a:custGeom>
            <a:rect b="b" l="l" r="r" t="t"/>
            <a:pathLst>
              <a:path extrusionOk="0" h="6781416" w="17388247">
                <a:moveTo>
                  <a:pt x="0" y="0"/>
                </a:moveTo>
                <a:lnTo>
                  <a:pt x="17388246" y="0"/>
                </a:lnTo>
                <a:lnTo>
                  <a:pt x="17388246" y="6781416"/>
                </a:lnTo>
                <a:lnTo>
                  <a:pt x="0" y="6781416"/>
                </a:lnTo>
                <a:lnTo>
                  <a:pt x="0" y="0"/>
                </a:lnTo>
                <a:close/>
              </a:path>
            </a:pathLst>
          </a:custGeom>
          <a:blipFill rotWithShape="1">
            <a:blip r:embed="rId3">
              <a:alphaModFix/>
            </a:blip>
            <a:stretch>
              <a:fillRect b="0" l="0" r="0" t="0"/>
            </a:stretch>
          </a:blipFill>
          <a:ln>
            <a:noFill/>
          </a:ln>
        </p:spPr>
      </p:sp>
      <p:sp>
        <p:nvSpPr>
          <p:cNvPr id="500" name="Google Shape;500;p31"/>
          <p:cNvSpPr txBox="1"/>
          <p:nvPr/>
        </p:nvSpPr>
        <p:spPr>
          <a:xfrm>
            <a:off x="1028700" y="1101696"/>
            <a:ext cx="16202942" cy="790575"/>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None/>
            </a:pPr>
            <a:r>
              <a:rPr lang="en-US" sz="6000">
                <a:solidFill>
                  <a:srgbClr val="503C30"/>
                </a:solidFill>
                <a:latin typeface="Arial"/>
                <a:ea typeface="Arial"/>
                <a:cs typeface="Arial"/>
                <a:sym typeface="Arial"/>
              </a:rPr>
              <a:t>PROTOCOLOS DESTACADOS Y SUS CAPAS</a:t>
            </a:r>
            <a:endParaRPr/>
          </a:p>
        </p:txBody>
      </p:sp>
      <p:sp>
        <p:nvSpPr>
          <p:cNvPr id="501" name="Google Shape;501;p31"/>
          <p:cNvSpPr txBox="1"/>
          <p:nvPr/>
        </p:nvSpPr>
        <p:spPr>
          <a:xfrm>
            <a:off x="15174948" y="3149939"/>
            <a:ext cx="1466701" cy="34226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lang="en-US" sz="1899">
                <a:solidFill>
                  <a:srgbClr val="000000"/>
                </a:solidFill>
                <a:latin typeface="Arial"/>
                <a:ea typeface="Arial"/>
                <a:cs typeface="Arial"/>
                <a:sym typeface="Arial"/>
              </a:rPr>
              <a:t>(SSL CORP, 2023)</a:t>
            </a:r>
            <a:endParaRPr/>
          </a:p>
        </p:txBody>
      </p:sp>
      <p:sp>
        <p:nvSpPr>
          <p:cNvPr id="502" name="Google Shape;502;p31"/>
          <p:cNvSpPr txBox="1"/>
          <p:nvPr/>
        </p:nvSpPr>
        <p:spPr>
          <a:xfrm>
            <a:off x="15529768" y="4197921"/>
            <a:ext cx="1466701" cy="34226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lang="en-US" sz="1899">
                <a:solidFill>
                  <a:srgbClr val="000000"/>
                </a:solidFill>
                <a:latin typeface="Arial"/>
                <a:ea typeface="Arial"/>
                <a:cs typeface="Arial"/>
                <a:sym typeface="Arial"/>
              </a:rPr>
              <a:t>(SSL CORP, 2023)</a:t>
            </a:r>
            <a:endParaRPr/>
          </a:p>
        </p:txBody>
      </p:sp>
      <p:sp>
        <p:nvSpPr>
          <p:cNvPr id="503" name="Google Shape;503;p31"/>
          <p:cNvSpPr txBox="1"/>
          <p:nvPr/>
        </p:nvSpPr>
        <p:spPr>
          <a:xfrm>
            <a:off x="15327348" y="4692586"/>
            <a:ext cx="1466701" cy="34226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lang="en-US" sz="1899">
                <a:solidFill>
                  <a:srgbClr val="000000"/>
                </a:solidFill>
                <a:latin typeface="Arial"/>
                <a:ea typeface="Arial"/>
                <a:cs typeface="Arial"/>
                <a:sym typeface="Arial"/>
              </a:rPr>
              <a:t>(SSL CORP, 2023)</a:t>
            </a:r>
            <a:endParaRPr/>
          </a:p>
        </p:txBody>
      </p:sp>
      <p:sp>
        <p:nvSpPr>
          <p:cNvPr id="504" name="Google Shape;504;p31"/>
          <p:cNvSpPr txBox="1"/>
          <p:nvPr/>
        </p:nvSpPr>
        <p:spPr>
          <a:xfrm>
            <a:off x="15093166" y="3703256"/>
            <a:ext cx="1466701" cy="34226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lang="en-US" sz="1899">
                <a:solidFill>
                  <a:srgbClr val="000000"/>
                </a:solidFill>
                <a:latin typeface="Arial"/>
                <a:ea typeface="Arial"/>
                <a:cs typeface="Arial"/>
                <a:sym typeface="Arial"/>
              </a:rPr>
              <a:t>(SSL CORP, 2023)</a:t>
            </a:r>
            <a:endParaRPr/>
          </a:p>
        </p:txBody>
      </p:sp>
      <p:sp>
        <p:nvSpPr>
          <p:cNvPr id="505" name="Google Shape;505;p31"/>
          <p:cNvSpPr txBox="1"/>
          <p:nvPr/>
        </p:nvSpPr>
        <p:spPr>
          <a:xfrm>
            <a:off x="15784548" y="5187251"/>
            <a:ext cx="1466701" cy="34226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lang="en-US" sz="1899">
                <a:solidFill>
                  <a:srgbClr val="000000"/>
                </a:solidFill>
                <a:latin typeface="Arial"/>
                <a:ea typeface="Arial"/>
                <a:cs typeface="Arial"/>
                <a:sym typeface="Arial"/>
              </a:rPr>
              <a:t>(SSL CORP, 2023)</a:t>
            </a:r>
            <a:endParaRPr/>
          </a:p>
        </p:txBody>
      </p:sp>
      <p:sp>
        <p:nvSpPr>
          <p:cNvPr id="506" name="Google Shape;506;p31"/>
          <p:cNvSpPr txBox="1"/>
          <p:nvPr/>
        </p:nvSpPr>
        <p:spPr>
          <a:xfrm>
            <a:off x="15936948" y="5729542"/>
            <a:ext cx="1466701" cy="34226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lang="en-US" sz="1899">
                <a:solidFill>
                  <a:srgbClr val="000000"/>
                </a:solidFill>
                <a:latin typeface="Arial"/>
                <a:ea typeface="Arial"/>
                <a:cs typeface="Arial"/>
                <a:sym typeface="Arial"/>
              </a:rPr>
              <a:t>(SSL CORP, 2023)</a:t>
            </a:r>
            <a:endParaRPr/>
          </a:p>
        </p:txBody>
      </p:sp>
      <p:sp>
        <p:nvSpPr>
          <p:cNvPr id="507" name="Google Shape;507;p31"/>
          <p:cNvSpPr txBox="1"/>
          <p:nvPr/>
        </p:nvSpPr>
        <p:spPr>
          <a:xfrm>
            <a:off x="15784548" y="6224207"/>
            <a:ext cx="1466701" cy="34226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lang="en-US" sz="1899">
                <a:solidFill>
                  <a:srgbClr val="000000"/>
                </a:solidFill>
                <a:latin typeface="Arial"/>
                <a:ea typeface="Arial"/>
                <a:cs typeface="Arial"/>
                <a:sym typeface="Arial"/>
              </a:rPr>
              <a:t>(SSL CORP, 2023)</a:t>
            </a:r>
            <a:endParaRPr/>
          </a:p>
        </p:txBody>
      </p:sp>
      <p:sp>
        <p:nvSpPr>
          <p:cNvPr id="508" name="Google Shape;508;p31"/>
          <p:cNvSpPr txBox="1"/>
          <p:nvPr/>
        </p:nvSpPr>
        <p:spPr>
          <a:xfrm>
            <a:off x="15879351" y="6690730"/>
            <a:ext cx="1466701" cy="34226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lang="en-US" sz="1899">
                <a:solidFill>
                  <a:srgbClr val="000000"/>
                </a:solidFill>
                <a:latin typeface="Arial"/>
                <a:ea typeface="Arial"/>
                <a:cs typeface="Arial"/>
                <a:sym typeface="Arial"/>
              </a:rPr>
              <a:t>(SSL CORP, 2023)</a:t>
            </a:r>
            <a:endParaRPr/>
          </a:p>
        </p:txBody>
      </p:sp>
      <p:sp>
        <p:nvSpPr>
          <p:cNvPr id="509" name="Google Shape;509;p31"/>
          <p:cNvSpPr txBox="1"/>
          <p:nvPr/>
        </p:nvSpPr>
        <p:spPr>
          <a:xfrm>
            <a:off x="14178766" y="7233021"/>
            <a:ext cx="1466701" cy="34226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lang="en-US" sz="1899">
                <a:solidFill>
                  <a:srgbClr val="000000"/>
                </a:solidFill>
                <a:latin typeface="Arial"/>
                <a:ea typeface="Arial"/>
                <a:cs typeface="Arial"/>
                <a:sym typeface="Arial"/>
              </a:rPr>
              <a:t>(SSL CORP, 2023)</a:t>
            </a:r>
            <a:endParaRPr/>
          </a:p>
        </p:txBody>
      </p:sp>
      <p:sp>
        <p:nvSpPr>
          <p:cNvPr id="510" name="Google Shape;510;p31"/>
          <p:cNvSpPr txBox="1"/>
          <p:nvPr/>
        </p:nvSpPr>
        <p:spPr>
          <a:xfrm>
            <a:off x="15820192" y="7718161"/>
            <a:ext cx="1795016" cy="266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1500">
                <a:solidFill>
                  <a:srgbClr val="000000"/>
                </a:solidFill>
                <a:latin typeface="Inter"/>
                <a:ea typeface="Inter"/>
                <a:cs typeface="Inter"/>
                <a:sym typeface="Inter"/>
              </a:rPr>
              <a:t>(SSL Corp, 2023)</a:t>
            </a:r>
            <a:endParaRPr/>
          </a:p>
        </p:txBody>
      </p:sp>
      <p:sp>
        <p:nvSpPr>
          <p:cNvPr id="511" name="Google Shape;511;p31"/>
          <p:cNvSpPr txBox="1"/>
          <p:nvPr/>
        </p:nvSpPr>
        <p:spPr>
          <a:xfrm>
            <a:off x="14331166" y="8217906"/>
            <a:ext cx="1466701" cy="34226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lang="en-US" sz="1899">
                <a:solidFill>
                  <a:srgbClr val="000000"/>
                </a:solidFill>
                <a:latin typeface="Arial"/>
                <a:ea typeface="Arial"/>
                <a:cs typeface="Arial"/>
                <a:sym typeface="Arial"/>
              </a:rPr>
              <a:t>(SSL CORP, 2023)</a:t>
            </a:r>
            <a:endParaRPr/>
          </a:p>
        </p:txBody>
      </p:sp>
      <p:sp>
        <p:nvSpPr>
          <p:cNvPr id="512" name="Google Shape;512;p31"/>
          <p:cNvSpPr txBox="1"/>
          <p:nvPr/>
        </p:nvSpPr>
        <p:spPr>
          <a:xfrm>
            <a:off x="14940766" y="8749438"/>
            <a:ext cx="1466701" cy="342265"/>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None/>
            </a:pPr>
            <a:r>
              <a:rPr lang="en-US" sz="1899">
                <a:solidFill>
                  <a:srgbClr val="000000"/>
                </a:solidFill>
                <a:latin typeface="Arial"/>
                <a:ea typeface="Arial"/>
                <a:cs typeface="Arial"/>
                <a:sym typeface="Arial"/>
              </a:rPr>
              <a:t>(SSL CORP, 2023)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par>
                                <p:cTn fill="hold" nodeType="with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1000"/>
                                        <p:tgtEl>
                                          <p:spTgt spid="500"/>
                                        </p:tgtEl>
                                      </p:cBhvr>
                                    </p:animEffect>
                                  </p:childTnLst>
                                </p:cTn>
                              </p:par>
                              <p:par>
                                <p:cTn fill="hold" nodeType="with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1000"/>
                                        <p:tgtEl>
                                          <p:spTgt spid="501"/>
                                        </p:tgtEl>
                                      </p:cBhvr>
                                    </p:animEffect>
                                  </p:childTnLst>
                                </p:cTn>
                              </p:par>
                              <p:par>
                                <p:cTn fill="hold" nodeType="with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1000"/>
                                        <p:tgtEl>
                                          <p:spTgt spid="502"/>
                                        </p:tgtEl>
                                      </p:cBhvr>
                                    </p:animEffect>
                                  </p:childTnLst>
                                </p:cTn>
                              </p:par>
                              <p:par>
                                <p:cTn fill="hold" nodeType="withEffect" presetClass="entr" presetID="10" presetSubtype="0">
                                  <p:stCondLst>
                                    <p:cond delay="0"/>
                                  </p:stCondLst>
                                  <p:childTnLst>
                                    <p:set>
                                      <p:cBhvr>
                                        <p:cTn dur="1" fill="hold">
                                          <p:stCondLst>
                                            <p:cond delay="0"/>
                                          </p:stCondLst>
                                        </p:cTn>
                                        <p:tgtEl>
                                          <p:spTgt spid="503"/>
                                        </p:tgtEl>
                                        <p:attrNameLst>
                                          <p:attrName>style.visibility</p:attrName>
                                        </p:attrNameLst>
                                      </p:cBhvr>
                                      <p:to>
                                        <p:strVal val="visible"/>
                                      </p:to>
                                    </p:set>
                                    <p:animEffect filter="fade" transition="in">
                                      <p:cBhvr>
                                        <p:cTn dur="1000"/>
                                        <p:tgtEl>
                                          <p:spTgt spid="503"/>
                                        </p:tgtEl>
                                      </p:cBhvr>
                                    </p:animEffect>
                                  </p:childTnLst>
                                </p:cTn>
                              </p:par>
                              <p:par>
                                <p:cTn fill="hold" nodeType="withEffect" presetClass="entr" presetID="10" presetSubtype="0">
                                  <p:stCondLst>
                                    <p:cond delay="0"/>
                                  </p:stCondLst>
                                  <p:childTnLst>
                                    <p:set>
                                      <p:cBhvr>
                                        <p:cTn dur="1" fill="hold">
                                          <p:stCondLst>
                                            <p:cond delay="0"/>
                                          </p:stCondLst>
                                        </p:cTn>
                                        <p:tgtEl>
                                          <p:spTgt spid="504"/>
                                        </p:tgtEl>
                                        <p:attrNameLst>
                                          <p:attrName>style.visibility</p:attrName>
                                        </p:attrNameLst>
                                      </p:cBhvr>
                                      <p:to>
                                        <p:strVal val="visible"/>
                                      </p:to>
                                    </p:set>
                                    <p:animEffect filter="fade" transition="in">
                                      <p:cBhvr>
                                        <p:cTn dur="1000"/>
                                        <p:tgtEl>
                                          <p:spTgt spid="504"/>
                                        </p:tgtEl>
                                      </p:cBhvr>
                                    </p:animEffect>
                                  </p:childTnLst>
                                </p:cTn>
                              </p:par>
                              <p:par>
                                <p:cTn fill="hold" nodeType="with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1000"/>
                                        <p:tgtEl>
                                          <p:spTgt spid="505"/>
                                        </p:tgtEl>
                                      </p:cBhvr>
                                    </p:animEffect>
                                  </p:childTnLst>
                                </p:cTn>
                              </p:par>
                              <p:par>
                                <p:cTn fill="hold" nodeType="with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1000"/>
                                        <p:tgtEl>
                                          <p:spTgt spid="506"/>
                                        </p:tgtEl>
                                      </p:cBhvr>
                                    </p:animEffect>
                                  </p:childTnLst>
                                </p:cTn>
                              </p:par>
                              <p:par>
                                <p:cTn fill="hold" nodeType="with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1000"/>
                                        <p:tgtEl>
                                          <p:spTgt spid="507"/>
                                        </p:tgtEl>
                                      </p:cBhvr>
                                    </p:animEffect>
                                  </p:childTnLst>
                                </p:cTn>
                              </p:par>
                              <p:par>
                                <p:cTn fill="hold" nodeType="with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1000"/>
                                        <p:tgtEl>
                                          <p:spTgt spid="508"/>
                                        </p:tgtEl>
                                      </p:cBhvr>
                                    </p:animEffect>
                                  </p:childTnLst>
                                </p:cTn>
                              </p:par>
                              <p:par>
                                <p:cTn fill="hold" nodeType="with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1000"/>
                                        <p:tgtEl>
                                          <p:spTgt spid="509"/>
                                        </p:tgtEl>
                                      </p:cBhvr>
                                    </p:animEffect>
                                  </p:childTnLst>
                                </p:cTn>
                              </p:par>
                              <p:par>
                                <p:cTn fill="hold" nodeType="with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0"/>
                                        <p:tgtEl>
                                          <p:spTgt spid="510"/>
                                        </p:tgtEl>
                                      </p:cBhvr>
                                    </p:animEffect>
                                  </p:childTnLst>
                                </p:cTn>
                              </p:par>
                              <p:par>
                                <p:cTn fill="hold" nodeType="with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1000"/>
                                        <p:tgtEl>
                                          <p:spTgt spid="511"/>
                                        </p:tgtEl>
                                      </p:cBhvr>
                                    </p:animEffect>
                                  </p:childTnLst>
                                </p:cTn>
                              </p:par>
                              <p:par>
                                <p:cTn fill="hold" nodeType="with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1000"/>
                                        <p:tgtEl>
                                          <p:spTgt spid="5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516" name="Shape 516"/>
        <p:cNvGrpSpPr/>
        <p:nvPr/>
      </p:nvGrpSpPr>
      <p:grpSpPr>
        <a:xfrm>
          <a:off x="0" y="0"/>
          <a:ext cx="0" cy="0"/>
          <a:chOff x="0" y="0"/>
          <a:chExt cx="0" cy="0"/>
        </a:xfrm>
      </p:grpSpPr>
      <p:sp>
        <p:nvSpPr>
          <p:cNvPr id="517" name="Google Shape;517;p32"/>
          <p:cNvSpPr/>
          <p:nvPr/>
        </p:nvSpPr>
        <p:spPr>
          <a:xfrm>
            <a:off x="326320" y="2903711"/>
            <a:ext cx="16230600" cy="5733300"/>
          </a:xfrm>
          <a:custGeom>
            <a:rect b="b" l="l" r="r" t="t"/>
            <a:pathLst>
              <a:path extrusionOk="0" h="5733300" w="16230600">
                <a:moveTo>
                  <a:pt x="0" y="0"/>
                </a:moveTo>
                <a:lnTo>
                  <a:pt x="16230600" y="0"/>
                </a:lnTo>
                <a:lnTo>
                  <a:pt x="16230600" y="5733299"/>
                </a:lnTo>
                <a:lnTo>
                  <a:pt x="0" y="5733299"/>
                </a:lnTo>
                <a:lnTo>
                  <a:pt x="0" y="0"/>
                </a:lnTo>
                <a:close/>
              </a:path>
            </a:pathLst>
          </a:custGeom>
          <a:blipFill rotWithShape="1">
            <a:blip r:embed="rId3">
              <a:alphaModFix/>
            </a:blip>
            <a:stretch>
              <a:fillRect b="0" l="0" r="0" t="0"/>
            </a:stretch>
          </a:blipFill>
          <a:ln>
            <a:noFill/>
          </a:ln>
        </p:spPr>
      </p:sp>
      <p:sp>
        <p:nvSpPr>
          <p:cNvPr id="518" name="Google Shape;518;p32"/>
          <p:cNvSpPr txBox="1"/>
          <p:nvPr/>
        </p:nvSpPr>
        <p:spPr>
          <a:xfrm>
            <a:off x="1028700" y="1751186"/>
            <a:ext cx="16203000" cy="745800"/>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None/>
            </a:pPr>
            <a:r>
              <a:rPr lang="en-US" sz="5100">
                <a:solidFill>
                  <a:srgbClr val="503C30"/>
                </a:solidFill>
                <a:latin typeface="Arial"/>
                <a:ea typeface="Arial"/>
                <a:cs typeface="Arial"/>
                <a:sym typeface="Arial"/>
              </a:rPr>
              <a:t>EJEMPLO PRÁCTICO DEL MODELO OSI COMPLETO</a:t>
            </a:r>
            <a:endParaRPr sz="500"/>
          </a:p>
        </p:txBody>
      </p:sp>
      <p:sp>
        <p:nvSpPr>
          <p:cNvPr id="519" name="Google Shape;519;p32"/>
          <p:cNvSpPr txBox="1"/>
          <p:nvPr/>
        </p:nvSpPr>
        <p:spPr>
          <a:xfrm>
            <a:off x="15491884" y="3996627"/>
            <a:ext cx="1694111" cy="299720"/>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None/>
            </a:pPr>
            <a:r>
              <a:rPr lang="en-US" sz="1699">
                <a:solidFill>
                  <a:srgbClr val="000000"/>
                </a:solidFill>
                <a:latin typeface="Arial"/>
                <a:ea typeface="Arial"/>
                <a:cs typeface="Arial"/>
                <a:sym typeface="Arial"/>
              </a:rPr>
              <a:t>(MACVERIFY.COM, N.D.)</a:t>
            </a:r>
            <a:endParaRPr/>
          </a:p>
        </p:txBody>
      </p:sp>
      <p:sp>
        <p:nvSpPr>
          <p:cNvPr id="520" name="Google Shape;520;p32"/>
          <p:cNvSpPr txBox="1"/>
          <p:nvPr/>
        </p:nvSpPr>
        <p:spPr>
          <a:xfrm>
            <a:off x="15006898" y="4601782"/>
            <a:ext cx="1694111" cy="299720"/>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None/>
            </a:pPr>
            <a:r>
              <a:rPr lang="en-US" sz="1699">
                <a:solidFill>
                  <a:srgbClr val="000000"/>
                </a:solidFill>
                <a:latin typeface="Arial"/>
                <a:ea typeface="Arial"/>
                <a:cs typeface="Arial"/>
                <a:sym typeface="Arial"/>
              </a:rPr>
              <a:t>(MACVERIFY.COM, N.D.)</a:t>
            </a:r>
            <a:endParaRPr/>
          </a:p>
        </p:txBody>
      </p:sp>
      <p:sp>
        <p:nvSpPr>
          <p:cNvPr id="521" name="Google Shape;521;p32"/>
          <p:cNvSpPr txBox="1"/>
          <p:nvPr/>
        </p:nvSpPr>
        <p:spPr>
          <a:xfrm>
            <a:off x="15805472" y="5358702"/>
            <a:ext cx="1694111" cy="299720"/>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None/>
            </a:pPr>
            <a:r>
              <a:rPr lang="en-US" sz="1699">
                <a:solidFill>
                  <a:srgbClr val="000000"/>
                </a:solidFill>
                <a:latin typeface="Arial"/>
                <a:ea typeface="Arial"/>
                <a:cs typeface="Arial"/>
                <a:sym typeface="Arial"/>
              </a:rPr>
              <a:t>(MACVERIFY.COM, N.D.)</a:t>
            </a:r>
            <a:endParaRPr/>
          </a:p>
        </p:txBody>
      </p:sp>
      <p:sp>
        <p:nvSpPr>
          <p:cNvPr id="522" name="Google Shape;522;p32"/>
          <p:cNvSpPr txBox="1"/>
          <p:nvPr/>
        </p:nvSpPr>
        <p:spPr>
          <a:xfrm>
            <a:off x="15178460" y="6001322"/>
            <a:ext cx="1694111" cy="299720"/>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None/>
            </a:pPr>
            <a:r>
              <a:rPr lang="en-US" sz="1699">
                <a:solidFill>
                  <a:srgbClr val="000000"/>
                </a:solidFill>
                <a:latin typeface="Arial"/>
                <a:ea typeface="Arial"/>
                <a:cs typeface="Arial"/>
                <a:sym typeface="Arial"/>
              </a:rPr>
              <a:t>(MACVERIFY.COM, N.D.)</a:t>
            </a:r>
            <a:endParaRPr/>
          </a:p>
        </p:txBody>
      </p:sp>
      <p:sp>
        <p:nvSpPr>
          <p:cNvPr id="523" name="Google Shape;523;p32"/>
          <p:cNvSpPr txBox="1"/>
          <p:nvPr/>
        </p:nvSpPr>
        <p:spPr>
          <a:xfrm>
            <a:off x="15949084" y="6645862"/>
            <a:ext cx="1694111" cy="299720"/>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None/>
            </a:pPr>
            <a:r>
              <a:rPr lang="en-US" sz="1699">
                <a:solidFill>
                  <a:srgbClr val="000000"/>
                </a:solidFill>
                <a:latin typeface="Arial"/>
                <a:ea typeface="Arial"/>
                <a:cs typeface="Arial"/>
                <a:sym typeface="Arial"/>
              </a:rPr>
              <a:t>(MACVERIFY.COM, N.D.)</a:t>
            </a:r>
            <a:endParaRPr/>
          </a:p>
        </p:txBody>
      </p:sp>
      <p:sp>
        <p:nvSpPr>
          <p:cNvPr id="524" name="Google Shape;524;p32"/>
          <p:cNvSpPr txBox="1"/>
          <p:nvPr/>
        </p:nvSpPr>
        <p:spPr>
          <a:xfrm>
            <a:off x="15377479" y="7292237"/>
            <a:ext cx="1694111" cy="299720"/>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None/>
            </a:pPr>
            <a:r>
              <a:rPr lang="en-US" sz="1699">
                <a:solidFill>
                  <a:srgbClr val="000000"/>
                </a:solidFill>
                <a:latin typeface="Arial"/>
                <a:ea typeface="Arial"/>
                <a:cs typeface="Arial"/>
                <a:sym typeface="Arial"/>
              </a:rPr>
              <a:t>(MACVERIFY.COM, N.D.)</a:t>
            </a:r>
            <a:endParaRPr/>
          </a:p>
        </p:txBody>
      </p:sp>
      <p:sp>
        <p:nvSpPr>
          <p:cNvPr id="525" name="Google Shape;525;p32"/>
          <p:cNvSpPr txBox="1"/>
          <p:nvPr/>
        </p:nvSpPr>
        <p:spPr>
          <a:xfrm>
            <a:off x="16338940" y="8069203"/>
            <a:ext cx="1843385" cy="19113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1100">
                <a:solidFill>
                  <a:srgbClr val="000000"/>
                </a:solidFill>
                <a:latin typeface="Inter"/>
                <a:ea typeface="Inter"/>
                <a:cs typeface="Inter"/>
                <a:sym typeface="Inter"/>
              </a:rPr>
              <a:t>(MACVerify.com, n.d.)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1000"/>
                                        <p:tgtEl>
                                          <p:spTgt spid="517"/>
                                        </p:tgtEl>
                                      </p:cBhvr>
                                    </p:animEffect>
                                  </p:childTnLst>
                                </p:cTn>
                              </p:par>
                              <p:par>
                                <p:cTn fill="hold" nodeType="with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1000"/>
                                        <p:tgtEl>
                                          <p:spTgt spid="518"/>
                                        </p:tgtEl>
                                      </p:cBhvr>
                                    </p:animEffect>
                                  </p:childTnLst>
                                </p:cTn>
                              </p:par>
                              <p:par>
                                <p:cTn fill="hold" nodeType="with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1000"/>
                                        <p:tgtEl>
                                          <p:spTgt spid="519"/>
                                        </p:tgtEl>
                                      </p:cBhvr>
                                    </p:animEffect>
                                  </p:childTnLst>
                                </p:cTn>
                              </p:par>
                              <p:par>
                                <p:cTn fill="hold" nodeType="with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1000"/>
                                        <p:tgtEl>
                                          <p:spTgt spid="520"/>
                                        </p:tgtEl>
                                      </p:cBhvr>
                                    </p:animEffect>
                                  </p:childTnLst>
                                </p:cTn>
                              </p:par>
                              <p:par>
                                <p:cTn fill="hold" nodeType="with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1000"/>
                                        <p:tgtEl>
                                          <p:spTgt spid="521"/>
                                        </p:tgtEl>
                                      </p:cBhvr>
                                    </p:animEffect>
                                  </p:childTnLst>
                                </p:cTn>
                              </p:par>
                              <p:par>
                                <p:cTn fill="hold" nodeType="with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1000"/>
                                        <p:tgtEl>
                                          <p:spTgt spid="522"/>
                                        </p:tgtEl>
                                      </p:cBhvr>
                                    </p:animEffect>
                                  </p:childTnLst>
                                </p:cTn>
                              </p:par>
                              <p:par>
                                <p:cTn fill="hold" nodeType="with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1000"/>
                                        <p:tgtEl>
                                          <p:spTgt spid="523"/>
                                        </p:tgtEl>
                                      </p:cBhvr>
                                    </p:animEffect>
                                  </p:childTnLst>
                                </p:cTn>
                              </p:par>
                              <p:par>
                                <p:cTn fill="hold" nodeType="with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1000"/>
                                        <p:tgtEl>
                                          <p:spTgt spid="524"/>
                                        </p:tgtEl>
                                      </p:cBhvr>
                                    </p:animEffect>
                                  </p:childTnLst>
                                </p:cTn>
                              </p:par>
                              <p:par>
                                <p:cTn fill="hold" nodeType="with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1000"/>
                                        <p:tgtEl>
                                          <p:spTgt spid="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529" name="Shape 529"/>
        <p:cNvGrpSpPr/>
        <p:nvPr/>
      </p:nvGrpSpPr>
      <p:grpSpPr>
        <a:xfrm>
          <a:off x="0" y="0"/>
          <a:ext cx="0" cy="0"/>
          <a:chOff x="0" y="0"/>
          <a:chExt cx="0" cy="0"/>
        </a:xfrm>
      </p:grpSpPr>
      <p:cxnSp>
        <p:nvCxnSpPr>
          <p:cNvPr id="530" name="Google Shape;530;p33"/>
          <p:cNvCxnSpPr/>
          <p:nvPr/>
        </p:nvCxnSpPr>
        <p:spPr>
          <a:xfrm rot="10800000">
            <a:off x="2614210" y="1704925"/>
            <a:ext cx="0" cy="1947300"/>
          </a:xfrm>
          <a:prstGeom prst="straightConnector1">
            <a:avLst/>
          </a:prstGeom>
          <a:noFill/>
          <a:ln cap="flat" cmpd="sng" w="57150">
            <a:solidFill>
              <a:srgbClr val="FFFDFE"/>
            </a:solidFill>
            <a:prstDash val="dash"/>
            <a:round/>
            <a:headEnd len="sm" w="sm" type="none"/>
            <a:tailEnd len="sm" w="sm" type="none"/>
          </a:ln>
        </p:spPr>
      </p:cxnSp>
      <p:cxnSp>
        <p:nvCxnSpPr>
          <p:cNvPr id="531" name="Google Shape;531;p33"/>
          <p:cNvCxnSpPr/>
          <p:nvPr/>
        </p:nvCxnSpPr>
        <p:spPr>
          <a:xfrm rot="10800000">
            <a:off x="7958585" y="3151350"/>
            <a:ext cx="0" cy="1947300"/>
          </a:xfrm>
          <a:prstGeom prst="straightConnector1">
            <a:avLst/>
          </a:prstGeom>
          <a:noFill/>
          <a:ln cap="flat" cmpd="sng" w="57150">
            <a:solidFill>
              <a:srgbClr val="FFFDFE"/>
            </a:solidFill>
            <a:prstDash val="dash"/>
            <a:round/>
            <a:headEnd len="sm" w="sm" type="none"/>
            <a:tailEnd len="sm" w="sm" type="none"/>
          </a:ln>
        </p:spPr>
      </p:cxnSp>
      <p:cxnSp>
        <p:nvCxnSpPr>
          <p:cNvPr id="532" name="Google Shape;532;p33"/>
          <p:cNvCxnSpPr/>
          <p:nvPr/>
        </p:nvCxnSpPr>
        <p:spPr>
          <a:xfrm rot="10800000">
            <a:off x="12433732" y="3151350"/>
            <a:ext cx="0" cy="1947300"/>
          </a:xfrm>
          <a:prstGeom prst="straightConnector1">
            <a:avLst/>
          </a:prstGeom>
          <a:noFill/>
          <a:ln cap="flat" cmpd="sng" w="57150">
            <a:solidFill>
              <a:srgbClr val="FFFDFE"/>
            </a:solidFill>
            <a:prstDash val="dash"/>
            <a:round/>
            <a:headEnd len="sm" w="sm" type="none"/>
            <a:tailEnd len="sm" w="sm" type="none"/>
          </a:ln>
        </p:spPr>
      </p:cxnSp>
      <p:cxnSp>
        <p:nvCxnSpPr>
          <p:cNvPr id="533" name="Google Shape;533;p33"/>
          <p:cNvCxnSpPr/>
          <p:nvPr/>
        </p:nvCxnSpPr>
        <p:spPr>
          <a:xfrm rot="10800000">
            <a:off x="5723231" y="5069568"/>
            <a:ext cx="0" cy="1947300"/>
          </a:xfrm>
          <a:prstGeom prst="straightConnector1">
            <a:avLst/>
          </a:prstGeom>
          <a:noFill/>
          <a:ln cap="flat" cmpd="sng" w="57150">
            <a:solidFill>
              <a:srgbClr val="FFFDFE"/>
            </a:solidFill>
            <a:prstDash val="dash"/>
            <a:round/>
            <a:headEnd len="sm" w="sm" type="none"/>
            <a:tailEnd len="sm" w="sm" type="none"/>
          </a:ln>
        </p:spPr>
      </p:cxnSp>
      <p:cxnSp>
        <p:nvCxnSpPr>
          <p:cNvPr id="534" name="Google Shape;534;p33"/>
          <p:cNvCxnSpPr/>
          <p:nvPr/>
        </p:nvCxnSpPr>
        <p:spPr>
          <a:xfrm rot="10800000">
            <a:off x="14669086" y="5066118"/>
            <a:ext cx="0" cy="1947300"/>
          </a:xfrm>
          <a:prstGeom prst="straightConnector1">
            <a:avLst/>
          </a:prstGeom>
          <a:noFill/>
          <a:ln cap="flat" cmpd="sng" w="57150">
            <a:solidFill>
              <a:srgbClr val="FFFDFE"/>
            </a:solidFill>
            <a:prstDash val="dash"/>
            <a:round/>
            <a:headEnd len="sm" w="sm" type="none"/>
            <a:tailEnd len="sm" w="sm" type="none"/>
          </a:ln>
        </p:spPr>
      </p:cxnSp>
      <p:cxnSp>
        <p:nvCxnSpPr>
          <p:cNvPr id="535" name="Google Shape;535;p33"/>
          <p:cNvCxnSpPr/>
          <p:nvPr/>
        </p:nvCxnSpPr>
        <p:spPr>
          <a:xfrm>
            <a:off x="0" y="5098650"/>
            <a:ext cx="18288000" cy="0"/>
          </a:xfrm>
          <a:prstGeom prst="straightConnector1">
            <a:avLst/>
          </a:prstGeom>
          <a:noFill/>
          <a:ln cap="flat" cmpd="sng" w="57150">
            <a:solidFill>
              <a:srgbClr val="FFBE98"/>
            </a:solidFill>
            <a:prstDash val="solid"/>
            <a:round/>
            <a:headEnd len="sm" w="sm" type="none"/>
            <a:tailEnd len="sm" w="sm" type="none"/>
          </a:ln>
        </p:spPr>
      </p:cxnSp>
      <p:grpSp>
        <p:nvGrpSpPr>
          <p:cNvPr id="536" name="Google Shape;536;p33"/>
          <p:cNvGrpSpPr/>
          <p:nvPr/>
        </p:nvGrpSpPr>
        <p:grpSpPr>
          <a:xfrm>
            <a:off x="1801415" y="5840921"/>
            <a:ext cx="3216185" cy="3321676"/>
            <a:chOff x="0" y="0"/>
            <a:chExt cx="6350000" cy="6558280"/>
          </a:xfrm>
        </p:grpSpPr>
        <p:sp>
          <p:nvSpPr>
            <p:cNvPr id="537" name="Google Shape;537;p33"/>
            <p:cNvSpPr/>
            <p:nvPr/>
          </p:nvSpPr>
          <p:spPr>
            <a:xfrm>
              <a:off x="74930" y="74930"/>
              <a:ext cx="6200140" cy="6408420"/>
            </a:xfrm>
            <a:custGeom>
              <a:rect b="b" l="l" r="r" t="t"/>
              <a:pathLst>
                <a:path extrusionOk="0"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rotWithShape="1">
              <a:blip r:embed="rId3">
                <a:alphaModFix/>
              </a:blip>
              <a:stretch>
                <a:fillRect b="0" l="-95204" r="-11505"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3"/>
            <p:cNvSpPr/>
            <p:nvPr/>
          </p:nvSpPr>
          <p:spPr>
            <a:xfrm>
              <a:off x="0" y="0"/>
              <a:ext cx="6350000" cy="6558280"/>
            </a:xfrm>
            <a:custGeom>
              <a:rect b="b" l="l" r="r" t="t"/>
              <a:pathLst>
                <a:path extrusionOk="0"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9" name="Google Shape;539;p33"/>
          <p:cNvGrpSpPr/>
          <p:nvPr/>
        </p:nvGrpSpPr>
        <p:grpSpPr>
          <a:xfrm>
            <a:off x="7627387" y="1028700"/>
            <a:ext cx="3033226" cy="3132716"/>
            <a:chOff x="0" y="0"/>
            <a:chExt cx="6350000" cy="6558280"/>
          </a:xfrm>
        </p:grpSpPr>
        <p:sp>
          <p:nvSpPr>
            <p:cNvPr id="540" name="Google Shape;540;p33"/>
            <p:cNvSpPr/>
            <p:nvPr/>
          </p:nvSpPr>
          <p:spPr>
            <a:xfrm>
              <a:off x="74930" y="74930"/>
              <a:ext cx="6200140" cy="6408420"/>
            </a:xfrm>
            <a:custGeom>
              <a:rect b="b" l="l" r="r" t="t"/>
              <a:pathLst>
                <a:path extrusionOk="0"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rotWithShape="1">
              <a:blip r:embed="rId4">
                <a:alphaModFix/>
              </a:blip>
              <a:stretch>
                <a:fillRect b="0" l="-53353" r="-53355"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3"/>
            <p:cNvSpPr/>
            <p:nvPr/>
          </p:nvSpPr>
          <p:spPr>
            <a:xfrm>
              <a:off x="0" y="0"/>
              <a:ext cx="6350000" cy="6558280"/>
            </a:xfrm>
            <a:custGeom>
              <a:rect b="b" l="l" r="r" t="t"/>
              <a:pathLst>
                <a:path extrusionOk="0"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 name="Google Shape;542;p33"/>
          <p:cNvGrpSpPr/>
          <p:nvPr/>
        </p:nvGrpSpPr>
        <p:grpSpPr>
          <a:xfrm>
            <a:off x="12998162" y="5840921"/>
            <a:ext cx="3216185" cy="3321676"/>
            <a:chOff x="0" y="0"/>
            <a:chExt cx="6350000" cy="6558280"/>
          </a:xfrm>
        </p:grpSpPr>
        <p:sp>
          <p:nvSpPr>
            <p:cNvPr id="543" name="Google Shape;543;p33"/>
            <p:cNvSpPr/>
            <p:nvPr/>
          </p:nvSpPr>
          <p:spPr>
            <a:xfrm>
              <a:off x="74930" y="74930"/>
              <a:ext cx="6200140" cy="6408420"/>
            </a:xfrm>
            <a:custGeom>
              <a:rect b="b" l="l" r="r" t="t"/>
              <a:pathLst>
                <a:path extrusionOk="0"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rotWithShape="1">
              <a:blip r:embed="rId5">
                <a:alphaModFix/>
              </a:blip>
              <a:stretch>
                <a:fillRect b="0" l="-13214" r="-13214"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3"/>
            <p:cNvSpPr/>
            <p:nvPr/>
          </p:nvSpPr>
          <p:spPr>
            <a:xfrm>
              <a:off x="0" y="0"/>
              <a:ext cx="6350000" cy="6558280"/>
            </a:xfrm>
            <a:custGeom>
              <a:rect b="b" l="l" r="r" t="t"/>
              <a:pathLst>
                <a:path extrusionOk="0"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5" name="Google Shape;545;p33"/>
          <p:cNvGrpSpPr/>
          <p:nvPr/>
        </p:nvGrpSpPr>
        <p:grpSpPr>
          <a:xfrm>
            <a:off x="868703" y="970366"/>
            <a:ext cx="6152911" cy="2434852"/>
            <a:chOff x="0" y="-47625"/>
            <a:chExt cx="1492769" cy="590724"/>
          </a:xfrm>
        </p:grpSpPr>
        <p:sp>
          <p:nvSpPr>
            <p:cNvPr id="546" name="Google Shape;546;p33"/>
            <p:cNvSpPr/>
            <p:nvPr/>
          </p:nvSpPr>
          <p:spPr>
            <a:xfrm>
              <a:off x="0" y="0"/>
              <a:ext cx="1492769" cy="543099"/>
            </a:xfrm>
            <a:custGeom>
              <a:rect b="b" l="l" r="r" t="t"/>
              <a:pathLst>
                <a:path extrusionOk="0" h="543099" w="1492769">
                  <a:moveTo>
                    <a:pt x="64171" y="0"/>
                  </a:moveTo>
                  <a:lnTo>
                    <a:pt x="1428598" y="0"/>
                  </a:lnTo>
                  <a:cubicBezTo>
                    <a:pt x="1464038" y="0"/>
                    <a:pt x="1492769" y="28730"/>
                    <a:pt x="1492769" y="64171"/>
                  </a:cubicBezTo>
                  <a:lnTo>
                    <a:pt x="1492769" y="478928"/>
                  </a:lnTo>
                  <a:cubicBezTo>
                    <a:pt x="1492769" y="514368"/>
                    <a:pt x="1464038" y="543099"/>
                    <a:pt x="1428598" y="543099"/>
                  </a:cubicBezTo>
                  <a:lnTo>
                    <a:pt x="64171" y="543099"/>
                  </a:lnTo>
                  <a:cubicBezTo>
                    <a:pt x="28730" y="543099"/>
                    <a:pt x="0" y="514368"/>
                    <a:pt x="0" y="478928"/>
                  </a:cubicBezTo>
                  <a:lnTo>
                    <a:pt x="0" y="64171"/>
                  </a:lnTo>
                  <a:cubicBezTo>
                    <a:pt x="0" y="28730"/>
                    <a:pt x="28730" y="0"/>
                    <a:pt x="64171" y="0"/>
                  </a:cubicBezTo>
                  <a:close/>
                </a:path>
              </a:pathLst>
            </a:custGeom>
            <a:solidFill>
              <a:srgbClr val="FFFDFE"/>
            </a:solidFill>
            <a:ln cap="rnd" cmpd="sng" w="57150">
              <a:solidFill>
                <a:srgbClr val="1D7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3"/>
            <p:cNvSpPr txBox="1"/>
            <p:nvPr/>
          </p:nvSpPr>
          <p:spPr>
            <a:xfrm>
              <a:off x="0" y="-47625"/>
              <a:ext cx="1492769" cy="590724"/>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8" name="Google Shape;548;p33"/>
          <p:cNvSpPr txBox="1"/>
          <p:nvPr/>
        </p:nvSpPr>
        <p:spPr>
          <a:xfrm>
            <a:off x="15870718" y="348713"/>
            <a:ext cx="2307300" cy="1716900"/>
          </a:xfrm>
          <a:prstGeom prst="rect">
            <a:avLst/>
          </a:prstGeom>
          <a:noFill/>
          <a:ln>
            <a:noFill/>
          </a:ln>
        </p:spPr>
        <p:txBody>
          <a:bodyPr anchorCtr="0" anchor="t" bIns="0" lIns="0" spcFirstLastPara="1" rIns="0" wrap="square" tIns="0">
            <a:spAutoFit/>
          </a:bodyPr>
          <a:lstStyle/>
          <a:p>
            <a:pPr indent="0" lvl="0" marL="0" marR="0" rtl="0" algn="r">
              <a:lnSpc>
                <a:spcPct val="105002"/>
              </a:lnSpc>
              <a:spcBef>
                <a:spcPts val="0"/>
              </a:spcBef>
              <a:spcAft>
                <a:spcPts val="0"/>
              </a:spcAft>
              <a:buNone/>
            </a:pPr>
            <a:r>
              <a:rPr lang="en-US" sz="3598">
                <a:solidFill>
                  <a:srgbClr val="503C30"/>
                </a:solidFill>
                <a:latin typeface="Arial"/>
                <a:ea typeface="Arial"/>
                <a:cs typeface="Arial"/>
                <a:sym typeface="Arial"/>
              </a:rPr>
              <a:t>LINEA DEL TIEMPO</a:t>
            </a:r>
            <a:endParaRPr sz="200"/>
          </a:p>
        </p:txBody>
      </p:sp>
      <p:grpSp>
        <p:nvGrpSpPr>
          <p:cNvPr id="549" name="Google Shape;549;p33"/>
          <p:cNvGrpSpPr/>
          <p:nvPr/>
        </p:nvGrpSpPr>
        <p:grpSpPr>
          <a:xfrm>
            <a:off x="6002026" y="7114401"/>
            <a:ext cx="6152911" cy="2434852"/>
            <a:chOff x="0" y="-47625"/>
            <a:chExt cx="1492769" cy="590724"/>
          </a:xfrm>
        </p:grpSpPr>
        <p:sp>
          <p:nvSpPr>
            <p:cNvPr id="550" name="Google Shape;550;p33"/>
            <p:cNvSpPr/>
            <p:nvPr/>
          </p:nvSpPr>
          <p:spPr>
            <a:xfrm>
              <a:off x="0" y="0"/>
              <a:ext cx="1492769" cy="543099"/>
            </a:xfrm>
            <a:custGeom>
              <a:rect b="b" l="l" r="r" t="t"/>
              <a:pathLst>
                <a:path extrusionOk="0" h="543099" w="1492769">
                  <a:moveTo>
                    <a:pt x="64171" y="0"/>
                  </a:moveTo>
                  <a:lnTo>
                    <a:pt x="1428598" y="0"/>
                  </a:lnTo>
                  <a:cubicBezTo>
                    <a:pt x="1464038" y="0"/>
                    <a:pt x="1492769" y="28730"/>
                    <a:pt x="1492769" y="64171"/>
                  </a:cubicBezTo>
                  <a:lnTo>
                    <a:pt x="1492769" y="478928"/>
                  </a:lnTo>
                  <a:cubicBezTo>
                    <a:pt x="1492769" y="514368"/>
                    <a:pt x="1464038" y="543099"/>
                    <a:pt x="1428598" y="543099"/>
                  </a:cubicBezTo>
                  <a:lnTo>
                    <a:pt x="64171" y="543099"/>
                  </a:lnTo>
                  <a:cubicBezTo>
                    <a:pt x="28730" y="543099"/>
                    <a:pt x="0" y="514368"/>
                    <a:pt x="0" y="478928"/>
                  </a:cubicBezTo>
                  <a:lnTo>
                    <a:pt x="0" y="64171"/>
                  </a:lnTo>
                  <a:cubicBezTo>
                    <a:pt x="0" y="28730"/>
                    <a:pt x="28730" y="0"/>
                    <a:pt x="64171" y="0"/>
                  </a:cubicBezTo>
                  <a:close/>
                </a:path>
              </a:pathLst>
            </a:custGeom>
            <a:solidFill>
              <a:srgbClr val="FFFDFE"/>
            </a:solidFill>
            <a:ln cap="rnd" cmpd="sng" w="57150">
              <a:solidFill>
                <a:srgbClr val="FAD0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3"/>
            <p:cNvSpPr txBox="1"/>
            <p:nvPr/>
          </p:nvSpPr>
          <p:spPr>
            <a:xfrm>
              <a:off x="0" y="-47625"/>
              <a:ext cx="1492769" cy="590724"/>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52" name="Google Shape;552;p33"/>
          <p:cNvGrpSpPr/>
          <p:nvPr/>
        </p:nvGrpSpPr>
        <p:grpSpPr>
          <a:xfrm>
            <a:off x="11461745" y="970366"/>
            <a:ext cx="4791375" cy="2434852"/>
            <a:chOff x="0" y="-47625"/>
            <a:chExt cx="1162444" cy="590724"/>
          </a:xfrm>
        </p:grpSpPr>
        <p:sp>
          <p:nvSpPr>
            <p:cNvPr id="553" name="Google Shape;553;p33"/>
            <p:cNvSpPr/>
            <p:nvPr/>
          </p:nvSpPr>
          <p:spPr>
            <a:xfrm>
              <a:off x="0" y="0"/>
              <a:ext cx="1162444" cy="543099"/>
            </a:xfrm>
            <a:custGeom>
              <a:rect b="b" l="l" r="r" t="t"/>
              <a:pathLst>
                <a:path extrusionOk="0" h="543099" w="1162444">
                  <a:moveTo>
                    <a:pt x="82406" y="0"/>
                  </a:moveTo>
                  <a:lnTo>
                    <a:pt x="1080038" y="0"/>
                  </a:lnTo>
                  <a:cubicBezTo>
                    <a:pt x="1101893" y="0"/>
                    <a:pt x="1122854" y="8682"/>
                    <a:pt x="1138308" y="24136"/>
                  </a:cubicBezTo>
                  <a:cubicBezTo>
                    <a:pt x="1153762" y="39590"/>
                    <a:pt x="1162444" y="60551"/>
                    <a:pt x="1162444" y="82406"/>
                  </a:cubicBezTo>
                  <a:lnTo>
                    <a:pt x="1162444" y="460693"/>
                  </a:lnTo>
                  <a:cubicBezTo>
                    <a:pt x="1162444" y="482548"/>
                    <a:pt x="1153762" y="503509"/>
                    <a:pt x="1138308" y="518963"/>
                  </a:cubicBezTo>
                  <a:cubicBezTo>
                    <a:pt x="1122854" y="534417"/>
                    <a:pt x="1101893" y="543099"/>
                    <a:pt x="1080038" y="543099"/>
                  </a:cubicBezTo>
                  <a:lnTo>
                    <a:pt x="82406" y="543099"/>
                  </a:lnTo>
                  <a:cubicBezTo>
                    <a:pt x="60551" y="543099"/>
                    <a:pt x="39590" y="534417"/>
                    <a:pt x="24136" y="518963"/>
                  </a:cubicBezTo>
                  <a:cubicBezTo>
                    <a:pt x="8682" y="503509"/>
                    <a:pt x="0" y="482548"/>
                    <a:pt x="0" y="460693"/>
                  </a:cubicBezTo>
                  <a:lnTo>
                    <a:pt x="0" y="82406"/>
                  </a:lnTo>
                  <a:cubicBezTo>
                    <a:pt x="0" y="60551"/>
                    <a:pt x="8682" y="39590"/>
                    <a:pt x="24136" y="24136"/>
                  </a:cubicBezTo>
                  <a:cubicBezTo>
                    <a:pt x="39590" y="8682"/>
                    <a:pt x="60551" y="0"/>
                    <a:pt x="82406" y="0"/>
                  </a:cubicBezTo>
                  <a:close/>
                </a:path>
              </a:pathLst>
            </a:custGeom>
            <a:solidFill>
              <a:srgbClr val="FFFDFE"/>
            </a:solidFill>
            <a:ln cap="rnd" cmpd="sng" w="57150">
              <a:solidFill>
                <a:srgbClr val="FF62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3"/>
            <p:cNvSpPr txBox="1"/>
            <p:nvPr/>
          </p:nvSpPr>
          <p:spPr>
            <a:xfrm>
              <a:off x="0" y="-47625"/>
              <a:ext cx="1162444" cy="590724"/>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55" name="Google Shape;555;p33"/>
          <p:cNvGrpSpPr/>
          <p:nvPr/>
        </p:nvGrpSpPr>
        <p:grpSpPr>
          <a:xfrm>
            <a:off x="2158759" y="4676039"/>
            <a:ext cx="398110" cy="583857"/>
            <a:chOff x="0" y="-47625"/>
            <a:chExt cx="96586" cy="141650"/>
          </a:xfrm>
        </p:grpSpPr>
        <p:sp>
          <p:nvSpPr>
            <p:cNvPr id="556" name="Google Shape;556;p33"/>
            <p:cNvSpPr/>
            <p:nvPr/>
          </p:nvSpPr>
          <p:spPr>
            <a:xfrm>
              <a:off x="0" y="0"/>
              <a:ext cx="96586" cy="94025"/>
            </a:xfrm>
            <a:custGeom>
              <a:rect b="b" l="l" r="r" t="t"/>
              <a:pathLst>
                <a:path extrusionOk="0" h="94025" w="96586">
                  <a:moveTo>
                    <a:pt x="0" y="0"/>
                  </a:moveTo>
                  <a:lnTo>
                    <a:pt x="96586" y="0"/>
                  </a:lnTo>
                  <a:lnTo>
                    <a:pt x="96586" y="94025"/>
                  </a:lnTo>
                  <a:lnTo>
                    <a:pt x="0" y="94025"/>
                  </a:lnTo>
                  <a:close/>
                </a:path>
              </a:pathLst>
            </a:custGeom>
            <a:solidFill>
              <a:srgbClr val="FFFDFE"/>
            </a:solidFill>
            <a:ln cap="sq" cmpd="sng" w="57150">
              <a:solidFill>
                <a:srgbClr val="1D741B"/>
              </a:solidFill>
              <a:prstDash val="solid"/>
              <a:miter lim="8000"/>
              <a:headEnd len="sm" w="sm" type="none"/>
              <a:tailEnd len="sm" w="sm" type="none"/>
            </a:ln>
          </p:spPr>
        </p:sp>
        <p:sp>
          <p:nvSpPr>
            <p:cNvPr id="557" name="Google Shape;557;p33"/>
            <p:cNvSpPr txBox="1"/>
            <p:nvPr/>
          </p:nvSpPr>
          <p:spPr>
            <a:xfrm>
              <a:off x="0" y="-47625"/>
              <a:ext cx="96586" cy="141650"/>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58" name="Google Shape;558;p33"/>
          <p:cNvGrpSpPr/>
          <p:nvPr/>
        </p:nvGrpSpPr>
        <p:grpSpPr>
          <a:xfrm>
            <a:off x="8879426" y="4679489"/>
            <a:ext cx="398110" cy="583857"/>
            <a:chOff x="0" y="-47625"/>
            <a:chExt cx="96586" cy="141650"/>
          </a:xfrm>
        </p:grpSpPr>
        <p:sp>
          <p:nvSpPr>
            <p:cNvPr id="559" name="Google Shape;559;p33"/>
            <p:cNvSpPr/>
            <p:nvPr/>
          </p:nvSpPr>
          <p:spPr>
            <a:xfrm>
              <a:off x="0" y="0"/>
              <a:ext cx="96586" cy="94025"/>
            </a:xfrm>
            <a:custGeom>
              <a:rect b="b" l="l" r="r" t="t"/>
              <a:pathLst>
                <a:path extrusionOk="0" h="94025" w="96586">
                  <a:moveTo>
                    <a:pt x="0" y="0"/>
                  </a:moveTo>
                  <a:lnTo>
                    <a:pt x="96586" y="0"/>
                  </a:lnTo>
                  <a:lnTo>
                    <a:pt x="96586" y="94025"/>
                  </a:lnTo>
                  <a:lnTo>
                    <a:pt x="0" y="94025"/>
                  </a:lnTo>
                  <a:close/>
                </a:path>
              </a:pathLst>
            </a:custGeom>
            <a:solidFill>
              <a:srgbClr val="FFFDFE"/>
            </a:solidFill>
            <a:ln cap="sq" cmpd="sng" w="57150">
              <a:solidFill>
                <a:srgbClr val="FAD02C"/>
              </a:solidFill>
              <a:prstDash val="solid"/>
              <a:miter lim="8000"/>
              <a:headEnd len="sm" w="sm" type="none"/>
              <a:tailEnd len="sm" w="sm" type="none"/>
            </a:ln>
          </p:spPr>
        </p:sp>
        <p:sp>
          <p:nvSpPr>
            <p:cNvPr id="560" name="Google Shape;560;p33"/>
            <p:cNvSpPr txBox="1"/>
            <p:nvPr/>
          </p:nvSpPr>
          <p:spPr>
            <a:xfrm>
              <a:off x="0" y="-47625"/>
              <a:ext cx="96586" cy="141650"/>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61" name="Google Shape;561;p33"/>
          <p:cNvGrpSpPr/>
          <p:nvPr/>
        </p:nvGrpSpPr>
        <p:grpSpPr>
          <a:xfrm>
            <a:off x="14643532" y="4753420"/>
            <a:ext cx="398110" cy="583857"/>
            <a:chOff x="0" y="-47625"/>
            <a:chExt cx="96586" cy="141650"/>
          </a:xfrm>
        </p:grpSpPr>
        <p:sp>
          <p:nvSpPr>
            <p:cNvPr id="562" name="Google Shape;562;p33"/>
            <p:cNvSpPr/>
            <p:nvPr/>
          </p:nvSpPr>
          <p:spPr>
            <a:xfrm>
              <a:off x="0" y="0"/>
              <a:ext cx="96586" cy="94025"/>
            </a:xfrm>
            <a:custGeom>
              <a:rect b="b" l="l" r="r" t="t"/>
              <a:pathLst>
                <a:path extrusionOk="0" h="94025" w="96586">
                  <a:moveTo>
                    <a:pt x="0" y="0"/>
                  </a:moveTo>
                  <a:lnTo>
                    <a:pt x="96586" y="0"/>
                  </a:lnTo>
                  <a:lnTo>
                    <a:pt x="96586" y="94025"/>
                  </a:lnTo>
                  <a:lnTo>
                    <a:pt x="0" y="94025"/>
                  </a:lnTo>
                  <a:close/>
                </a:path>
              </a:pathLst>
            </a:custGeom>
            <a:solidFill>
              <a:srgbClr val="FFFDFE"/>
            </a:solidFill>
            <a:ln cap="sq" cmpd="sng" w="57150">
              <a:solidFill>
                <a:srgbClr val="FF6260"/>
              </a:solidFill>
              <a:prstDash val="solid"/>
              <a:miter lim="8000"/>
              <a:headEnd len="sm" w="sm" type="none"/>
              <a:tailEnd len="sm" w="sm" type="none"/>
            </a:ln>
          </p:spPr>
        </p:sp>
        <p:sp>
          <p:nvSpPr>
            <p:cNvPr id="563" name="Google Shape;563;p33"/>
            <p:cNvSpPr txBox="1"/>
            <p:nvPr/>
          </p:nvSpPr>
          <p:spPr>
            <a:xfrm>
              <a:off x="0" y="-47625"/>
              <a:ext cx="96586" cy="141650"/>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4" name="Google Shape;564;p33"/>
          <p:cNvSpPr txBox="1"/>
          <p:nvPr/>
        </p:nvSpPr>
        <p:spPr>
          <a:xfrm>
            <a:off x="1028851" y="243950"/>
            <a:ext cx="59928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INICIO DEL PROYECTO OSI</a:t>
            </a:r>
            <a:endParaRPr/>
          </a:p>
        </p:txBody>
      </p:sp>
      <p:sp>
        <p:nvSpPr>
          <p:cNvPr id="565" name="Google Shape;565;p33"/>
          <p:cNvSpPr txBox="1"/>
          <p:nvPr/>
        </p:nvSpPr>
        <p:spPr>
          <a:xfrm>
            <a:off x="1126476" y="1265893"/>
            <a:ext cx="5704474" cy="1758158"/>
          </a:xfrm>
          <a:prstGeom prst="rect">
            <a:avLst/>
          </a:prstGeom>
          <a:noFill/>
          <a:ln>
            <a:noFill/>
          </a:ln>
        </p:spPr>
        <p:txBody>
          <a:bodyPr anchorCtr="0" anchor="t" bIns="0" lIns="0" spcFirstLastPara="1" rIns="0" wrap="square" tIns="0">
            <a:spAutoFit/>
          </a:bodyPr>
          <a:lstStyle/>
          <a:p>
            <a:pPr indent="0" lvl="0" marL="0" marR="0" rtl="0" algn="ctr">
              <a:lnSpc>
                <a:spcPct val="139980"/>
              </a:lnSpc>
              <a:spcBef>
                <a:spcPts val="0"/>
              </a:spcBef>
              <a:spcAft>
                <a:spcPts val="0"/>
              </a:spcAft>
              <a:buNone/>
            </a:pPr>
            <a:r>
              <a:rPr lang="en-US" sz="2031">
                <a:solidFill>
                  <a:srgbClr val="503C30"/>
                </a:solidFill>
                <a:latin typeface="Inter"/>
                <a:ea typeface="Inter"/>
                <a:cs typeface="Inter"/>
                <a:sym typeface="Inter"/>
              </a:rPr>
              <a:t>La ISO (International Organization for Standardization) y la CCITT (ahora UIT-T) comienzan a desarrollar un modelo que permita la comunicación entre sistemas diferentes. (Data-Flair, 2021)</a:t>
            </a:r>
            <a:endParaRPr/>
          </a:p>
        </p:txBody>
      </p:sp>
      <p:sp>
        <p:nvSpPr>
          <p:cNvPr id="566" name="Google Shape;566;p33"/>
          <p:cNvSpPr txBox="1"/>
          <p:nvPr/>
        </p:nvSpPr>
        <p:spPr>
          <a:xfrm>
            <a:off x="10864025" y="243950"/>
            <a:ext cx="6528900" cy="4623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lang="en-US" sz="3004" u="none" strike="noStrike">
                <a:solidFill>
                  <a:srgbClr val="503C30"/>
                </a:solidFill>
                <a:latin typeface="Arial"/>
                <a:ea typeface="Arial"/>
                <a:cs typeface="Arial"/>
                <a:sym typeface="Arial"/>
              </a:rPr>
              <a:t>CONSOLIDACIÓN DEL MODELO</a:t>
            </a:r>
            <a:endParaRPr/>
          </a:p>
        </p:txBody>
      </p:sp>
      <p:sp>
        <p:nvSpPr>
          <p:cNvPr id="567" name="Google Shape;567;p33"/>
          <p:cNvSpPr txBox="1"/>
          <p:nvPr/>
        </p:nvSpPr>
        <p:spPr>
          <a:xfrm>
            <a:off x="6002875" y="6672313"/>
            <a:ext cx="64341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PRIMER BORRADOR DEL MODELO</a:t>
            </a:r>
            <a:endParaRPr/>
          </a:p>
        </p:txBody>
      </p:sp>
      <p:sp>
        <p:nvSpPr>
          <p:cNvPr id="568" name="Google Shape;568;p33"/>
          <p:cNvSpPr txBox="1"/>
          <p:nvPr/>
        </p:nvSpPr>
        <p:spPr>
          <a:xfrm>
            <a:off x="6396496" y="7563373"/>
            <a:ext cx="5469412" cy="1599224"/>
          </a:xfrm>
          <a:prstGeom prst="rect">
            <a:avLst/>
          </a:prstGeom>
          <a:noFill/>
          <a:ln>
            <a:noFill/>
          </a:ln>
        </p:spPr>
        <p:txBody>
          <a:bodyPr anchorCtr="0" anchor="t" bIns="0" lIns="0" spcFirstLastPara="1" rIns="0" wrap="square" tIns="0">
            <a:spAutoFit/>
          </a:bodyPr>
          <a:lstStyle/>
          <a:p>
            <a:pPr indent="0" lvl="0" marL="0" marR="0" rtl="0" algn="ctr">
              <a:lnSpc>
                <a:spcPct val="139991"/>
              </a:lnSpc>
              <a:spcBef>
                <a:spcPts val="0"/>
              </a:spcBef>
              <a:spcAft>
                <a:spcPts val="0"/>
              </a:spcAft>
              <a:buNone/>
            </a:pPr>
            <a:r>
              <a:rPr lang="en-US" sz="2288">
                <a:solidFill>
                  <a:srgbClr val="503C30"/>
                </a:solidFill>
                <a:latin typeface="Inter"/>
                <a:ea typeface="Inter"/>
                <a:cs typeface="Inter"/>
                <a:sym typeface="Inter"/>
              </a:rPr>
              <a:t>Se publica el primer esquema conceptual de capas, sentando las bases del futuro modelo OSI. (TechTarget, 2025)</a:t>
            </a:r>
            <a:endParaRPr/>
          </a:p>
        </p:txBody>
      </p:sp>
      <p:sp>
        <p:nvSpPr>
          <p:cNvPr id="569" name="Google Shape;569;p33"/>
          <p:cNvSpPr txBox="1"/>
          <p:nvPr/>
        </p:nvSpPr>
        <p:spPr>
          <a:xfrm>
            <a:off x="2074361" y="4096925"/>
            <a:ext cx="14091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a:solidFill>
                  <a:srgbClr val="503C30"/>
                </a:solidFill>
                <a:latin typeface="Arial"/>
                <a:ea typeface="Arial"/>
                <a:cs typeface="Arial"/>
                <a:sym typeface="Arial"/>
              </a:rPr>
              <a:t>1977</a:t>
            </a:r>
            <a:endParaRPr/>
          </a:p>
        </p:txBody>
      </p:sp>
      <p:sp>
        <p:nvSpPr>
          <p:cNvPr id="570" name="Google Shape;570;p33"/>
          <p:cNvSpPr txBox="1"/>
          <p:nvPr/>
        </p:nvSpPr>
        <p:spPr>
          <a:xfrm>
            <a:off x="8193914" y="5781250"/>
            <a:ext cx="20520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1978</a:t>
            </a:r>
            <a:endParaRPr/>
          </a:p>
        </p:txBody>
      </p:sp>
      <p:sp>
        <p:nvSpPr>
          <p:cNvPr id="571" name="Google Shape;571;p33"/>
          <p:cNvSpPr txBox="1"/>
          <p:nvPr/>
        </p:nvSpPr>
        <p:spPr>
          <a:xfrm>
            <a:off x="14408065" y="3929675"/>
            <a:ext cx="14091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1980</a:t>
            </a:r>
            <a:endParaRPr/>
          </a:p>
        </p:txBody>
      </p:sp>
      <p:sp>
        <p:nvSpPr>
          <p:cNvPr id="572" name="Google Shape;572;p33"/>
          <p:cNvSpPr txBox="1"/>
          <p:nvPr/>
        </p:nvSpPr>
        <p:spPr>
          <a:xfrm>
            <a:off x="11461745" y="1320176"/>
            <a:ext cx="4593000" cy="17124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lang="en-US" sz="1952">
                <a:solidFill>
                  <a:srgbClr val="503C30"/>
                </a:solidFill>
                <a:latin typeface="Inter"/>
                <a:ea typeface="Inter"/>
                <a:cs typeface="Inter"/>
                <a:sym typeface="Inter"/>
              </a:rPr>
              <a:t>Se definen las siete capas que estructuran la comunicación: Física, Enlace, Red, Transporte, Sesión, Presentación y Aplicación. (Cisco Learning Network, 2021)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500"/>
                                        <p:tgtEl>
                                          <p:spTgt spid="530"/>
                                        </p:tgtEl>
                                      </p:cBhvr>
                                    </p:animEffect>
                                  </p:childTnLst>
                                </p:cTn>
                              </p:par>
                              <p:par>
                                <p:cTn fill="hold" nodeType="with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500"/>
                                        <p:tgtEl>
                                          <p:spTgt spid="531"/>
                                        </p:tgtEl>
                                      </p:cBhvr>
                                    </p:animEffect>
                                  </p:childTnLst>
                                </p:cTn>
                              </p:par>
                              <p:par>
                                <p:cTn fill="hold" nodeType="with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500"/>
                                        <p:tgtEl>
                                          <p:spTgt spid="532"/>
                                        </p:tgtEl>
                                      </p:cBhvr>
                                    </p:animEffect>
                                  </p:childTnLst>
                                </p:cTn>
                              </p:par>
                              <p:par>
                                <p:cTn fill="hold" nodeType="with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500"/>
                                        <p:tgtEl>
                                          <p:spTgt spid="533"/>
                                        </p:tgtEl>
                                      </p:cBhvr>
                                    </p:animEffect>
                                  </p:childTnLst>
                                </p:cTn>
                              </p:par>
                              <p:par>
                                <p:cTn fill="hold" nodeType="with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500"/>
                                        <p:tgtEl>
                                          <p:spTgt spid="534"/>
                                        </p:tgtEl>
                                      </p:cBhvr>
                                    </p:animEffect>
                                  </p:childTnLst>
                                </p:cTn>
                              </p:par>
                              <p:par>
                                <p:cTn fill="hold" nodeType="with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500"/>
                                        <p:tgtEl>
                                          <p:spTgt spid="535"/>
                                        </p:tgtEl>
                                      </p:cBhvr>
                                    </p:animEffect>
                                  </p:childTnLst>
                                </p:cTn>
                              </p:par>
                              <p:par>
                                <p:cTn fill="hold" nodeType="with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500"/>
                                        <p:tgtEl>
                                          <p:spTgt spid="536"/>
                                        </p:tgtEl>
                                      </p:cBhvr>
                                    </p:animEffect>
                                  </p:childTnLst>
                                </p:cTn>
                              </p:par>
                              <p:par>
                                <p:cTn fill="hold" nodeType="with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500"/>
                                        <p:tgtEl>
                                          <p:spTgt spid="539"/>
                                        </p:tgtEl>
                                      </p:cBhvr>
                                    </p:animEffect>
                                  </p:childTnLst>
                                </p:cTn>
                              </p:par>
                              <p:par>
                                <p:cTn fill="hold" nodeType="with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500"/>
                                        <p:tgtEl>
                                          <p:spTgt spid="542"/>
                                        </p:tgtEl>
                                      </p:cBhvr>
                                    </p:animEffect>
                                  </p:childTnLst>
                                </p:cTn>
                              </p:par>
                              <p:par>
                                <p:cTn fill="hold" nodeType="with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500"/>
                                        <p:tgtEl>
                                          <p:spTgt spid="545"/>
                                        </p:tgtEl>
                                      </p:cBhvr>
                                    </p:animEffect>
                                  </p:childTnLst>
                                </p:cTn>
                              </p:par>
                              <p:par>
                                <p:cTn fill="hold" nodeType="with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500"/>
                                        <p:tgtEl>
                                          <p:spTgt spid="548"/>
                                        </p:tgtEl>
                                      </p:cBhvr>
                                    </p:animEffect>
                                  </p:childTnLst>
                                </p:cTn>
                              </p:par>
                              <p:par>
                                <p:cTn fill="hold" nodeType="with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500"/>
                                        <p:tgtEl>
                                          <p:spTgt spid="549"/>
                                        </p:tgtEl>
                                      </p:cBhvr>
                                    </p:animEffect>
                                  </p:childTnLst>
                                </p:cTn>
                              </p:par>
                              <p:par>
                                <p:cTn fill="hold" nodeType="with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par>
                                <p:cTn fill="hold" nodeType="with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500"/>
                                        <p:tgtEl>
                                          <p:spTgt spid="555"/>
                                        </p:tgtEl>
                                      </p:cBhvr>
                                    </p:animEffect>
                                  </p:childTnLst>
                                </p:cTn>
                              </p:par>
                              <p:par>
                                <p:cTn fill="hold" nodeType="with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500"/>
                                        <p:tgtEl>
                                          <p:spTgt spid="558"/>
                                        </p:tgtEl>
                                      </p:cBhvr>
                                    </p:animEffect>
                                  </p:childTnLst>
                                </p:cTn>
                              </p:par>
                              <p:par>
                                <p:cTn fill="hold" nodeType="with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500"/>
                                        <p:tgtEl>
                                          <p:spTgt spid="561"/>
                                        </p:tgtEl>
                                      </p:cBhvr>
                                    </p:animEffect>
                                  </p:childTnLst>
                                </p:cTn>
                              </p:par>
                              <p:par>
                                <p:cTn fill="hold" nodeType="with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500"/>
                                        <p:tgtEl>
                                          <p:spTgt spid="564"/>
                                        </p:tgtEl>
                                      </p:cBhvr>
                                    </p:animEffect>
                                  </p:childTnLst>
                                </p:cTn>
                              </p:par>
                              <p:par>
                                <p:cTn fill="hold" nodeType="with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500"/>
                                        <p:tgtEl>
                                          <p:spTgt spid="565"/>
                                        </p:tgtEl>
                                      </p:cBhvr>
                                    </p:animEffect>
                                  </p:childTnLst>
                                </p:cTn>
                              </p:par>
                              <p:par>
                                <p:cTn fill="hold" nodeType="with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500"/>
                                        <p:tgtEl>
                                          <p:spTgt spid="566"/>
                                        </p:tgtEl>
                                      </p:cBhvr>
                                    </p:animEffect>
                                  </p:childTnLst>
                                </p:cTn>
                              </p:par>
                              <p:par>
                                <p:cTn fill="hold" nodeType="withEffect" presetClass="entr" presetID="10" presetSubtype="0">
                                  <p:stCondLst>
                                    <p:cond delay="0"/>
                                  </p:stCondLst>
                                  <p:childTnLst>
                                    <p:set>
                                      <p:cBhvr>
                                        <p:cTn dur="1" fill="hold">
                                          <p:stCondLst>
                                            <p:cond delay="0"/>
                                          </p:stCondLst>
                                        </p:cTn>
                                        <p:tgtEl>
                                          <p:spTgt spid="567"/>
                                        </p:tgtEl>
                                        <p:attrNameLst>
                                          <p:attrName>style.visibility</p:attrName>
                                        </p:attrNameLst>
                                      </p:cBhvr>
                                      <p:to>
                                        <p:strVal val="visible"/>
                                      </p:to>
                                    </p:set>
                                    <p:animEffect filter="fade" transition="in">
                                      <p:cBhvr>
                                        <p:cTn dur="500"/>
                                        <p:tgtEl>
                                          <p:spTgt spid="567"/>
                                        </p:tgtEl>
                                      </p:cBhvr>
                                    </p:animEffect>
                                  </p:childTnLst>
                                </p:cTn>
                              </p:par>
                              <p:par>
                                <p:cTn fill="hold" nodeType="withEffect" presetClass="entr" presetID="10" presetSubtype="0">
                                  <p:stCondLst>
                                    <p:cond delay="0"/>
                                  </p:stCondLst>
                                  <p:childTnLst>
                                    <p:set>
                                      <p:cBhvr>
                                        <p:cTn dur="1" fill="hold">
                                          <p:stCondLst>
                                            <p:cond delay="0"/>
                                          </p:stCondLst>
                                        </p:cTn>
                                        <p:tgtEl>
                                          <p:spTgt spid="568"/>
                                        </p:tgtEl>
                                        <p:attrNameLst>
                                          <p:attrName>style.visibility</p:attrName>
                                        </p:attrNameLst>
                                      </p:cBhvr>
                                      <p:to>
                                        <p:strVal val="visible"/>
                                      </p:to>
                                    </p:set>
                                    <p:animEffect filter="fade" transition="in">
                                      <p:cBhvr>
                                        <p:cTn dur="500"/>
                                        <p:tgtEl>
                                          <p:spTgt spid="568"/>
                                        </p:tgtEl>
                                      </p:cBhvr>
                                    </p:animEffect>
                                  </p:childTnLst>
                                </p:cTn>
                              </p:par>
                              <p:par>
                                <p:cTn fill="hold" nodeType="withEffect" presetClass="entr" presetID="10" presetSubtype="0">
                                  <p:stCondLst>
                                    <p:cond delay="0"/>
                                  </p:stCondLst>
                                  <p:childTnLst>
                                    <p:set>
                                      <p:cBhvr>
                                        <p:cTn dur="1" fill="hold">
                                          <p:stCondLst>
                                            <p:cond delay="0"/>
                                          </p:stCondLst>
                                        </p:cTn>
                                        <p:tgtEl>
                                          <p:spTgt spid="569"/>
                                        </p:tgtEl>
                                        <p:attrNameLst>
                                          <p:attrName>style.visibility</p:attrName>
                                        </p:attrNameLst>
                                      </p:cBhvr>
                                      <p:to>
                                        <p:strVal val="visible"/>
                                      </p:to>
                                    </p:set>
                                    <p:animEffect filter="fade" transition="in">
                                      <p:cBhvr>
                                        <p:cTn dur="500"/>
                                        <p:tgtEl>
                                          <p:spTgt spid="569"/>
                                        </p:tgtEl>
                                      </p:cBhvr>
                                    </p:animEffect>
                                  </p:childTnLst>
                                </p:cTn>
                              </p:par>
                              <p:par>
                                <p:cTn fill="hold" nodeType="with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500"/>
                                        <p:tgtEl>
                                          <p:spTgt spid="570"/>
                                        </p:tgtEl>
                                      </p:cBhvr>
                                    </p:animEffect>
                                  </p:childTnLst>
                                </p:cTn>
                              </p:par>
                              <p:par>
                                <p:cTn fill="hold" nodeType="with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500"/>
                                        <p:tgtEl>
                                          <p:spTgt spid="571"/>
                                        </p:tgtEl>
                                      </p:cBhvr>
                                    </p:animEffect>
                                  </p:childTnLst>
                                </p:cTn>
                              </p:par>
                              <p:par>
                                <p:cTn fill="hold" nodeType="with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500"/>
                                        <p:tgtEl>
                                          <p:spTgt spid="5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576" name="Shape 576"/>
        <p:cNvGrpSpPr/>
        <p:nvPr/>
      </p:nvGrpSpPr>
      <p:grpSpPr>
        <a:xfrm>
          <a:off x="0" y="0"/>
          <a:ext cx="0" cy="0"/>
          <a:chOff x="0" y="0"/>
          <a:chExt cx="0" cy="0"/>
        </a:xfrm>
      </p:grpSpPr>
      <p:cxnSp>
        <p:nvCxnSpPr>
          <p:cNvPr id="577" name="Google Shape;577;p34"/>
          <p:cNvCxnSpPr/>
          <p:nvPr/>
        </p:nvCxnSpPr>
        <p:spPr>
          <a:xfrm rot="10800000">
            <a:off x="2614210" y="1704925"/>
            <a:ext cx="0" cy="1947300"/>
          </a:xfrm>
          <a:prstGeom prst="straightConnector1">
            <a:avLst/>
          </a:prstGeom>
          <a:noFill/>
          <a:ln cap="flat" cmpd="sng" w="57150">
            <a:solidFill>
              <a:srgbClr val="FFFDFE"/>
            </a:solidFill>
            <a:prstDash val="dash"/>
            <a:round/>
            <a:headEnd len="sm" w="sm" type="none"/>
            <a:tailEnd len="sm" w="sm" type="none"/>
          </a:ln>
        </p:spPr>
      </p:cxnSp>
      <p:cxnSp>
        <p:nvCxnSpPr>
          <p:cNvPr id="578" name="Google Shape;578;p34"/>
          <p:cNvCxnSpPr/>
          <p:nvPr/>
        </p:nvCxnSpPr>
        <p:spPr>
          <a:xfrm rot="10800000">
            <a:off x="7958585" y="3151350"/>
            <a:ext cx="0" cy="1947300"/>
          </a:xfrm>
          <a:prstGeom prst="straightConnector1">
            <a:avLst/>
          </a:prstGeom>
          <a:noFill/>
          <a:ln cap="flat" cmpd="sng" w="57150">
            <a:solidFill>
              <a:srgbClr val="FFFDFE"/>
            </a:solidFill>
            <a:prstDash val="dash"/>
            <a:round/>
            <a:headEnd len="sm" w="sm" type="none"/>
            <a:tailEnd len="sm" w="sm" type="none"/>
          </a:ln>
        </p:spPr>
      </p:cxnSp>
      <p:cxnSp>
        <p:nvCxnSpPr>
          <p:cNvPr id="579" name="Google Shape;579;p34"/>
          <p:cNvCxnSpPr/>
          <p:nvPr/>
        </p:nvCxnSpPr>
        <p:spPr>
          <a:xfrm rot="10800000">
            <a:off x="12433732" y="3151350"/>
            <a:ext cx="0" cy="1947300"/>
          </a:xfrm>
          <a:prstGeom prst="straightConnector1">
            <a:avLst/>
          </a:prstGeom>
          <a:noFill/>
          <a:ln cap="flat" cmpd="sng" w="57150">
            <a:solidFill>
              <a:srgbClr val="FFFDFE"/>
            </a:solidFill>
            <a:prstDash val="dash"/>
            <a:round/>
            <a:headEnd len="sm" w="sm" type="none"/>
            <a:tailEnd len="sm" w="sm" type="none"/>
          </a:ln>
        </p:spPr>
      </p:cxnSp>
      <p:cxnSp>
        <p:nvCxnSpPr>
          <p:cNvPr id="580" name="Google Shape;580;p34"/>
          <p:cNvCxnSpPr/>
          <p:nvPr/>
        </p:nvCxnSpPr>
        <p:spPr>
          <a:xfrm rot="10800000">
            <a:off x="5723231" y="5069568"/>
            <a:ext cx="0" cy="1947300"/>
          </a:xfrm>
          <a:prstGeom prst="straightConnector1">
            <a:avLst/>
          </a:prstGeom>
          <a:noFill/>
          <a:ln cap="flat" cmpd="sng" w="57150">
            <a:solidFill>
              <a:srgbClr val="FFFDFE"/>
            </a:solidFill>
            <a:prstDash val="dash"/>
            <a:round/>
            <a:headEnd len="sm" w="sm" type="none"/>
            <a:tailEnd len="sm" w="sm" type="none"/>
          </a:ln>
        </p:spPr>
      </p:cxnSp>
      <p:cxnSp>
        <p:nvCxnSpPr>
          <p:cNvPr id="581" name="Google Shape;581;p34"/>
          <p:cNvCxnSpPr/>
          <p:nvPr/>
        </p:nvCxnSpPr>
        <p:spPr>
          <a:xfrm rot="10800000">
            <a:off x="14669086" y="5066118"/>
            <a:ext cx="0" cy="1947300"/>
          </a:xfrm>
          <a:prstGeom prst="straightConnector1">
            <a:avLst/>
          </a:prstGeom>
          <a:noFill/>
          <a:ln cap="flat" cmpd="sng" w="57150">
            <a:solidFill>
              <a:srgbClr val="FFFDFE"/>
            </a:solidFill>
            <a:prstDash val="dash"/>
            <a:round/>
            <a:headEnd len="sm" w="sm" type="none"/>
            <a:tailEnd len="sm" w="sm" type="none"/>
          </a:ln>
        </p:spPr>
      </p:cxnSp>
      <p:cxnSp>
        <p:nvCxnSpPr>
          <p:cNvPr id="582" name="Google Shape;582;p34"/>
          <p:cNvCxnSpPr/>
          <p:nvPr/>
        </p:nvCxnSpPr>
        <p:spPr>
          <a:xfrm rot="10800000">
            <a:off x="10198378" y="5069568"/>
            <a:ext cx="0" cy="1947300"/>
          </a:xfrm>
          <a:prstGeom prst="straightConnector1">
            <a:avLst/>
          </a:prstGeom>
          <a:noFill/>
          <a:ln cap="flat" cmpd="sng" w="57150">
            <a:solidFill>
              <a:srgbClr val="FFFDFE"/>
            </a:solidFill>
            <a:prstDash val="dash"/>
            <a:round/>
            <a:headEnd len="sm" w="sm" type="none"/>
            <a:tailEnd len="sm" w="sm" type="none"/>
          </a:ln>
        </p:spPr>
      </p:cxnSp>
      <p:cxnSp>
        <p:nvCxnSpPr>
          <p:cNvPr id="583" name="Google Shape;583;p34"/>
          <p:cNvCxnSpPr/>
          <p:nvPr/>
        </p:nvCxnSpPr>
        <p:spPr>
          <a:xfrm>
            <a:off x="0" y="5098650"/>
            <a:ext cx="18288000" cy="0"/>
          </a:xfrm>
          <a:prstGeom prst="straightConnector1">
            <a:avLst/>
          </a:prstGeom>
          <a:noFill/>
          <a:ln cap="flat" cmpd="sng" w="57150">
            <a:solidFill>
              <a:srgbClr val="FFBE98"/>
            </a:solidFill>
            <a:prstDash val="solid"/>
            <a:round/>
            <a:headEnd len="sm" w="sm" type="none"/>
            <a:tailEnd len="sm" w="sm" type="none"/>
          </a:ln>
        </p:spPr>
      </p:cxnSp>
      <p:grpSp>
        <p:nvGrpSpPr>
          <p:cNvPr id="584" name="Google Shape;584;p34"/>
          <p:cNvGrpSpPr/>
          <p:nvPr/>
        </p:nvGrpSpPr>
        <p:grpSpPr>
          <a:xfrm>
            <a:off x="7417947" y="5835353"/>
            <a:ext cx="3314240" cy="3422947"/>
            <a:chOff x="0" y="0"/>
            <a:chExt cx="6350000" cy="6558280"/>
          </a:xfrm>
        </p:grpSpPr>
        <p:sp>
          <p:nvSpPr>
            <p:cNvPr id="585" name="Google Shape;585;p34"/>
            <p:cNvSpPr/>
            <p:nvPr/>
          </p:nvSpPr>
          <p:spPr>
            <a:xfrm>
              <a:off x="74930" y="74930"/>
              <a:ext cx="6200140" cy="6408420"/>
            </a:xfrm>
            <a:custGeom>
              <a:rect b="b" l="l" r="r" t="t"/>
              <a:pathLst>
                <a:path extrusionOk="0"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rotWithShape="1">
              <a:blip r:embed="rId3">
                <a:alphaModFix/>
              </a:blip>
              <a:stretch>
                <a:fillRect b="-5285" l="-62845" r="0" t="-12877"/>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4"/>
            <p:cNvSpPr/>
            <p:nvPr/>
          </p:nvSpPr>
          <p:spPr>
            <a:xfrm>
              <a:off x="0" y="0"/>
              <a:ext cx="6350000" cy="6558280"/>
            </a:xfrm>
            <a:custGeom>
              <a:rect b="b" l="l" r="r" t="t"/>
              <a:pathLst>
                <a:path extrusionOk="0"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 name="Google Shape;587;p34"/>
          <p:cNvGrpSpPr/>
          <p:nvPr/>
        </p:nvGrpSpPr>
        <p:grpSpPr>
          <a:xfrm>
            <a:off x="2000470" y="1201156"/>
            <a:ext cx="3237174" cy="3343353"/>
            <a:chOff x="0" y="0"/>
            <a:chExt cx="6350000" cy="6558280"/>
          </a:xfrm>
        </p:grpSpPr>
        <p:sp>
          <p:nvSpPr>
            <p:cNvPr id="588" name="Google Shape;588;p34"/>
            <p:cNvSpPr/>
            <p:nvPr/>
          </p:nvSpPr>
          <p:spPr>
            <a:xfrm>
              <a:off x="74930" y="74930"/>
              <a:ext cx="6200140" cy="6408420"/>
            </a:xfrm>
            <a:custGeom>
              <a:rect b="b" l="l" r="r" t="t"/>
              <a:pathLst>
                <a:path extrusionOk="0"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rotWithShape="1">
              <a:blip r:embed="rId4">
                <a:alphaModFix/>
              </a:blip>
              <a:stretch>
                <a:fillRect b="0" l="-10374" r="-10373"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4"/>
            <p:cNvSpPr/>
            <p:nvPr/>
          </p:nvSpPr>
          <p:spPr>
            <a:xfrm>
              <a:off x="0" y="0"/>
              <a:ext cx="6350000" cy="6558280"/>
            </a:xfrm>
            <a:custGeom>
              <a:rect b="b" l="l" r="r" t="t"/>
              <a:pathLst>
                <a:path extrusionOk="0"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 name="Google Shape;590;p34"/>
          <p:cNvGrpSpPr/>
          <p:nvPr/>
        </p:nvGrpSpPr>
        <p:grpSpPr>
          <a:xfrm>
            <a:off x="12969568" y="1201156"/>
            <a:ext cx="3183046" cy="3287450"/>
            <a:chOff x="0" y="0"/>
            <a:chExt cx="6350000" cy="6558280"/>
          </a:xfrm>
        </p:grpSpPr>
        <p:sp>
          <p:nvSpPr>
            <p:cNvPr id="591" name="Google Shape;591;p34"/>
            <p:cNvSpPr/>
            <p:nvPr/>
          </p:nvSpPr>
          <p:spPr>
            <a:xfrm>
              <a:off x="74930" y="74930"/>
              <a:ext cx="6200140" cy="6408420"/>
            </a:xfrm>
            <a:custGeom>
              <a:rect b="b" l="l" r="r" t="t"/>
              <a:pathLst>
                <a:path extrusionOk="0"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rotWithShape="1">
              <a:blip r:embed="rId5">
                <a:alphaModFix/>
              </a:blip>
              <a:stretch>
                <a:fillRect b="0" l="-1677" r="-1678"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4"/>
            <p:cNvSpPr/>
            <p:nvPr/>
          </p:nvSpPr>
          <p:spPr>
            <a:xfrm>
              <a:off x="0" y="0"/>
              <a:ext cx="6350000" cy="6558280"/>
            </a:xfrm>
            <a:custGeom>
              <a:rect b="b" l="l" r="r" t="t"/>
              <a:pathLst>
                <a:path extrusionOk="0"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 name="Google Shape;593;p34"/>
          <p:cNvGrpSpPr/>
          <p:nvPr/>
        </p:nvGrpSpPr>
        <p:grpSpPr>
          <a:xfrm>
            <a:off x="6100837" y="1004855"/>
            <a:ext cx="6086326" cy="2434852"/>
            <a:chOff x="0" y="-47625"/>
            <a:chExt cx="1476615" cy="590724"/>
          </a:xfrm>
        </p:grpSpPr>
        <p:sp>
          <p:nvSpPr>
            <p:cNvPr id="594" name="Google Shape;594;p34"/>
            <p:cNvSpPr/>
            <p:nvPr/>
          </p:nvSpPr>
          <p:spPr>
            <a:xfrm>
              <a:off x="0" y="0"/>
              <a:ext cx="1476615" cy="543099"/>
            </a:xfrm>
            <a:custGeom>
              <a:rect b="b" l="l" r="r" t="t"/>
              <a:pathLst>
                <a:path extrusionOk="0" h="543099" w="1476615">
                  <a:moveTo>
                    <a:pt x="64873" y="0"/>
                  </a:moveTo>
                  <a:lnTo>
                    <a:pt x="1411742" y="0"/>
                  </a:lnTo>
                  <a:cubicBezTo>
                    <a:pt x="1447570" y="0"/>
                    <a:pt x="1476615" y="29045"/>
                    <a:pt x="1476615" y="64873"/>
                  </a:cubicBezTo>
                  <a:lnTo>
                    <a:pt x="1476615" y="478226"/>
                  </a:lnTo>
                  <a:cubicBezTo>
                    <a:pt x="1476615" y="514054"/>
                    <a:pt x="1447570" y="543099"/>
                    <a:pt x="1411742" y="543099"/>
                  </a:cubicBezTo>
                  <a:lnTo>
                    <a:pt x="64873" y="543099"/>
                  </a:lnTo>
                  <a:cubicBezTo>
                    <a:pt x="29045" y="543099"/>
                    <a:pt x="0" y="514054"/>
                    <a:pt x="0" y="478226"/>
                  </a:cubicBezTo>
                  <a:lnTo>
                    <a:pt x="0" y="64873"/>
                  </a:lnTo>
                  <a:cubicBezTo>
                    <a:pt x="0" y="29045"/>
                    <a:pt x="29045" y="0"/>
                    <a:pt x="64873" y="0"/>
                  </a:cubicBezTo>
                  <a:close/>
                </a:path>
              </a:pathLst>
            </a:custGeom>
            <a:solidFill>
              <a:srgbClr val="FFFDFE"/>
            </a:solidFill>
            <a:ln cap="rnd" cmpd="sng" w="57150">
              <a:solidFill>
                <a:srgbClr val="CB6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4"/>
            <p:cNvSpPr txBox="1"/>
            <p:nvPr/>
          </p:nvSpPr>
          <p:spPr>
            <a:xfrm>
              <a:off x="0" y="-47625"/>
              <a:ext cx="1476615" cy="590724"/>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96" name="Google Shape;596;p34"/>
          <p:cNvGrpSpPr/>
          <p:nvPr/>
        </p:nvGrpSpPr>
        <p:grpSpPr>
          <a:xfrm>
            <a:off x="1028700" y="7060136"/>
            <a:ext cx="6086326" cy="2434852"/>
            <a:chOff x="0" y="-47625"/>
            <a:chExt cx="1476615" cy="590724"/>
          </a:xfrm>
        </p:grpSpPr>
        <p:sp>
          <p:nvSpPr>
            <p:cNvPr id="597" name="Google Shape;597;p34"/>
            <p:cNvSpPr/>
            <p:nvPr/>
          </p:nvSpPr>
          <p:spPr>
            <a:xfrm>
              <a:off x="0" y="0"/>
              <a:ext cx="1476615" cy="543099"/>
            </a:xfrm>
            <a:custGeom>
              <a:rect b="b" l="l" r="r" t="t"/>
              <a:pathLst>
                <a:path extrusionOk="0" h="543099" w="1476615">
                  <a:moveTo>
                    <a:pt x="64873" y="0"/>
                  </a:moveTo>
                  <a:lnTo>
                    <a:pt x="1411742" y="0"/>
                  </a:lnTo>
                  <a:cubicBezTo>
                    <a:pt x="1447570" y="0"/>
                    <a:pt x="1476615" y="29045"/>
                    <a:pt x="1476615" y="64873"/>
                  </a:cubicBezTo>
                  <a:lnTo>
                    <a:pt x="1476615" y="478226"/>
                  </a:lnTo>
                  <a:cubicBezTo>
                    <a:pt x="1476615" y="514054"/>
                    <a:pt x="1447570" y="543099"/>
                    <a:pt x="1411742" y="543099"/>
                  </a:cubicBezTo>
                  <a:lnTo>
                    <a:pt x="64873" y="543099"/>
                  </a:lnTo>
                  <a:cubicBezTo>
                    <a:pt x="29045" y="543099"/>
                    <a:pt x="0" y="514054"/>
                    <a:pt x="0" y="478226"/>
                  </a:cubicBezTo>
                  <a:lnTo>
                    <a:pt x="0" y="64873"/>
                  </a:lnTo>
                  <a:cubicBezTo>
                    <a:pt x="0" y="29045"/>
                    <a:pt x="29045" y="0"/>
                    <a:pt x="64873" y="0"/>
                  </a:cubicBezTo>
                  <a:close/>
                </a:path>
              </a:pathLst>
            </a:custGeom>
            <a:solidFill>
              <a:srgbClr val="FFFDFE"/>
            </a:solidFill>
            <a:ln cap="rnd" cmpd="sng" w="57150">
              <a:solidFill>
                <a:srgbClr val="3E89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4"/>
            <p:cNvSpPr txBox="1"/>
            <p:nvPr/>
          </p:nvSpPr>
          <p:spPr>
            <a:xfrm>
              <a:off x="0" y="-47625"/>
              <a:ext cx="1476615" cy="590724"/>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99" name="Google Shape;599;p34"/>
          <p:cNvGrpSpPr/>
          <p:nvPr/>
        </p:nvGrpSpPr>
        <p:grpSpPr>
          <a:xfrm>
            <a:off x="10938085" y="7152409"/>
            <a:ext cx="6086326" cy="2434852"/>
            <a:chOff x="0" y="-47625"/>
            <a:chExt cx="1476615" cy="590724"/>
          </a:xfrm>
        </p:grpSpPr>
        <p:sp>
          <p:nvSpPr>
            <p:cNvPr id="600" name="Google Shape;600;p34"/>
            <p:cNvSpPr/>
            <p:nvPr/>
          </p:nvSpPr>
          <p:spPr>
            <a:xfrm>
              <a:off x="0" y="0"/>
              <a:ext cx="1476615" cy="543099"/>
            </a:xfrm>
            <a:custGeom>
              <a:rect b="b" l="l" r="r" t="t"/>
              <a:pathLst>
                <a:path extrusionOk="0" h="543099" w="1476615">
                  <a:moveTo>
                    <a:pt x="64873" y="0"/>
                  </a:moveTo>
                  <a:lnTo>
                    <a:pt x="1411742" y="0"/>
                  </a:lnTo>
                  <a:cubicBezTo>
                    <a:pt x="1447570" y="0"/>
                    <a:pt x="1476615" y="29045"/>
                    <a:pt x="1476615" y="64873"/>
                  </a:cubicBezTo>
                  <a:lnTo>
                    <a:pt x="1476615" y="478226"/>
                  </a:lnTo>
                  <a:cubicBezTo>
                    <a:pt x="1476615" y="514054"/>
                    <a:pt x="1447570" y="543099"/>
                    <a:pt x="1411742" y="543099"/>
                  </a:cubicBezTo>
                  <a:lnTo>
                    <a:pt x="64873" y="543099"/>
                  </a:lnTo>
                  <a:cubicBezTo>
                    <a:pt x="29045" y="543099"/>
                    <a:pt x="0" y="514054"/>
                    <a:pt x="0" y="478226"/>
                  </a:cubicBezTo>
                  <a:lnTo>
                    <a:pt x="0" y="64873"/>
                  </a:lnTo>
                  <a:cubicBezTo>
                    <a:pt x="0" y="29045"/>
                    <a:pt x="29045" y="0"/>
                    <a:pt x="64873" y="0"/>
                  </a:cubicBezTo>
                  <a:close/>
                </a:path>
              </a:pathLst>
            </a:custGeom>
            <a:solidFill>
              <a:srgbClr val="FFFDFE"/>
            </a:solidFill>
            <a:ln cap="rnd" cmpd="sng" w="57150">
              <a:solidFill>
                <a:srgbClr val="FF91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4"/>
            <p:cNvSpPr txBox="1"/>
            <p:nvPr/>
          </p:nvSpPr>
          <p:spPr>
            <a:xfrm>
              <a:off x="0" y="-47625"/>
              <a:ext cx="1476615" cy="590724"/>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02" name="Google Shape;602;p34"/>
          <p:cNvGrpSpPr/>
          <p:nvPr/>
        </p:nvGrpSpPr>
        <p:grpSpPr>
          <a:xfrm>
            <a:off x="14470031" y="4753420"/>
            <a:ext cx="398110" cy="583857"/>
            <a:chOff x="0" y="-47625"/>
            <a:chExt cx="96586" cy="141650"/>
          </a:xfrm>
        </p:grpSpPr>
        <p:sp>
          <p:nvSpPr>
            <p:cNvPr id="603" name="Google Shape;603;p34"/>
            <p:cNvSpPr/>
            <p:nvPr/>
          </p:nvSpPr>
          <p:spPr>
            <a:xfrm>
              <a:off x="0" y="0"/>
              <a:ext cx="96586" cy="94025"/>
            </a:xfrm>
            <a:custGeom>
              <a:rect b="b" l="l" r="r" t="t"/>
              <a:pathLst>
                <a:path extrusionOk="0" h="94025" w="96586">
                  <a:moveTo>
                    <a:pt x="0" y="0"/>
                  </a:moveTo>
                  <a:lnTo>
                    <a:pt x="96586" y="0"/>
                  </a:lnTo>
                  <a:lnTo>
                    <a:pt x="96586" y="94025"/>
                  </a:lnTo>
                  <a:lnTo>
                    <a:pt x="0" y="94025"/>
                  </a:lnTo>
                  <a:close/>
                </a:path>
              </a:pathLst>
            </a:custGeom>
            <a:solidFill>
              <a:srgbClr val="FFFDFE"/>
            </a:solidFill>
            <a:ln cap="sq" cmpd="sng" w="57150">
              <a:solidFill>
                <a:srgbClr val="FF914D"/>
              </a:solidFill>
              <a:prstDash val="solid"/>
              <a:miter lim="8000"/>
              <a:headEnd len="sm" w="sm" type="none"/>
              <a:tailEnd len="sm" w="sm" type="none"/>
            </a:ln>
          </p:spPr>
        </p:sp>
        <p:sp>
          <p:nvSpPr>
            <p:cNvPr id="604" name="Google Shape;604;p34"/>
            <p:cNvSpPr txBox="1"/>
            <p:nvPr/>
          </p:nvSpPr>
          <p:spPr>
            <a:xfrm>
              <a:off x="0" y="-47625"/>
              <a:ext cx="96586" cy="141650"/>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05" name="Google Shape;605;p34"/>
          <p:cNvGrpSpPr/>
          <p:nvPr/>
        </p:nvGrpSpPr>
        <p:grpSpPr>
          <a:xfrm>
            <a:off x="8944945" y="4708570"/>
            <a:ext cx="398110" cy="583857"/>
            <a:chOff x="0" y="-47625"/>
            <a:chExt cx="96586" cy="141650"/>
          </a:xfrm>
        </p:grpSpPr>
        <p:sp>
          <p:nvSpPr>
            <p:cNvPr id="606" name="Google Shape;606;p34"/>
            <p:cNvSpPr/>
            <p:nvPr/>
          </p:nvSpPr>
          <p:spPr>
            <a:xfrm>
              <a:off x="0" y="0"/>
              <a:ext cx="96586" cy="94025"/>
            </a:xfrm>
            <a:custGeom>
              <a:rect b="b" l="l" r="r" t="t"/>
              <a:pathLst>
                <a:path extrusionOk="0" h="94025" w="96586">
                  <a:moveTo>
                    <a:pt x="0" y="0"/>
                  </a:moveTo>
                  <a:lnTo>
                    <a:pt x="96586" y="0"/>
                  </a:lnTo>
                  <a:lnTo>
                    <a:pt x="96586" y="94025"/>
                  </a:lnTo>
                  <a:lnTo>
                    <a:pt x="0" y="94025"/>
                  </a:lnTo>
                  <a:close/>
                </a:path>
              </a:pathLst>
            </a:custGeom>
            <a:solidFill>
              <a:srgbClr val="FFFDFE"/>
            </a:solidFill>
            <a:ln cap="sq" cmpd="sng" w="57150">
              <a:solidFill>
                <a:srgbClr val="CB6CE6"/>
              </a:solidFill>
              <a:prstDash val="solid"/>
              <a:miter lim="8000"/>
              <a:headEnd len="sm" w="sm" type="none"/>
              <a:tailEnd len="sm" w="sm" type="none"/>
            </a:ln>
          </p:spPr>
        </p:sp>
        <p:sp>
          <p:nvSpPr>
            <p:cNvPr id="607" name="Google Shape;607;p34"/>
            <p:cNvSpPr txBox="1"/>
            <p:nvPr/>
          </p:nvSpPr>
          <p:spPr>
            <a:xfrm>
              <a:off x="0" y="-47625"/>
              <a:ext cx="96586" cy="141650"/>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08" name="Google Shape;608;p34"/>
          <p:cNvGrpSpPr/>
          <p:nvPr/>
        </p:nvGrpSpPr>
        <p:grpSpPr>
          <a:xfrm>
            <a:off x="2614210" y="4676039"/>
            <a:ext cx="398110" cy="583857"/>
            <a:chOff x="0" y="-47625"/>
            <a:chExt cx="96586" cy="141650"/>
          </a:xfrm>
        </p:grpSpPr>
        <p:sp>
          <p:nvSpPr>
            <p:cNvPr id="609" name="Google Shape;609;p34"/>
            <p:cNvSpPr/>
            <p:nvPr/>
          </p:nvSpPr>
          <p:spPr>
            <a:xfrm>
              <a:off x="0" y="0"/>
              <a:ext cx="96586" cy="94025"/>
            </a:xfrm>
            <a:custGeom>
              <a:rect b="b" l="l" r="r" t="t"/>
              <a:pathLst>
                <a:path extrusionOk="0" h="94025" w="96586">
                  <a:moveTo>
                    <a:pt x="0" y="0"/>
                  </a:moveTo>
                  <a:lnTo>
                    <a:pt x="96586" y="0"/>
                  </a:lnTo>
                  <a:lnTo>
                    <a:pt x="96586" y="94025"/>
                  </a:lnTo>
                  <a:lnTo>
                    <a:pt x="0" y="94025"/>
                  </a:lnTo>
                  <a:close/>
                </a:path>
              </a:pathLst>
            </a:custGeom>
            <a:solidFill>
              <a:srgbClr val="FFFDFE"/>
            </a:solidFill>
            <a:ln cap="sq" cmpd="sng" w="57150">
              <a:solidFill>
                <a:srgbClr val="3E89BC"/>
              </a:solidFill>
              <a:prstDash val="solid"/>
              <a:miter lim="8000"/>
              <a:headEnd len="sm" w="sm" type="none"/>
              <a:tailEnd len="sm" w="sm" type="none"/>
            </a:ln>
          </p:spPr>
        </p:sp>
        <p:sp>
          <p:nvSpPr>
            <p:cNvPr id="610" name="Google Shape;610;p34"/>
            <p:cNvSpPr txBox="1"/>
            <p:nvPr/>
          </p:nvSpPr>
          <p:spPr>
            <a:xfrm>
              <a:off x="0" y="-47625"/>
              <a:ext cx="96586" cy="141650"/>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1" name="Google Shape;611;p34"/>
          <p:cNvSpPr txBox="1"/>
          <p:nvPr/>
        </p:nvSpPr>
        <p:spPr>
          <a:xfrm>
            <a:off x="15870718" y="348713"/>
            <a:ext cx="2307300" cy="2003100"/>
          </a:xfrm>
          <a:prstGeom prst="rect">
            <a:avLst/>
          </a:prstGeom>
          <a:noFill/>
          <a:ln>
            <a:noFill/>
          </a:ln>
        </p:spPr>
        <p:txBody>
          <a:bodyPr anchorCtr="0" anchor="t" bIns="0" lIns="0" spcFirstLastPara="1" rIns="0" wrap="square" tIns="0">
            <a:spAutoFit/>
          </a:bodyPr>
          <a:lstStyle/>
          <a:p>
            <a:pPr indent="0" lvl="0" marL="0" marR="0" rtl="0" algn="r">
              <a:lnSpc>
                <a:spcPct val="105002"/>
              </a:lnSpc>
              <a:spcBef>
                <a:spcPts val="0"/>
              </a:spcBef>
              <a:spcAft>
                <a:spcPts val="0"/>
              </a:spcAft>
              <a:buNone/>
            </a:pPr>
            <a:r>
              <a:rPr lang="en-US" sz="4198">
                <a:solidFill>
                  <a:srgbClr val="503C30"/>
                </a:solidFill>
                <a:latin typeface="Arial"/>
                <a:ea typeface="Arial"/>
                <a:cs typeface="Arial"/>
                <a:sym typeface="Arial"/>
              </a:rPr>
              <a:t>LINEA DEL TIEMPO</a:t>
            </a:r>
            <a:endParaRPr sz="800"/>
          </a:p>
        </p:txBody>
      </p:sp>
      <p:sp>
        <p:nvSpPr>
          <p:cNvPr id="612" name="Google Shape;612;p34"/>
          <p:cNvSpPr txBox="1"/>
          <p:nvPr/>
        </p:nvSpPr>
        <p:spPr>
          <a:xfrm>
            <a:off x="6200876" y="269200"/>
            <a:ext cx="60864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PUBLICACIÓN OFICIAL</a:t>
            </a:r>
            <a:endParaRPr/>
          </a:p>
        </p:txBody>
      </p:sp>
      <p:sp>
        <p:nvSpPr>
          <p:cNvPr id="613" name="Google Shape;613;p34"/>
          <p:cNvSpPr txBox="1"/>
          <p:nvPr/>
        </p:nvSpPr>
        <p:spPr>
          <a:xfrm>
            <a:off x="1229221" y="6502650"/>
            <a:ext cx="57132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PRUEBAS Y REVISIONES</a:t>
            </a:r>
            <a:endParaRPr/>
          </a:p>
        </p:txBody>
      </p:sp>
      <p:sp>
        <p:nvSpPr>
          <p:cNvPr id="614" name="Google Shape;614;p34"/>
          <p:cNvSpPr txBox="1"/>
          <p:nvPr/>
        </p:nvSpPr>
        <p:spPr>
          <a:xfrm>
            <a:off x="11188450" y="6453875"/>
            <a:ext cx="49641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DIFUSIÓN ACADÉMICA</a:t>
            </a:r>
            <a:endParaRPr/>
          </a:p>
        </p:txBody>
      </p:sp>
      <p:sp>
        <p:nvSpPr>
          <p:cNvPr id="615" name="Google Shape;615;p34"/>
          <p:cNvSpPr txBox="1"/>
          <p:nvPr/>
        </p:nvSpPr>
        <p:spPr>
          <a:xfrm>
            <a:off x="8772902" y="4096925"/>
            <a:ext cx="12678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1984</a:t>
            </a:r>
            <a:endParaRPr/>
          </a:p>
        </p:txBody>
      </p:sp>
      <p:sp>
        <p:nvSpPr>
          <p:cNvPr id="616" name="Google Shape;616;p34"/>
          <p:cNvSpPr txBox="1"/>
          <p:nvPr/>
        </p:nvSpPr>
        <p:spPr>
          <a:xfrm>
            <a:off x="2438154" y="5783775"/>
            <a:ext cx="12678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a:solidFill>
                  <a:srgbClr val="503C30"/>
                </a:solidFill>
                <a:latin typeface="Arial"/>
                <a:ea typeface="Arial"/>
                <a:cs typeface="Arial"/>
                <a:sym typeface="Arial"/>
              </a:rPr>
              <a:t>1983</a:t>
            </a:r>
            <a:endParaRPr/>
          </a:p>
        </p:txBody>
      </p:sp>
      <p:sp>
        <p:nvSpPr>
          <p:cNvPr id="617" name="Google Shape;617;p34"/>
          <p:cNvSpPr txBox="1"/>
          <p:nvPr/>
        </p:nvSpPr>
        <p:spPr>
          <a:xfrm>
            <a:off x="14443913" y="5616200"/>
            <a:ext cx="17085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1986</a:t>
            </a:r>
            <a:endParaRPr/>
          </a:p>
        </p:txBody>
      </p:sp>
      <p:sp>
        <p:nvSpPr>
          <p:cNvPr id="618" name="Google Shape;618;p34"/>
          <p:cNvSpPr txBox="1"/>
          <p:nvPr/>
        </p:nvSpPr>
        <p:spPr>
          <a:xfrm>
            <a:off x="6393687" y="1255910"/>
            <a:ext cx="5414000" cy="2036707"/>
          </a:xfrm>
          <a:prstGeom prst="rect">
            <a:avLst/>
          </a:prstGeom>
          <a:noFill/>
          <a:ln>
            <a:noFill/>
          </a:ln>
        </p:spPr>
        <p:txBody>
          <a:bodyPr anchorCtr="0" anchor="t" bIns="0" lIns="0" spcFirstLastPara="1" rIns="0" wrap="square" tIns="0">
            <a:spAutoFit/>
          </a:bodyPr>
          <a:lstStyle/>
          <a:p>
            <a:pPr indent="0" lvl="0" marL="0" marR="0" rtl="0" algn="ctr">
              <a:lnSpc>
                <a:spcPct val="140017"/>
              </a:lnSpc>
              <a:spcBef>
                <a:spcPts val="0"/>
              </a:spcBef>
              <a:spcAft>
                <a:spcPts val="0"/>
              </a:spcAft>
              <a:buNone/>
            </a:pPr>
            <a:r>
              <a:rPr lang="en-US" sz="2314">
                <a:solidFill>
                  <a:srgbClr val="503C30"/>
                </a:solidFill>
                <a:latin typeface="Inter"/>
                <a:ea typeface="Inter"/>
                <a:cs typeface="Inter"/>
                <a:sym typeface="Inter"/>
              </a:rPr>
              <a:t>La ISO publica la norma ISO 7498, que define el modelo OSI como estándar internacional para la interconexión de sistemas abiertos. (OPIT, 2023)</a:t>
            </a:r>
            <a:endParaRPr/>
          </a:p>
        </p:txBody>
      </p:sp>
      <p:sp>
        <p:nvSpPr>
          <p:cNvPr id="619" name="Google Shape;619;p34"/>
          <p:cNvSpPr txBox="1"/>
          <p:nvPr/>
        </p:nvSpPr>
        <p:spPr>
          <a:xfrm>
            <a:off x="1229232" y="7481730"/>
            <a:ext cx="5713067" cy="1934411"/>
          </a:xfrm>
          <a:prstGeom prst="rect">
            <a:avLst/>
          </a:prstGeom>
          <a:noFill/>
          <a:ln>
            <a:noFill/>
          </a:ln>
        </p:spPr>
        <p:txBody>
          <a:bodyPr anchorCtr="0" anchor="t" bIns="0" lIns="0" spcFirstLastPara="1" rIns="0" wrap="square" tIns="0">
            <a:spAutoFit/>
          </a:bodyPr>
          <a:lstStyle/>
          <a:p>
            <a:pPr indent="0" lvl="0" marL="0" marR="0" rtl="0" algn="ctr">
              <a:lnSpc>
                <a:spcPct val="143222"/>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lnSpc>
                <a:spcPct val="139956"/>
              </a:lnSpc>
              <a:spcBef>
                <a:spcPts val="0"/>
              </a:spcBef>
              <a:spcAft>
                <a:spcPts val="0"/>
              </a:spcAft>
              <a:buNone/>
            </a:pPr>
            <a:r>
              <a:rPr lang="en-US" sz="1842">
                <a:solidFill>
                  <a:srgbClr val="503C30"/>
                </a:solidFill>
                <a:latin typeface="Inter"/>
                <a:ea typeface="Inter"/>
                <a:cs typeface="Inter"/>
                <a:sym typeface="Inter"/>
              </a:rPr>
              <a:t>Se realizan pruebas experimentales con protocolos basados en el modelo OSI, mientras se comparan con TCP/IP. (Data-Flair, 2021)</a:t>
            </a:r>
            <a:endParaRPr/>
          </a:p>
          <a:p>
            <a:pPr indent="0" lvl="0" marL="0" marR="0" rtl="0" algn="ctr">
              <a:lnSpc>
                <a:spcPct val="139956"/>
              </a:lnSpc>
              <a:spcBef>
                <a:spcPts val="0"/>
              </a:spcBef>
              <a:spcAft>
                <a:spcPts val="0"/>
              </a:spcAft>
              <a:buNone/>
            </a:pPr>
            <a:r>
              <a:t/>
            </a:r>
            <a:endParaRPr sz="1842">
              <a:solidFill>
                <a:srgbClr val="503C30"/>
              </a:solidFill>
              <a:latin typeface="Inter"/>
              <a:ea typeface="Inter"/>
              <a:cs typeface="Inter"/>
              <a:sym typeface="Inter"/>
            </a:endParaRPr>
          </a:p>
        </p:txBody>
      </p:sp>
      <p:sp>
        <p:nvSpPr>
          <p:cNvPr id="620" name="Google Shape;620;p34"/>
          <p:cNvSpPr txBox="1"/>
          <p:nvPr/>
        </p:nvSpPr>
        <p:spPr>
          <a:xfrm>
            <a:off x="11188456" y="7472205"/>
            <a:ext cx="5502137" cy="1943283"/>
          </a:xfrm>
          <a:prstGeom prst="rect">
            <a:avLst/>
          </a:prstGeom>
          <a:noFill/>
          <a:ln>
            <a:noFill/>
          </a:ln>
        </p:spPr>
        <p:txBody>
          <a:bodyPr anchorCtr="0" anchor="t" bIns="0" lIns="0" spcFirstLastPara="1" rIns="0" wrap="square" tIns="0">
            <a:spAutoFit/>
          </a:bodyPr>
          <a:lstStyle/>
          <a:p>
            <a:pPr indent="0" lvl="0" marL="0" marR="0" rtl="0" algn="ctr">
              <a:lnSpc>
                <a:spcPct val="145222"/>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lnSpc>
                <a:spcPct val="140010"/>
              </a:lnSpc>
              <a:spcBef>
                <a:spcPts val="0"/>
              </a:spcBef>
              <a:spcAft>
                <a:spcPts val="0"/>
              </a:spcAft>
              <a:buNone/>
            </a:pPr>
            <a:r>
              <a:rPr lang="en-US" sz="1867">
                <a:solidFill>
                  <a:srgbClr val="503C30"/>
                </a:solidFill>
                <a:latin typeface="Inter"/>
                <a:ea typeface="Inter"/>
                <a:cs typeface="Inter"/>
                <a:sym typeface="Inter"/>
              </a:rPr>
              <a:t>Universidades y centros tecnológicos adoptan el modelo OSI como herramienta de enseñanza en redes. (Cisco Learning Network, 2021)</a:t>
            </a:r>
            <a:endParaRPr/>
          </a:p>
          <a:p>
            <a:pPr indent="0" lvl="0" marL="0" marR="0" rtl="0" algn="ctr">
              <a:lnSpc>
                <a:spcPct val="140010"/>
              </a:lnSpc>
              <a:spcBef>
                <a:spcPts val="0"/>
              </a:spcBef>
              <a:spcAft>
                <a:spcPts val="0"/>
              </a:spcAft>
              <a:buNone/>
            </a:pPr>
            <a:r>
              <a:t/>
            </a:r>
            <a:endParaRPr sz="1867">
              <a:solidFill>
                <a:srgbClr val="503C30"/>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500"/>
                                        <p:tgtEl>
                                          <p:spTgt spid="577"/>
                                        </p:tgtEl>
                                      </p:cBhvr>
                                    </p:animEffect>
                                  </p:childTnLst>
                                </p:cTn>
                              </p:par>
                              <p:par>
                                <p:cTn fill="hold" nodeType="with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par>
                                <p:cTn fill="hold" nodeType="with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500"/>
                                        <p:tgtEl>
                                          <p:spTgt spid="579"/>
                                        </p:tgtEl>
                                      </p:cBhvr>
                                    </p:animEffect>
                                  </p:childTnLst>
                                </p:cTn>
                              </p:par>
                              <p:par>
                                <p:cTn fill="hold" nodeType="with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par>
                                <p:cTn fill="hold" nodeType="with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500"/>
                                        <p:tgtEl>
                                          <p:spTgt spid="581"/>
                                        </p:tgtEl>
                                      </p:cBhvr>
                                    </p:animEffect>
                                  </p:childTnLst>
                                </p:cTn>
                              </p:par>
                              <p:par>
                                <p:cTn fill="hold" nodeType="with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500"/>
                                        <p:tgtEl>
                                          <p:spTgt spid="582"/>
                                        </p:tgtEl>
                                      </p:cBhvr>
                                    </p:animEffect>
                                  </p:childTnLst>
                                </p:cTn>
                              </p:par>
                              <p:par>
                                <p:cTn fill="hold" nodeType="with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500"/>
                                        <p:tgtEl>
                                          <p:spTgt spid="583"/>
                                        </p:tgtEl>
                                      </p:cBhvr>
                                    </p:animEffect>
                                  </p:childTnLst>
                                </p:cTn>
                              </p:par>
                              <p:par>
                                <p:cTn fill="hold" nodeType="with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500"/>
                                        <p:tgtEl>
                                          <p:spTgt spid="584"/>
                                        </p:tgtEl>
                                      </p:cBhvr>
                                    </p:animEffect>
                                  </p:childTnLst>
                                </p:cTn>
                              </p:par>
                              <p:par>
                                <p:cTn fill="hold" nodeType="with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500"/>
                                        <p:tgtEl>
                                          <p:spTgt spid="587"/>
                                        </p:tgtEl>
                                      </p:cBhvr>
                                    </p:animEffect>
                                  </p:childTnLst>
                                </p:cTn>
                              </p:par>
                              <p:par>
                                <p:cTn fill="hold" nodeType="with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500"/>
                                        <p:tgtEl>
                                          <p:spTgt spid="590"/>
                                        </p:tgtEl>
                                      </p:cBhvr>
                                    </p:animEffect>
                                  </p:childTnLst>
                                </p:cTn>
                              </p:par>
                              <p:par>
                                <p:cTn fill="hold" nodeType="withEffect" presetClass="entr" presetID="10" presetSubtype="0">
                                  <p:stCondLst>
                                    <p:cond delay="0"/>
                                  </p:stCondLst>
                                  <p:childTnLst>
                                    <p:set>
                                      <p:cBhvr>
                                        <p:cTn dur="1" fill="hold">
                                          <p:stCondLst>
                                            <p:cond delay="0"/>
                                          </p:stCondLst>
                                        </p:cTn>
                                        <p:tgtEl>
                                          <p:spTgt spid="593"/>
                                        </p:tgtEl>
                                        <p:attrNameLst>
                                          <p:attrName>style.visibility</p:attrName>
                                        </p:attrNameLst>
                                      </p:cBhvr>
                                      <p:to>
                                        <p:strVal val="visible"/>
                                      </p:to>
                                    </p:set>
                                    <p:animEffect filter="fade" transition="in">
                                      <p:cBhvr>
                                        <p:cTn dur="500"/>
                                        <p:tgtEl>
                                          <p:spTgt spid="593"/>
                                        </p:tgtEl>
                                      </p:cBhvr>
                                    </p:animEffect>
                                  </p:childTnLst>
                                </p:cTn>
                              </p:par>
                              <p:par>
                                <p:cTn fill="hold" nodeType="with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500"/>
                                        <p:tgtEl>
                                          <p:spTgt spid="596"/>
                                        </p:tgtEl>
                                      </p:cBhvr>
                                    </p:animEffect>
                                  </p:childTnLst>
                                </p:cTn>
                              </p:par>
                              <p:par>
                                <p:cTn fill="hold" nodeType="withEffect" presetClass="entr" presetID="10" presetSubtype="0">
                                  <p:stCondLst>
                                    <p:cond delay="0"/>
                                  </p:stCondLst>
                                  <p:childTnLst>
                                    <p:set>
                                      <p:cBhvr>
                                        <p:cTn dur="1" fill="hold">
                                          <p:stCondLst>
                                            <p:cond delay="0"/>
                                          </p:stCondLst>
                                        </p:cTn>
                                        <p:tgtEl>
                                          <p:spTgt spid="599"/>
                                        </p:tgtEl>
                                        <p:attrNameLst>
                                          <p:attrName>style.visibility</p:attrName>
                                        </p:attrNameLst>
                                      </p:cBhvr>
                                      <p:to>
                                        <p:strVal val="visible"/>
                                      </p:to>
                                    </p:set>
                                    <p:animEffect filter="fade" transition="in">
                                      <p:cBhvr>
                                        <p:cTn dur="500"/>
                                        <p:tgtEl>
                                          <p:spTgt spid="599"/>
                                        </p:tgtEl>
                                      </p:cBhvr>
                                    </p:animEffect>
                                  </p:childTnLst>
                                </p:cTn>
                              </p:par>
                              <p:par>
                                <p:cTn fill="hold" nodeType="with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500"/>
                                        <p:tgtEl>
                                          <p:spTgt spid="602"/>
                                        </p:tgtEl>
                                      </p:cBhvr>
                                    </p:animEffect>
                                  </p:childTnLst>
                                </p:cTn>
                              </p:par>
                              <p:par>
                                <p:cTn fill="hold" nodeType="with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500"/>
                                        <p:tgtEl>
                                          <p:spTgt spid="605"/>
                                        </p:tgtEl>
                                      </p:cBhvr>
                                    </p:animEffect>
                                  </p:childTnLst>
                                </p:cTn>
                              </p:par>
                              <p:par>
                                <p:cTn fill="hold" nodeType="with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500"/>
                                        <p:tgtEl>
                                          <p:spTgt spid="608"/>
                                        </p:tgtEl>
                                      </p:cBhvr>
                                    </p:animEffect>
                                  </p:childTnLst>
                                </p:cTn>
                              </p:par>
                              <p:par>
                                <p:cTn fill="hold" nodeType="with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500"/>
                                        <p:tgtEl>
                                          <p:spTgt spid="611"/>
                                        </p:tgtEl>
                                      </p:cBhvr>
                                    </p:animEffect>
                                  </p:childTnLst>
                                </p:cTn>
                              </p:par>
                              <p:par>
                                <p:cTn fill="hold" nodeType="with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500"/>
                                        <p:tgtEl>
                                          <p:spTgt spid="612"/>
                                        </p:tgtEl>
                                      </p:cBhvr>
                                    </p:animEffect>
                                  </p:childTnLst>
                                </p:cTn>
                              </p:par>
                              <p:par>
                                <p:cTn fill="hold" nodeType="with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500"/>
                                        <p:tgtEl>
                                          <p:spTgt spid="613"/>
                                        </p:tgtEl>
                                      </p:cBhvr>
                                    </p:animEffect>
                                  </p:childTnLst>
                                </p:cTn>
                              </p:par>
                              <p:par>
                                <p:cTn fill="hold" nodeType="with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500"/>
                                        <p:tgtEl>
                                          <p:spTgt spid="614"/>
                                        </p:tgtEl>
                                      </p:cBhvr>
                                    </p:animEffect>
                                  </p:childTnLst>
                                </p:cTn>
                              </p:par>
                              <p:par>
                                <p:cTn fill="hold" nodeType="with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par>
                                <p:cTn fill="hold" nodeType="with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500"/>
                                        <p:tgtEl>
                                          <p:spTgt spid="616"/>
                                        </p:tgtEl>
                                      </p:cBhvr>
                                    </p:animEffect>
                                  </p:childTnLst>
                                </p:cTn>
                              </p:par>
                              <p:par>
                                <p:cTn fill="hold" nodeType="with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500"/>
                                        <p:tgtEl>
                                          <p:spTgt spid="617"/>
                                        </p:tgtEl>
                                      </p:cBhvr>
                                    </p:animEffect>
                                  </p:childTnLst>
                                </p:cTn>
                              </p:par>
                              <p:par>
                                <p:cTn fill="hold" nodeType="with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500"/>
                                        <p:tgtEl>
                                          <p:spTgt spid="618"/>
                                        </p:tgtEl>
                                      </p:cBhvr>
                                    </p:animEffect>
                                  </p:childTnLst>
                                </p:cTn>
                              </p:par>
                              <p:par>
                                <p:cTn fill="hold" nodeType="with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500"/>
                                        <p:tgtEl>
                                          <p:spTgt spid="619"/>
                                        </p:tgtEl>
                                      </p:cBhvr>
                                    </p:animEffect>
                                  </p:childTnLst>
                                </p:cTn>
                              </p:par>
                              <p:par>
                                <p:cTn fill="hold" nodeType="with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500"/>
                                        <p:tgtEl>
                                          <p:spTgt spid="6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624" name="Shape 624"/>
        <p:cNvGrpSpPr/>
        <p:nvPr/>
      </p:nvGrpSpPr>
      <p:grpSpPr>
        <a:xfrm>
          <a:off x="0" y="0"/>
          <a:ext cx="0" cy="0"/>
          <a:chOff x="0" y="0"/>
          <a:chExt cx="0" cy="0"/>
        </a:xfrm>
      </p:grpSpPr>
      <p:cxnSp>
        <p:nvCxnSpPr>
          <p:cNvPr id="625" name="Google Shape;625;p35"/>
          <p:cNvCxnSpPr/>
          <p:nvPr/>
        </p:nvCxnSpPr>
        <p:spPr>
          <a:xfrm rot="10800000">
            <a:off x="2614210" y="1704925"/>
            <a:ext cx="0" cy="1947300"/>
          </a:xfrm>
          <a:prstGeom prst="straightConnector1">
            <a:avLst/>
          </a:prstGeom>
          <a:noFill/>
          <a:ln cap="flat" cmpd="sng" w="57150">
            <a:solidFill>
              <a:srgbClr val="FFFDFE"/>
            </a:solidFill>
            <a:prstDash val="dash"/>
            <a:round/>
            <a:headEnd len="sm" w="sm" type="none"/>
            <a:tailEnd len="sm" w="sm" type="none"/>
          </a:ln>
        </p:spPr>
      </p:cxnSp>
      <p:cxnSp>
        <p:nvCxnSpPr>
          <p:cNvPr id="626" name="Google Shape;626;p35"/>
          <p:cNvCxnSpPr/>
          <p:nvPr/>
        </p:nvCxnSpPr>
        <p:spPr>
          <a:xfrm rot="10800000">
            <a:off x="7958585" y="3151350"/>
            <a:ext cx="0" cy="1947300"/>
          </a:xfrm>
          <a:prstGeom prst="straightConnector1">
            <a:avLst/>
          </a:prstGeom>
          <a:noFill/>
          <a:ln cap="flat" cmpd="sng" w="57150">
            <a:solidFill>
              <a:srgbClr val="FFFDFE"/>
            </a:solidFill>
            <a:prstDash val="dash"/>
            <a:round/>
            <a:headEnd len="sm" w="sm" type="none"/>
            <a:tailEnd len="sm" w="sm" type="none"/>
          </a:ln>
        </p:spPr>
      </p:cxnSp>
      <p:cxnSp>
        <p:nvCxnSpPr>
          <p:cNvPr id="627" name="Google Shape;627;p35"/>
          <p:cNvCxnSpPr/>
          <p:nvPr/>
        </p:nvCxnSpPr>
        <p:spPr>
          <a:xfrm rot="10800000">
            <a:off x="12433732" y="3151350"/>
            <a:ext cx="0" cy="1947300"/>
          </a:xfrm>
          <a:prstGeom prst="straightConnector1">
            <a:avLst/>
          </a:prstGeom>
          <a:noFill/>
          <a:ln cap="flat" cmpd="sng" w="57150">
            <a:solidFill>
              <a:srgbClr val="FFFDFE"/>
            </a:solidFill>
            <a:prstDash val="dash"/>
            <a:round/>
            <a:headEnd len="sm" w="sm" type="none"/>
            <a:tailEnd len="sm" w="sm" type="none"/>
          </a:ln>
        </p:spPr>
      </p:cxnSp>
      <p:cxnSp>
        <p:nvCxnSpPr>
          <p:cNvPr id="628" name="Google Shape;628;p35"/>
          <p:cNvCxnSpPr/>
          <p:nvPr/>
        </p:nvCxnSpPr>
        <p:spPr>
          <a:xfrm rot="10800000">
            <a:off x="5723231" y="5069568"/>
            <a:ext cx="0" cy="1947300"/>
          </a:xfrm>
          <a:prstGeom prst="straightConnector1">
            <a:avLst/>
          </a:prstGeom>
          <a:noFill/>
          <a:ln cap="flat" cmpd="sng" w="57150">
            <a:solidFill>
              <a:srgbClr val="FFFDFE"/>
            </a:solidFill>
            <a:prstDash val="dash"/>
            <a:round/>
            <a:headEnd len="sm" w="sm" type="none"/>
            <a:tailEnd len="sm" w="sm" type="none"/>
          </a:ln>
        </p:spPr>
      </p:cxnSp>
      <p:cxnSp>
        <p:nvCxnSpPr>
          <p:cNvPr id="629" name="Google Shape;629;p35"/>
          <p:cNvCxnSpPr/>
          <p:nvPr/>
        </p:nvCxnSpPr>
        <p:spPr>
          <a:xfrm rot="10800000">
            <a:off x="14669086" y="5066118"/>
            <a:ext cx="0" cy="1947300"/>
          </a:xfrm>
          <a:prstGeom prst="straightConnector1">
            <a:avLst/>
          </a:prstGeom>
          <a:noFill/>
          <a:ln cap="flat" cmpd="sng" w="57150">
            <a:solidFill>
              <a:srgbClr val="FFFDFE"/>
            </a:solidFill>
            <a:prstDash val="dash"/>
            <a:round/>
            <a:headEnd len="sm" w="sm" type="none"/>
            <a:tailEnd len="sm" w="sm" type="none"/>
          </a:ln>
        </p:spPr>
      </p:cxnSp>
      <p:cxnSp>
        <p:nvCxnSpPr>
          <p:cNvPr id="630" name="Google Shape;630;p35"/>
          <p:cNvCxnSpPr/>
          <p:nvPr/>
        </p:nvCxnSpPr>
        <p:spPr>
          <a:xfrm rot="10800000">
            <a:off x="10198378" y="5069568"/>
            <a:ext cx="0" cy="1947300"/>
          </a:xfrm>
          <a:prstGeom prst="straightConnector1">
            <a:avLst/>
          </a:prstGeom>
          <a:noFill/>
          <a:ln cap="flat" cmpd="sng" w="57150">
            <a:solidFill>
              <a:srgbClr val="FFFDFE"/>
            </a:solidFill>
            <a:prstDash val="dash"/>
            <a:round/>
            <a:headEnd len="sm" w="sm" type="none"/>
            <a:tailEnd len="sm" w="sm" type="none"/>
          </a:ln>
        </p:spPr>
      </p:cxnSp>
      <p:cxnSp>
        <p:nvCxnSpPr>
          <p:cNvPr id="631" name="Google Shape;631;p35"/>
          <p:cNvCxnSpPr/>
          <p:nvPr/>
        </p:nvCxnSpPr>
        <p:spPr>
          <a:xfrm>
            <a:off x="0" y="5098650"/>
            <a:ext cx="18288000" cy="0"/>
          </a:xfrm>
          <a:prstGeom prst="straightConnector1">
            <a:avLst/>
          </a:prstGeom>
          <a:noFill/>
          <a:ln cap="flat" cmpd="sng" w="57150">
            <a:solidFill>
              <a:srgbClr val="FFBE98"/>
            </a:solidFill>
            <a:prstDash val="solid"/>
            <a:round/>
            <a:headEnd len="sm" w="sm" type="none"/>
            <a:tailEnd len="sm" w="sm" type="none"/>
          </a:ln>
        </p:spPr>
      </p:cxnSp>
      <p:grpSp>
        <p:nvGrpSpPr>
          <p:cNvPr id="632" name="Google Shape;632;p35"/>
          <p:cNvGrpSpPr/>
          <p:nvPr/>
        </p:nvGrpSpPr>
        <p:grpSpPr>
          <a:xfrm>
            <a:off x="1801415" y="5917121"/>
            <a:ext cx="2744440" cy="2834458"/>
            <a:chOff x="0" y="0"/>
            <a:chExt cx="6350000" cy="6558280"/>
          </a:xfrm>
        </p:grpSpPr>
        <p:sp>
          <p:nvSpPr>
            <p:cNvPr id="633" name="Google Shape;633;p35"/>
            <p:cNvSpPr/>
            <p:nvPr/>
          </p:nvSpPr>
          <p:spPr>
            <a:xfrm>
              <a:off x="74930" y="74930"/>
              <a:ext cx="6200140" cy="6408420"/>
            </a:xfrm>
            <a:custGeom>
              <a:rect b="b" l="l" r="r" t="t"/>
              <a:pathLst>
                <a:path extrusionOk="0"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rotWithShape="1">
              <a:blip r:embed="rId3">
                <a:alphaModFix/>
              </a:blip>
              <a:stretch>
                <a:fillRect b="0" l="-41870" r="-41868"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5"/>
            <p:cNvSpPr/>
            <p:nvPr/>
          </p:nvSpPr>
          <p:spPr>
            <a:xfrm>
              <a:off x="0" y="0"/>
              <a:ext cx="6350000" cy="6558280"/>
            </a:xfrm>
            <a:custGeom>
              <a:rect b="b" l="l" r="r" t="t"/>
              <a:pathLst>
                <a:path extrusionOk="0"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 name="Google Shape;635;p35"/>
          <p:cNvGrpSpPr/>
          <p:nvPr/>
        </p:nvGrpSpPr>
        <p:grpSpPr>
          <a:xfrm>
            <a:off x="12663661" y="5840921"/>
            <a:ext cx="2818220" cy="2910658"/>
            <a:chOff x="0" y="0"/>
            <a:chExt cx="6350000" cy="6558280"/>
          </a:xfrm>
        </p:grpSpPr>
        <p:sp>
          <p:nvSpPr>
            <p:cNvPr id="636" name="Google Shape;636;p35"/>
            <p:cNvSpPr/>
            <p:nvPr/>
          </p:nvSpPr>
          <p:spPr>
            <a:xfrm>
              <a:off x="74930" y="74930"/>
              <a:ext cx="6200140" cy="6408420"/>
            </a:xfrm>
            <a:custGeom>
              <a:rect b="b" l="l" r="r" t="t"/>
              <a:pathLst>
                <a:path extrusionOk="0"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rotWithShape="1">
              <a:blip r:embed="rId4">
                <a:alphaModFix/>
              </a:blip>
              <a:stretch>
                <a:fillRect b="0" l="-41870" r="-41868"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5"/>
            <p:cNvSpPr/>
            <p:nvPr/>
          </p:nvSpPr>
          <p:spPr>
            <a:xfrm>
              <a:off x="0" y="0"/>
              <a:ext cx="6350000" cy="6558280"/>
            </a:xfrm>
            <a:custGeom>
              <a:rect b="b" l="l" r="r" t="t"/>
              <a:pathLst>
                <a:path extrusionOk="0"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8" name="Google Shape;638;p35"/>
          <p:cNvGrpSpPr/>
          <p:nvPr/>
        </p:nvGrpSpPr>
        <p:grpSpPr>
          <a:xfrm>
            <a:off x="868703" y="970366"/>
            <a:ext cx="5757629" cy="2434852"/>
            <a:chOff x="0" y="-47625"/>
            <a:chExt cx="1396869" cy="590724"/>
          </a:xfrm>
        </p:grpSpPr>
        <p:sp>
          <p:nvSpPr>
            <p:cNvPr id="639" name="Google Shape;639;p35"/>
            <p:cNvSpPr/>
            <p:nvPr/>
          </p:nvSpPr>
          <p:spPr>
            <a:xfrm>
              <a:off x="0" y="0"/>
              <a:ext cx="1396869" cy="543099"/>
            </a:xfrm>
            <a:custGeom>
              <a:rect b="b" l="l" r="r" t="t"/>
              <a:pathLst>
                <a:path extrusionOk="0" h="543099" w="1396869">
                  <a:moveTo>
                    <a:pt x="68576" y="0"/>
                  </a:moveTo>
                  <a:lnTo>
                    <a:pt x="1328292" y="0"/>
                  </a:lnTo>
                  <a:cubicBezTo>
                    <a:pt x="1366166" y="0"/>
                    <a:pt x="1396869" y="30703"/>
                    <a:pt x="1396869" y="68576"/>
                  </a:cubicBezTo>
                  <a:lnTo>
                    <a:pt x="1396869" y="474522"/>
                  </a:lnTo>
                  <a:cubicBezTo>
                    <a:pt x="1396869" y="512396"/>
                    <a:pt x="1366166" y="543099"/>
                    <a:pt x="1328292" y="543099"/>
                  </a:cubicBezTo>
                  <a:lnTo>
                    <a:pt x="68576" y="543099"/>
                  </a:lnTo>
                  <a:cubicBezTo>
                    <a:pt x="30703" y="543099"/>
                    <a:pt x="0" y="512396"/>
                    <a:pt x="0" y="474522"/>
                  </a:cubicBezTo>
                  <a:lnTo>
                    <a:pt x="0" y="68576"/>
                  </a:lnTo>
                  <a:cubicBezTo>
                    <a:pt x="0" y="30703"/>
                    <a:pt x="30703" y="0"/>
                    <a:pt x="68576" y="0"/>
                  </a:cubicBezTo>
                  <a:close/>
                </a:path>
              </a:pathLst>
            </a:custGeom>
            <a:solidFill>
              <a:srgbClr val="FFFDFE"/>
            </a:solidFill>
            <a:ln cap="rnd" cmpd="sng" w="57150">
              <a:solidFill>
                <a:srgbClr val="1D7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5"/>
            <p:cNvSpPr txBox="1"/>
            <p:nvPr/>
          </p:nvSpPr>
          <p:spPr>
            <a:xfrm>
              <a:off x="0" y="-47625"/>
              <a:ext cx="1396869" cy="590724"/>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41" name="Google Shape;641;p35"/>
          <p:cNvSpPr txBox="1"/>
          <p:nvPr/>
        </p:nvSpPr>
        <p:spPr>
          <a:xfrm>
            <a:off x="15870718" y="348713"/>
            <a:ext cx="2307388" cy="1320141"/>
          </a:xfrm>
          <a:prstGeom prst="rect">
            <a:avLst/>
          </a:prstGeom>
          <a:noFill/>
          <a:ln>
            <a:noFill/>
          </a:ln>
        </p:spPr>
        <p:txBody>
          <a:bodyPr anchorCtr="0" anchor="t" bIns="0" lIns="0" spcFirstLastPara="1" rIns="0" wrap="square" tIns="0">
            <a:spAutoFit/>
          </a:bodyPr>
          <a:lstStyle/>
          <a:p>
            <a:pPr indent="0" lvl="0" marL="0" marR="0" rtl="0" algn="r">
              <a:lnSpc>
                <a:spcPct val="105002"/>
              </a:lnSpc>
              <a:spcBef>
                <a:spcPts val="0"/>
              </a:spcBef>
              <a:spcAft>
                <a:spcPts val="0"/>
              </a:spcAft>
              <a:buNone/>
            </a:pPr>
            <a:r>
              <a:rPr lang="en-US" sz="4798">
                <a:solidFill>
                  <a:srgbClr val="503C30"/>
                </a:solidFill>
                <a:latin typeface="Arial"/>
                <a:ea typeface="Arial"/>
                <a:cs typeface="Arial"/>
                <a:sym typeface="Arial"/>
              </a:rPr>
              <a:t>LINEA DEL TIEMPO</a:t>
            </a:r>
            <a:endParaRPr/>
          </a:p>
        </p:txBody>
      </p:sp>
      <p:grpSp>
        <p:nvGrpSpPr>
          <p:cNvPr id="642" name="Google Shape;642;p35"/>
          <p:cNvGrpSpPr/>
          <p:nvPr/>
        </p:nvGrpSpPr>
        <p:grpSpPr>
          <a:xfrm>
            <a:off x="6100837" y="7060136"/>
            <a:ext cx="6086326" cy="2434852"/>
            <a:chOff x="0" y="-47625"/>
            <a:chExt cx="1476615" cy="590724"/>
          </a:xfrm>
        </p:grpSpPr>
        <p:sp>
          <p:nvSpPr>
            <p:cNvPr id="643" name="Google Shape;643;p35"/>
            <p:cNvSpPr/>
            <p:nvPr/>
          </p:nvSpPr>
          <p:spPr>
            <a:xfrm>
              <a:off x="0" y="0"/>
              <a:ext cx="1476615" cy="543099"/>
            </a:xfrm>
            <a:custGeom>
              <a:rect b="b" l="l" r="r" t="t"/>
              <a:pathLst>
                <a:path extrusionOk="0" h="543099" w="1476615">
                  <a:moveTo>
                    <a:pt x="64873" y="0"/>
                  </a:moveTo>
                  <a:lnTo>
                    <a:pt x="1411742" y="0"/>
                  </a:lnTo>
                  <a:cubicBezTo>
                    <a:pt x="1447570" y="0"/>
                    <a:pt x="1476615" y="29045"/>
                    <a:pt x="1476615" y="64873"/>
                  </a:cubicBezTo>
                  <a:lnTo>
                    <a:pt x="1476615" y="478226"/>
                  </a:lnTo>
                  <a:cubicBezTo>
                    <a:pt x="1476615" y="514054"/>
                    <a:pt x="1447570" y="543099"/>
                    <a:pt x="1411742" y="543099"/>
                  </a:cubicBezTo>
                  <a:lnTo>
                    <a:pt x="64873" y="543099"/>
                  </a:lnTo>
                  <a:cubicBezTo>
                    <a:pt x="29045" y="543099"/>
                    <a:pt x="0" y="514054"/>
                    <a:pt x="0" y="478226"/>
                  </a:cubicBezTo>
                  <a:lnTo>
                    <a:pt x="0" y="64873"/>
                  </a:lnTo>
                  <a:cubicBezTo>
                    <a:pt x="0" y="29045"/>
                    <a:pt x="29045" y="0"/>
                    <a:pt x="64873" y="0"/>
                  </a:cubicBezTo>
                  <a:close/>
                </a:path>
              </a:pathLst>
            </a:custGeom>
            <a:solidFill>
              <a:srgbClr val="FFFDFE"/>
            </a:solidFill>
            <a:ln cap="rnd" cmpd="sng" w="57150">
              <a:solidFill>
                <a:srgbClr val="FAD0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5"/>
            <p:cNvSpPr txBox="1"/>
            <p:nvPr/>
          </p:nvSpPr>
          <p:spPr>
            <a:xfrm>
              <a:off x="0" y="-47625"/>
              <a:ext cx="1476615" cy="590724"/>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45" name="Google Shape;645;p35"/>
          <p:cNvGrpSpPr/>
          <p:nvPr/>
        </p:nvGrpSpPr>
        <p:grpSpPr>
          <a:xfrm>
            <a:off x="11025187" y="1005496"/>
            <a:ext cx="5620205" cy="2434852"/>
            <a:chOff x="0" y="-47625"/>
            <a:chExt cx="1363528" cy="590724"/>
          </a:xfrm>
        </p:grpSpPr>
        <p:sp>
          <p:nvSpPr>
            <p:cNvPr id="646" name="Google Shape;646;p35"/>
            <p:cNvSpPr/>
            <p:nvPr/>
          </p:nvSpPr>
          <p:spPr>
            <a:xfrm>
              <a:off x="0" y="0"/>
              <a:ext cx="1363528" cy="543099"/>
            </a:xfrm>
            <a:custGeom>
              <a:rect b="b" l="l" r="r" t="t"/>
              <a:pathLst>
                <a:path extrusionOk="0" h="543099" w="1363528">
                  <a:moveTo>
                    <a:pt x="70253" y="0"/>
                  </a:moveTo>
                  <a:lnTo>
                    <a:pt x="1293275" y="0"/>
                  </a:lnTo>
                  <a:cubicBezTo>
                    <a:pt x="1332075" y="0"/>
                    <a:pt x="1363528" y="31453"/>
                    <a:pt x="1363528" y="70253"/>
                  </a:cubicBezTo>
                  <a:lnTo>
                    <a:pt x="1363528" y="472846"/>
                  </a:lnTo>
                  <a:cubicBezTo>
                    <a:pt x="1363528" y="511645"/>
                    <a:pt x="1332075" y="543099"/>
                    <a:pt x="1293275" y="543099"/>
                  </a:cubicBezTo>
                  <a:lnTo>
                    <a:pt x="70253" y="543099"/>
                  </a:lnTo>
                  <a:cubicBezTo>
                    <a:pt x="31453" y="543099"/>
                    <a:pt x="0" y="511645"/>
                    <a:pt x="0" y="472846"/>
                  </a:cubicBezTo>
                  <a:lnTo>
                    <a:pt x="0" y="70253"/>
                  </a:lnTo>
                  <a:cubicBezTo>
                    <a:pt x="0" y="31453"/>
                    <a:pt x="31453" y="0"/>
                    <a:pt x="70253" y="0"/>
                  </a:cubicBezTo>
                  <a:close/>
                </a:path>
              </a:pathLst>
            </a:custGeom>
            <a:solidFill>
              <a:srgbClr val="FFFDFE"/>
            </a:solidFill>
            <a:ln cap="rnd" cmpd="sng" w="57150">
              <a:solidFill>
                <a:srgbClr val="FF62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5"/>
            <p:cNvSpPr txBox="1"/>
            <p:nvPr/>
          </p:nvSpPr>
          <p:spPr>
            <a:xfrm>
              <a:off x="0" y="-47625"/>
              <a:ext cx="1363528" cy="590724"/>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48" name="Google Shape;648;p35"/>
          <p:cNvGrpSpPr/>
          <p:nvPr/>
        </p:nvGrpSpPr>
        <p:grpSpPr>
          <a:xfrm>
            <a:off x="2158759" y="4676039"/>
            <a:ext cx="398110" cy="583857"/>
            <a:chOff x="0" y="-47625"/>
            <a:chExt cx="96586" cy="141650"/>
          </a:xfrm>
        </p:grpSpPr>
        <p:sp>
          <p:nvSpPr>
            <p:cNvPr id="649" name="Google Shape;649;p35"/>
            <p:cNvSpPr/>
            <p:nvPr/>
          </p:nvSpPr>
          <p:spPr>
            <a:xfrm>
              <a:off x="0" y="0"/>
              <a:ext cx="96586" cy="94025"/>
            </a:xfrm>
            <a:custGeom>
              <a:rect b="b" l="l" r="r" t="t"/>
              <a:pathLst>
                <a:path extrusionOk="0" h="94025" w="96586">
                  <a:moveTo>
                    <a:pt x="0" y="0"/>
                  </a:moveTo>
                  <a:lnTo>
                    <a:pt x="96586" y="0"/>
                  </a:lnTo>
                  <a:lnTo>
                    <a:pt x="96586" y="94025"/>
                  </a:lnTo>
                  <a:lnTo>
                    <a:pt x="0" y="94025"/>
                  </a:lnTo>
                  <a:close/>
                </a:path>
              </a:pathLst>
            </a:custGeom>
            <a:solidFill>
              <a:srgbClr val="FFFDFE"/>
            </a:solidFill>
            <a:ln cap="sq" cmpd="sng" w="57150">
              <a:solidFill>
                <a:srgbClr val="1D741B"/>
              </a:solidFill>
              <a:prstDash val="solid"/>
              <a:miter lim="8000"/>
              <a:headEnd len="sm" w="sm" type="none"/>
              <a:tailEnd len="sm" w="sm" type="none"/>
            </a:ln>
          </p:spPr>
        </p:sp>
        <p:sp>
          <p:nvSpPr>
            <p:cNvPr id="650" name="Google Shape;650;p35"/>
            <p:cNvSpPr txBox="1"/>
            <p:nvPr/>
          </p:nvSpPr>
          <p:spPr>
            <a:xfrm>
              <a:off x="0" y="-47625"/>
              <a:ext cx="96586" cy="141650"/>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51" name="Google Shape;651;p35"/>
          <p:cNvGrpSpPr/>
          <p:nvPr/>
        </p:nvGrpSpPr>
        <p:grpSpPr>
          <a:xfrm>
            <a:off x="8944945" y="4708570"/>
            <a:ext cx="398110" cy="583857"/>
            <a:chOff x="0" y="-47625"/>
            <a:chExt cx="96586" cy="141650"/>
          </a:xfrm>
        </p:grpSpPr>
        <p:sp>
          <p:nvSpPr>
            <p:cNvPr id="652" name="Google Shape;652;p35"/>
            <p:cNvSpPr/>
            <p:nvPr/>
          </p:nvSpPr>
          <p:spPr>
            <a:xfrm>
              <a:off x="0" y="0"/>
              <a:ext cx="96586" cy="94025"/>
            </a:xfrm>
            <a:custGeom>
              <a:rect b="b" l="l" r="r" t="t"/>
              <a:pathLst>
                <a:path extrusionOk="0" h="94025" w="96586">
                  <a:moveTo>
                    <a:pt x="0" y="0"/>
                  </a:moveTo>
                  <a:lnTo>
                    <a:pt x="96586" y="0"/>
                  </a:lnTo>
                  <a:lnTo>
                    <a:pt x="96586" y="94025"/>
                  </a:lnTo>
                  <a:lnTo>
                    <a:pt x="0" y="94025"/>
                  </a:lnTo>
                  <a:close/>
                </a:path>
              </a:pathLst>
            </a:custGeom>
            <a:solidFill>
              <a:srgbClr val="FFFDFE"/>
            </a:solidFill>
            <a:ln cap="sq" cmpd="sng" w="57150">
              <a:solidFill>
                <a:srgbClr val="FAD02C"/>
              </a:solidFill>
              <a:prstDash val="solid"/>
              <a:miter lim="8000"/>
              <a:headEnd len="sm" w="sm" type="none"/>
              <a:tailEnd len="sm" w="sm" type="none"/>
            </a:ln>
          </p:spPr>
        </p:sp>
        <p:sp>
          <p:nvSpPr>
            <p:cNvPr id="653" name="Google Shape;653;p35"/>
            <p:cNvSpPr txBox="1"/>
            <p:nvPr/>
          </p:nvSpPr>
          <p:spPr>
            <a:xfrm>
              <a:off x="0" y="-47625"/>
              <a:ext cx="96586" cy="141650"/>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54" name="Google Shape;654;p35"/>
          <p:cNvGrpSpPr/>
          <p:nvPr/>
        </p:nvGrpSpPr>
        <p:grpSpPr>
          <a:xfrm>
            <a:off x="14643532" y="4676039"/>
            <a:ext cx="398110" cy="583857"/>
            <a:chOff x="0" y="-47625"/>
            <a:chExt cx="96586" cy="141650"/>
          </a:xfrm>
        </p:grpSpPr>
        <p:sp>
          <p:nvSpPr>
            <p:cNvPr id="655" name="Google Shape;655;p35"/>
            <p:cNvSpPr/>
            <p:nvPr/>
          </p:nvSpPr>
          <p:spPr>
            <a:xfrm>
              <a:off x="0" y="0"/>
              <a:ext cx="96586" cy="94025"/>
            </a:xfrm>
            <a:custGeom>
              <a:rect b="b" l="l" r="r" t="t"/>
              <a:pathLst>
                <a:path extrusionOk="0" h="94025" w="96586">
                  <a:moveTo>
                    <a:pt x="0" y="0"/>
                  </a:moveTo>
                  <a:lnTo>
                    <a:pt x="96586" y="0"/>
                  </a:lnTo>
                  <a:lnTo>
                    <a:pt x="96586" y="94025"/>
                  </a:lnTo>
                  <a:lnTo>
                    <a:pt x="0" y="94025"/>
                  </a:lnTo>
                  <a:close/>
                </a:path>
              </a:pathLst>
            </a:custGeom>
            <a:solidFill>
              <a:srgbClr val="FFFDFE"/>
            </a:solidFill>
            <a:ln cap="sq" cmpd="sng" w="57150">
              <a:solidFill>
                <a:srgbClr val="FF6260"/>
              </a:solidFill>
              <a:prstDash val="solid"/>
              <a:miter lim="8000"/>
              <a:headEnd len="sm" w="sm" type="none"/>
              <a:tailEnd len="sm" w="sm" type="none"/>
            </a:ln>
          </p:spPr>
        </p:sp>
        <p:sp>
          <p:nvSpPr>
            <p:cNvPr id="656" name="Google Shape;656;p35"/>
            <p:cNvSpPr txBox="1"/>
            <p:nvPr/>
          </p:nvSpPr>
          <p:spPr>
            <a:xfrm>
              <a:off x="0" y="-47625"/>
              <a:ext cx="96586" cy="141650"/>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57" name="Google Shape;657;p35"/>
          <p:cNvSpPr/>
          <p:nvPr/>
        </p:nvSpPr>
        <p:spPr>
          <a:xfrm>
            <a:off x="7055031" y="1404186"/>
            <a:ext cx="3541531" cy="2749895"/>
          </a:xfrm>
          <a:custGeom>
            <a:rect b="b" l="l" r="r" t="t"/>
            <a:pathLst>
              <a:path extrusionOk="0" h="2749895" w="3541531">
                <a:moveTo>
                  <a:pt x="0" y="0"/>
                </a:moveTo>
                <a:lnTo>
                  <a:pt x="3541531" y="0"/>
                </a:lnTo>
                <a:lnTo>
                  <a:pt x="3541531" y="2749895"/>
                </a:lnTo>
                <a:lnTo>
                  <a:pt x="0" y="2749895"/>
                </a:lnTo>
                <a:lnTo>
                  <a:pt x="0" y="0"/>
                </a:lnTo>
                <a:close/>
              </a:path>
            </a:pathLst>
          </a:custGeom>
          <a:blipFill rotWithShape="1">
            <a:blip r:embed="rId5">
              <a:alphaModFix/>
            </a:blip>
            <a:stretch>
              <a:fillRect b="0" l="0" r="0" t="0"/>
            </a:stretch>
          </a:blipFill>
          <a:ln>
            <a:noFill/>
          </a:ln>
        </p:spPr>
      </p:sp>
      <p:sp>
        <p:nvSpPr>
          <p:cNvPr id="658" name="Google Shape;658;p35"/>
          <p:cNvSpPr txBox="1"/>
          <p:nvPr/>
        </p:nvSpPr>
        <p:spPr>
          <a:xfrm>
            <a:off x="1126475" y="269200"/>
            <a:ext cx="59286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NACE LA INTERNET MODERNA</a:t>
            </a:r>
            <a:endParaRPr/>
          </a:p>
        </p:txBody>
      </p:sp>
      <p:sp>
        <p:nvSpPr>
          <p:cNvPr id="659" name="Google Shape;659;p35"/>
          <p:cNvSpPr txBox="1"/>
          <p:nvPr/>
        </p:nvSpPr>
        <p:spPr>
          <a:xfrm>
            <a:off x="1126476" y="1294078"/>
            <a:ext cx="5499855" cy="1897564"/>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lang="en-US" sz="2167">
                <a:solidFill>
                  <a:srgbClr val="503C30"/>
                </a:solidFill>
                <a:latin typeface="Inter"/>
                <a:ea typeface="Inter"/>
                <a:cs typeface="Inter"/>
                <a:sym typeface="Inter"/>
              </a:rPr>
              <a:t>Aunque OSI sigue como referencia, TCP/IP se convierte en la base técnica de Internet, desplazando al modelo OSI en la práctica. (TechTarget, 2025)</a:t>
            </a:r>
            <a:endParaRPr/>
          </a:p>
        </p:txBody>
      </p:sp>
      <p:sp>
        <p:nvSpPr>
          <p:cNvPr id="660" name="Google Shape;660;p35"/>
          <p:cNvSpPr txBox="1"/>
          <p:nvPr/>
        </p:nvSpPr>
        <p:spPr>
          <a:xfrm>
            <a:off x="10505525" y="202775"/>
            <a:ext cx="53895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USO EDUCATIVO GLOBAL</a:t>
            </a:r>
            <a:endParaRPr/>
          </a:p>
        </p:txBody>
      </p:sp>
      <p:sp>
        <p:nvSpPr>
          <p:cNvPr id="661" name="Google Shape;661;p35"/>
          <p:cNvSpPr txBox="1"/>
          <p:nvPr/>
        </p:nvSpPr>
        <p:spPr>
          <a:xfrm>
            <a:off x="6406021" y="6228500"/>
            <a:ext cx="5610534" cy="51423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GUERRAS DE PROTOCOLOS</a:t>
            </a:r>
            <a:endParaRPr/>
          </a:p>
        </p:txBody>
      </p:sp>
      <p:sp>
        <p:nvSpPr>
          <p:cNvPr id="662" name="Google Shape;662;p35"/>
          <p:cNvSpPr txBox="1"/>
          <p:nvPr/>
        </p:nvSpPr>
        <p:spPr>
          <a:xfrm>
            <a:off x="6406021" y="7506000"/>
            <a:ext cx="5488324" cy="1590067"/>
          </a:xfrm>
          <a:prstGeom prst="rect">
            <a:avLst/>
          </a:prstGeom>
          <a:noFill/>
          <a:ln>
            <a:noFill/>
          </a:ln>
        </p:spPr>
        <p:txBody>
          <a:bodyPr anchorCtr="0" anchor="t" bIns="0" lIns="0" spcFirstLastPara="1" rIns="0" wrap="square" tIns="0">
            <a:spAutoFit/>
          </a:bodyPr>
          <a:lstStyle/>
          <a:p>
            <a:pPr indent="0" lvl="0" marL="0" marR="0" rtl="0" algn="ctr">
              <a:lnSpc>
                <a:spcPct val="140035"/>
              </a:lnSpc>
              <a:spcBef>
                <a:spcPts val="0"/>
              </a:spcBef>
              <a:spcAft>
                <a:spcPts val="0"/>
              </a:spcAft>
              <a:buNone/>
            </a:pPr>
            <a:r>
              <a:rPr lang="en-US" sz="2273">
                <a:solidFill>
                  <a:srgbClr val="503C30"/>
                </a:solidFill>
                <a:latin typeface="Inter"/>
                <a:ea typeface="Inter"/>
                <a:cs typeface="Inter"/>
                <a:sym typeface="Inter"/>
              </a:rPr>
              <a:t>OSI y TCP/IP compiten; el segundo gana por su adopción temprana, pero OSI influye en su estructura conceptual. (Data-Flair, 2021)</a:t>
            </a:r>
            <a:endParaRPr/>
          </a:p>
        </p:txBody>
      </p:sp>
      <p:sp>
        <p:nvSpPr>
          <p:cNvPr id="663" name="Google Shape;663;p35"/>
          <p:cNvSpPr txBox="1"/>
          <p:nvPr/>
        </p:nvSpPr>
        <p:spPr>
          <a:xfrm>
            <a:off x="2045178" y="4096925"/>
            <a:ext cx="11151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a:solidFill>
                  <a:srgbClr val="503C30"/>
                </a:solidFill>
                <a:latin typeface="Arial"/>
                <a:ea typeface="Arial"/>
                <a:cs typeface="Arial"/>
                <a:sym typeface="Arial"/>
              </a:rPr>
              <a:t>1989</a:t>
            </a:r>
            <a:endParaRPr/>
          </a:p>
        </p:txBody>
      </p:sp>
      <p:sp>
        <p:nvSpPr>
          <p:cNvPr id="664" name="Google Shape;664;p35"/>
          <p:cNvSpPr txBox="1"/>
          <p:nvPr/>
        </p:nvSpPr>
        <p:spPr>
          <a:xfrm>
            <a:off x="8314723" y="5616200"/>
            <a:ext cx="23073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1990–1995</a:t>
            </a:r>
            <a:endParaRPr/>
          </a:p>
        </p:txBody>
      </p:sp>
      <p:sp>
        <p:nvSpPr>
          <p:cNvPr id="665" name="Google Shape;665;p35"/>
          <p:cNvSpPr txBox="1"/>
          <p:nvPr/>
        </p:nvSpPr>
        <p:spPr>
          <a:xfrm>
            <a:off x="14491348" y="4097575"/>
            <a:ext cx="11151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1997</a:t>
            </a:r>
            <a:endParaRPr/>
          </a:p>
        </p:txBody>
      </p:sp>
      <p:sp>
        <p:nvSpPr>
          <p:cNvPr id="666" name="Google Shape;666;p35"/>
          <p:cNvSpPr txBox="1"/>
          <p:nvPr/>
        </p:nvSpPr>
        <p:spPr>
          <a:xfrm>
            <a:off x="11025187" y="1356561"/>
            <a:ext cx="5561151" cy="1897524"/>
          </a:xfrm>
          <a:prstGeom prst="rect">
            <a:avLst/>
          </a:prstGeom>
          <a:noFill/>
          <a:ln>
            <a:noFill/>
          </a:ln>
        </p:spPr>
        <p:txBody>
          <a:bodyPr anchorCtr="0" anchor="t" bIns="0" lIns="0" spcFirstLastPara="1" rIns="0" wrap="square" tIns="0">
            <a:spAutoFit/>
          </a:bodyPr>
          <a:lstStyle/>
          <a:p>
            <a:pPr indent="0" lvl="0" marL="0" marR="0" rtl="0" algn="ctr">
              <a:lnSpc>
                <a:spcPct val="140018"/>
              </a:lnSpc>
              <a:spcBef>
                <a:spcPts val="0"/>
              </a:spcBef>
              <a:spcAft>
                <a:spcPts val="0"/>
              </a:spcAft>
              <a:buNone/>
            </a:pPr>
            <a:r>
              <a:rPr lang="en-US" sz="2169">
                <a:solidFill>
                  <a:srgbClr val="503C30"/>
                </a:solidFill>
                <a:latin typeface="Inter"/>
                <a:ea typeface="Inter"/>
                <a:cs typeface="Inter"/>
                <a:sym typeface="Inter"/>
              </a:rPr>
              <a:t>El modelo OSI se convierte en estándar de enseñanza en certificaciones como Cisco CCNA y CompTIA Network+. (Cisco Learning Network, 2021)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500"/>
                                        <p:tgtEl>
                                          <p:spTgt spid="625"/>
                                        </p:tgtEl>
                                      </p:cBhvr>
                                    </p:animEffect>
                                  </p:childTnLst>
                                </p:cTn>
                              </p:par>
                              <p:par>
                                <p:cTn fill="hold" nodeType="withEffect" presetClass="entr" presetID="10" presetSubtype="0">
                                  <p:stCondLst>
                                    <p:cond delay="0"/>
                                  </p:stCondLst>
                                  <p:childTnLst>
                                    <p:set>
                                      <p:cBhvr>
                                        <p:cTn dur="1" fill="hold">
                                          <p:stCondLst>
                                            <p:cond delay="0"/>
                                          </p:stCondLst>
                                        </p:cTn>
                                        <p:tgtEl>
                                          <p:spTgt spid="626"/>
                                        </p:tgtEl>
                                        <p:attrNameLst>
                                          <p:attrName>style.visibility</p:attrName>
                                        </p:attrNameLst>
                                      </p:cBhvr>
                                      <p:to>
                                        <p:strVal val="visible"/>
                                      </p:to>
                                    </p:set>
                                    <p:animEffect filter="fade" transition="in">
                                      <p:cBhvr>
                                        <p:cTn dur="500"/>
                                        <p:tgtEl>
                                          <p:spTgt spid="626"/>
                                        </p:tgtEl>
                                      </p:cBhvr>
                                    </p:animEffect>
                                  </p:childTnLst>
                                </p:cTn>
                              </p:par>
                              <p:par>
                                <p:cTn fill="hold" nodeType="with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500"/>
                                        <p:tgtEl>
                                          <p:spTgt spid="627"/>
                                        </p:tgtEl>
                                      </p:cBhvr>
                                    </p:animEffect>
                                  </p:childTnLst>
                                </p:cTn>
                              </p:par>
                              <p:par>
                                <p:cTn fill="hold" nodeType="with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500"/>
                                        <p:tgtEl>
                                          <p:spTgt spid="628"/>
                                        </p:tgtEl>
                                      </p:cBhvr>
                                    </p:animEffect>
                                  </p:childTnLst>
                                </p:cTn>
                              </p:par>
                              <p:par>
                                <p:cTn fill="hold" nodeType="withEffect" presetClass="entr" presetID="10" presetSubtype="0">
                                  <p:stCondLst>
                                    <p:cond delay="0"/>
                                  </p:stCondLst>
                                  <p:childTnLst>
                                    <p:set>
                                      <p:cBhvr>
                                        <p:cTn dur="1" fill="hold">
                                          <p:stCondLst>
                                            <p:cond delay="0"/>
                                          </p:stCondLst>
                                        </p:cTn>
                                        <p:tgtEl>
                                          <p:spTgt spid="629"/>
                                        </p:tgtEl>
                                        <p:attrNameLst>
                                          <p:attrName>style.visibility</p:attrName>
                                        </p:attrNameLst>
                                      </p:cBhvr>
                                      <p:to>
                                        <p:strVal val="visible"/>
                                      </p:to>
                                    </p:set>
                                    <p:animEffect filter="fade" transition="in">
                                      <p:cBhvr>
                                        <p:cTn dur="500"/>
                                        <p:tgtEl>
                                          <p:spTgt spid="629"/>
                                        </p:tgtEl>
                                      </p:cBhvr>
                                    </p:animEffect>
                                  </p:childTnLst>
                                </p:cTn>
                              </p:par>
                              <p:par>
                                <p:cTn fill="hold" nodeType="with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500"/>
                                        <p:tgtEl>
                                          <p:spTgt spid="630"/>
                                        </p:tgtEl>
                                      </p:cBhvr>
                                    </p:animEffect>
                                  </p:childTnLst>
                                </p:cTn>
                              </p:par>
                              <p:par>
                                <p:cTn fill="hold" nodeType="with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500"/>
                                        <p:tgtEl>
                                          <p:spTgt spid="631"/>
                                        </p:tgtEl>
                                      </p:cBhvr>
                                    </p:animEffect>
                                  </p:childTnLst>
                                </p:cTn>
                              </p:par>
                              <p:par>
                                <p:cTn fill="hold" nodeType="withEffect" presetClass="entr" presetID="10" presetSubtype="0">
                                  <p:stCondLst>
                                    <p:cond delay="0"/>
                                  </p:stCondLst>
                                  <p:childTnLst>
                                    <p:set>
                                      <p:cBhvr>
                                        <p:cTn dur="1" fill="hold">
                                          <p:stCondLst>
                                            <p:cond delay="0"/>
                                          </p:stCondLst>
                                        </p:cTn>
                                        <p:tgtEl>
                                          <p:spTgt spid="632"/>
                                        </p:tgtEl>
                                        <p:attrNameLst>
                                          <p:attrName>style.visibility</p:attrName>
                                        </p:attrNameLst>
                                      </p:cBhvr>
                                      <p:to>
                                        <p:strVal val="visible"/>
                                      </p:to>
                                    </p:set>
                                    <p:animEffect filter="fade" transition="in">
                                      <p:cBhvr>
                                        <p:cTn dur="500"/>
                                        <p:tgtEl>
                                          <p:spTgt spid="632"/>
                                        </p:tgtEl>
                                      </p:cBhvr>
                                    </p:animEffect>
                                  </p:childTnLst>
                                </p:cTn>
                              </p:par>
                              <p:par>
                                <p:cTn fill="hold" nodeType="with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500"/>
                                        <p:tgtEl>
                                          <p:spTgt spid="635"/>
                                        </p:tgtEl>
                                      </p:cBhvr>
                                    </p:animEffect>
                                  </p:childTnLst>
                                </p:cTn>
                              </p:par>
                              <p:par>
                                <p:cTn fill="hold" nodeType="with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500"/>
                                        <p:tgtEl>
                                          <p:spTgt spid="638"/>
                                        </p:tgtEl>
                                      </p:cBhvr>
                                    </p:animEffect>
                                  </p:childTnLst>
                                </p:cTn>
                              </p:par>
                              <p:par>
                                <p:cTn fill="hold" nodeType="with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500"/>
                                        <p:tgtEl>
                                          <p:spTgt spid="641"/>
                                        </p:tgtEl>
                                      </p:cBhvr>
                                    </p:animEffect>
                                  </p:childTnLst>
                                </p:cTn>
                              </p:par>
                              <p:par>
                                <p:cTn fill="hold" nodeType="with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500"/>
                                        <p:tgtEl>
                                          <p:spTgt spid="642"/>
                                        </p:tgtEl>
                                      </p:cBhvr>
                                    </p:animEffect>
                                  </p:childTnLst>
                                </p:cTn>
                              </p:par>
                              <p:par>
                                <p:cTn fill="hold" nodeType="with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500"/>
                                        <p:tgtEl>
                                          <p:spTgt spid="645"/>
                                        </p:tgtEl>
                                      </p:cBhvr>
                                    </p:animEffect>
                                  </p:childTnLst>
                                </p:cTn>
                              </p:par>
                              <p:par>
                                <p:cTn fill="hold" nodeType="with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500"/>
                                        <p:tgtEl>
                                          <p:spTgt spid="648"/>
                                        </p:tgtEl>
                                      </p:cBhvr>
                                    </p:animEffect>
                                  </p:childTnLst>
                                </p:cTn>
                              </p:par>
                              <p:par>
                                <p:cTn fill="hold" nodeType="withEffect" presetClass="entr" presetID="10" presetSubtype="0">
                                  <p:stCondLst>
                                    <p:cond delay="0"/>
                                  </p:stCondLst>
                                  <p:childTnLst>
                                    <p:set>
                                      <p:cBhvr>
                                        <p:cTn dur="1" fill="hold">
                                          <p:stCondLst>
                                            <p:cond delay="0"/>
                                          </p:stCondLst>
                                        </p:cTn>
                                        <p:tgtEl>
                                          <p:spTgt spid="651"/>
                                        </p:tgtEl>
                                        <p:attrNameLst>
                                          <p:attrName>style.visibility</p:attrName>
                                        </p:attrNameLst>
                                      </p:cBhvr>
                                      <p:to>
                                        <p:strVal val="visible"/>
                                      </p:to>
                                    </p:set>
                                    <p:animEffect filter="fade" transition="in">
                                      <p:cBhvr>
                                        <p:cTn dur="500"/>
                                        <p:tgtEl>
                                          <p:spTgt spid="651"/>
                                        </p:tgtEl>
                                      </p:cBhvr>
                                    </p:animEffect>
                                  </p:childTnLst>
                                </p:cTn>
                              </p:par>
                              <p:par>
                                <p:cTn fill="hold" nodeType="withEffect" presetClass="entr" presetID="10" presetSubtype="0">
                                  <p:stCondLst>
                                    <p:cond delay="0"/>
                                  </p:stCondLst>
                                  <p:childTnLst>
                                    <p:set>
                                      <p:cBhvr>
                                        <p:cTn dur="1" fill="hold">
                                          <p:stCondLst>
                                            <p:cond delay="0"/>
                                          </p:stCondLst>
                                        </p:cTn>
                                        <p:tgtEl>
                                          <p:spTgt spid="654"/>
                                        </p:tgtEl>
                                        <p:attrNameLst>
                                          <p:attrName>style.visibility</p:attrName>
                                        </p:attrNameLst>
                                      </p:cBhvr>
                                      <p:to>
                                        <p:strVal val="visible"/>
                                      </p:to>
                                    </p:set>
                                    <p:animEffect filter="fade" transition="in">
                                      <p:cBhvr>
                                        <p:cTn dur="500"/>
                                        <p:tgtEl>
                                          <p:spTgt spid="654"/>
                                        </p:tgtEl>
                                      </p:cBhvr>
                                    </p:animEffect>
                                  </p:childTnLst>
                                </p:cTn>
                              </p:par>
                              <p:par>
                                <p:cTn fill="hold" nodeType="with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500"/>
                                        <p:tgtEl>
                                          <p:spTgt spid="657"/>
                                        </p:tgtEl>
                                      </p:cBhvr>
                                    </p:animEffect>
                                  </p:childTnLst>
                                </p:cTn>
                              </p:par>
                              <p:par>
                                <p:cTn fill="hold" nodeType="with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500"/>
                                        <p:tgtEl>
                                          <p:spTgt spid="658"/>
                                        </p:tgtEl>
                                      </p:cBhvr>
                                    </p:animEffect>
                                  </p:childTnLst>
                                </p:cTn>
                              </p:par>
                              <p:par>
                                <p:cTn fill="hold" nodeType="with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500"/>
                                        <p:tgtEl>
                                          <p:spTgt spid="659"/>
                                        </p:tgtEl>
                                      </p:cBhvr>
                                    </p:animEffect>
                                  </p:childTnLst>
                                </p:cTn>
                              </p:par>
                              <p:par>
                                <p:cTn fill="hold" nodeType="with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500"/>
                                        <p:tgtEl>
                                          <p:spTgt spid="660"/>
                                        </p:tgtEl>
                                      </p:cBhvr>
                                    </p:animEffect>
                                  </p:childTnLst>
                                </p:cTn>
                              </p:par>
                              <p:par>
                                <p:cTn fill="hold" nodeType="with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500"/>
                                        <p:tgtEl>
                                          <p:spTgt spid="661"/>
                                        </p:tgtEl>
                                      </p:cBhvr>
                                    </p:animEffect>
                                  </p:childTnLst>
                                </p:cTn>
                              </p:par>
                              <p:par>
                                <p:cTn fill="hold" nodeType="with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500"/>
                                        <p:tgtEl>
                                          <p:spTgt spid="662"/>
                                        </p:tgtEl>
                                      </p:cBhvr>
                                    </p:animEffect>
                                  </p:childTnLst>
                                </p:cTn>
                              </p:par>
                              <p:par>
                                <p:cTn fill="hold" nodeType="with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500"/>
                                        <p:tgtEl>
                                          <p:spTgt spid="663"/>
                                        </p:tgtEl>
                                      </p:cBhvr>
                                    </p:animEffect>
                                  </p:childTnLst>
                                </p:cTn>
                              </p:par>
                              <p:par>
                                <p:cTn fill="hold" nodeType="with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500"/>
                                        <p:tgtEl>
                                          <p:spTgt spid="664"/>
                                        </p:tgtEl>
                                      </p:cBhvr>
                                    </p:animEffect>
                                  </p:childTnLst>
                                </p:cTn>
                              </p:par>
                              <p:par>
                                <p:cTn fill="hold" nodeType="with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500"/>
                                        <p:tgtEl>
                                          <p:spTgt spid="665"/>
                                        </p:tgtEl>
                                      </p:cBhvr>
                                    </p:animEffect>
                                  </p:childTnLst>
                                </p:cTn>
                              </p:par>
                              <p:par>
                                <p:cTn fill="hold" nodeType="with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500"/>
                                        <p:tgtEl>
                                          <p:spTgt spid="6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670" name="Shape 670"/>
        <p:cNvGrpSpPr/>
        <p:nvPr/>
      </p:nvGrpSpPr>
      <p:grpSpPr>
        <a:xfrm>
          <a:off x="0" y="0"/>
          <a:ext cx="0" cy="0"/>
          <a:chOff x="0" y="0"/>
          <a:chExt cx="0" cy="0"/>
        </a:xfrm>
      </p:grpSpPr>
      <p:cxnSp>
        <p:nvCxnSpPr>
          <p:cNvPr id="671" name="Google Shape;671;p36"/>
          <p:cNvCxnSpPr/>
          <p:nvPr/>
        </p:nvCxnSpPr>
        <p:spPr>
          <a:xfrm rot="10800000">
            <a:off x="2614210" y="1704925"/>
            <a:ext cx="0" cy="1947300"/>
          </a:xfrm>
          <a:prstGeom prst="straightConnector1">
            <a:avLst/>
          </a:prstGeom>
          <a:noFill/>
          <a:ln cap="flat" cmpd="sng" w="57150">
            <a:solidFill>
              <a:srgbClr val="FFFDFE"/>
            </a:solidFill>
            <a:prstDash val="dash"/>
            <a:round/>
            <a:headEnd len="sm" w="sm" type="none"/>
            <a:tailEnd len="sm" w="sm" type="none"/>
          </a:ln>
        </p:spPr>
      </p:cxnSp>
      <p:cxnSp>
        <p:nvCxnSpPr>
          <p:cNvPr id="672" name="Google Shape;672;p36"/>
          <p:cNvCxnSpPr/>
          <p:nvPr/>
        </p:nvCxnSpPr>
        <p:spPr>
          <a:xfrm rot="10800000">
            <a:off x="7958585" y="3151350"/>
            <a:ext cx="0" cy="1947300"/>
          </a:xfrm>
          <a:prstGeom prst="straightConnector1">
            <a:avLst/>
          </a:prstGeom>
          <a:noFill/>
          <a:ln cap="flat" cmpd="sng" w="57150">
            <a:solidFill>
              <a:srgbClr val="FFFDFE"/>
            </a:solidFill>
            <a:prstDash val="dash"/>
            <a:round/>
            <a:headEnd len="sm" w="sm" type="none"/>
            <a:tailEnd len="sm" w="sm" type="none"/>
          </a:ln>
        </p:spPr>
      </p:cxnSp>
      <p:cxnSp>
        <p:nvCxnSpPr>
          <p:cNvPr id="673" name="Google Shape;673;p36"/>
          <p:cNvCxnSpPr/>
          <p:nvPr/>
        </p:nvCxnSpPr>
        <p:spPr>
          <a:xfrm rot="10800000">
            <a:off x="12433732" y="3151350"/>
            <a:ext cx="0" cy="1947300"/>
          </a:xfrm>
          <a:prstGeom prst="straightConnector1">
            <a:avLst/>
          </a:prstGeom>
          <a:noFill/>
          <a:ln cap="flat" cmpd="sng" w="57150">
            <a:solidFill>
              <a:srgbClr val="FFFDFE"/>
            </a:solidFill>
            <a:prstDash val="dash"/>
            <a:round/>
            <a:headEnd len="sm" w="sm" type="none"/>
            <a:tailEnd len="sm" w="sm" type="none"/>
          </a:ln>
        </p:spPr>
      </p:cxnSp>
      <p:cxnSp>
        <p:nvCxnSpPr>
          <p:cNvPr id="674" name="Google Shape;674;p36"/>
          <p:cNvCxnSpPr/>
          <p:nvPr/>
        </p:nvCxnSpPr>
        <p:spPr>
          <a:xfrm rot="10800000">
            <a:off x="5723231" y="5069568"/>
            <a:ext cx="0" cy="1947300"/>
          </a:xfrm>
          <a:prstGeom prst="straightConnector1">
            <a:avLst/>
          </a:prstGeom>
          <a:noFill/>
          <a:ln cap="flat" cmpd="sng" w="57150">
            <a:solidFill>
              <a:srgbClr val="FFFDFE"/>
            </a:solidFill>
            <a:prstDash val="dash"/>
            <a:round/>
            <a:headEnd len="sm" w="sm" type="none"/>
            <a:tailEnd len="sm" w="sm" type="none"/>
          </a:ln>
        </p:spPr>
      </p:cxnSp>
      <p:cxnSp>
        <p:nvCxnSpPr>
          <p:cNvPr id="675" name="Google Shape;675;p36"/>
          <p:cNvCxnSpPr/>
          <p:nvPr/>
        </p:nvCxnSpPr>
        <p:spPr>
          <a:xfrm rot="10800000">
            <a:off x="14669086" y="5066118"/>
            <a:ext cx="0" cy="1947300"/>
          </a:xfrm>
          <a:prstGeom prst="straightConnector1">
            <a:avLst/>
          </a:prstGeom>
          <a:noFill/>
          <a:ln cap="flat" cmpd="sng" w="57150">
            <a:solidFill>
              <a:srgbClr val="FFFDFE"/>
            </a:solidFill>
            <a:prstDash val="dash"/>
            <a:round/>
            <a:headEnd len="sm" w="sm" type="none"/>
            <a:tailEnd len="sm" w="sm" type="none"/>
          </a:ln>
        </p:spPr>
      </p:cxnSp>
      <p:cxnSp>
        <p:nvCxnSpPr>
          <p:cNvPr id="676" name="Google Shape;676;p36"/>
          <p:cNvCxnSpPr/>
          <p:nvPr/>
        </p:nvCxnSpPr>
        <p:spPr>
          <a:xfrm rot="10800000">
            <a:off x="10198378" y="5069568"/>
            <a:ext cx="0" cy="1947300"/>
          </a:xfrm>
          <a:prstGeom prst="straightConnector1">
            <a:avLst/>
          </a:prstGeom>
          <a:noFill/>
          <a:ln cap="flat" cmpd="sng" w="57150">
            <a:solidFill>
              <a:srgbClr val="FFFDFE"/>
            </a:solidFill>
            <a:prstDash val="dash"/>
            <a:round/>
            <a:headEnd len="sm" w="sm" type="none"/>
            <a:tailEnd len="sm" w="sm" type="none"/>
          </a:ln>
        </p:spPr>
      </p:cxnSp>
      <p:cxnSp>
        <p:nvCxnSpPr>
          <p:cNvPr id="677" name="Google Shape;677;p36"/>
          <p:cNvCxnSpPr/>
          <p:nvPr/>
        </p:nvCxnSpPr>
        <p:spPr>
          <a:xfrm>
            <a:off x="0" y="5098650"/>
            <a:ext cx="18288000" cy="0"/>
          </a:xfrm>
          <a:prstGeom prst="straightConnector1">
            <a:avLst/>
          </a:prstGeom>
          <a:noFill/>
          <a:ln cap="flat" cmpd="sng" w="57150">
            <a:solidFill>
              <a:srgbClr val="FFBE98"/>
            </a:solidFill>
            <a:prstDash val="solid"/>
            <a:round/>
            <a:headEnd len="sm" w="sm" type="none"/>
            <a:tailEnd len="sm" w="sm" type="none"/>
          </a:ln>
        </p:spPr>
      </p:cxnSp>
      <p:grpSp>
        <p:nvGrpSpPr>
          <p:cNvPr id="678" name="Google Shape;678;p36"/>
          <p:cNvGrpSpPr/>
          <p:nvPr/>
        </p:nvGrpSpPr>
        <p:grpSpPr>
          <a:xfrm>
            <a:off x="1545019" y="1441937"/>
            <a:ext cx="2737441" cy="2827229"/>
            <a:chOff x="0" y="0"/>
            <a:chExt cx="6350000" cy="6558280"/>
          </a:xfrm>
        </p:grpSpPr>
        <p:sp>
          <p:nvSpPr>
            <p:cNvPr id="679" name="Google Shape;679;p36"/>
            <p:cNvSpPr/>
            <p:nvPr/>
          </p:nvSpPr>
          <p:spPr>
            <a:xfrm>
              <a:off x="74930" y="74930"/>
              <a:ext cx="6200140" cy="6408420"/>
            </a:xfrm>
            <a:custGeom>
              <a:rect b="b" l="l" r="r" t="t"/>
              <a:pathLst>
                <a:path extrusionOk="0"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rotWithShape="1">
              <a:blip r:embed="rId3">
                <a:alphaModFix/>
              </a:blip>
              <a:stretch>
                <a:fillRect b="0" l="-65756" r="-65756"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6"/>
            <p:cNvSpPr/>
            <p:nvPr/>
          </p:nvSpPr>
          <p:spPr>
            <a:xfrm>
              <a:off x="0" y="0"/>
              <a:ext cx="6350000" cy="6558280"/>
            </a:xfrm>
            <a:custGeom>
              <a:rect b="b" l="l" r="r" t="t"/>
              <a:pathLst>
                <a:path extrusionOk="0"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 name="Google Shape;681;p36"/>
          <p:cNvGrpSpPr/>
          <p:nvPr/>
        </p:nvGrpSpPr>
        <p:grpSpPr>
          <a:xfrm>
            <a:off x="11155320" y="7169543"/>
            <a:ext cx="6103980" cy="2526412"/>
            <a:chOff x="0" y="-47625"/>
            <a:chExt cx="1480897" cy="612937"/>
          </a:xfrm>
        </p:grpSpPr>
        <p:sp>
          <p:nvSpPr>
            <p:cNvPr id="682" name="Google Shape;682;p36"/>
            <p:cNvSpPr/>
            <p:nvPr/>
          </p:nvSpPr>
          <p:spPr>
            <a:xfrm>
              <a:off x="0" y="0"/>
              <a:ext cx="1480897" cy="565312"/>
            </a:xfrm>
            <a:custGeom>
              <a:rect b="b" l="l" r="r" t="t"/>
              <a:pathLst>
                <a:path extrusionOk="0" h="565312" w="1480897">
                  <a:moveTo>
                    <a:pt x="64685" y="0"/>
                  </a:moveTo>
                  <a:lnTo>
                    <a:pt x="1416212" y="0"/>
                  </a:lnTo>
                  <a:cubicBezTo>
                    <a:pt x="1433368" y="0"/>
                    <a:pt x="1449821" y="6815"/>
                    <a:pt x="1461951" y="18946"/>
                  </a:cubicBezTo>
                  <a:cubicBezTo>
                    <a:pt x="1474082" y="31077"/>
                    <a:pt x="1480897" y="47530"/>
                    <a:pt x="1480897" y="64685"/>
                  </a:cubicBezTo>
                  <a:lnTo>
                    <a:pt x="1480897" y="500627"/>
                  </a:lnTo>
                  <a:cubicBezTo>
                    <a:pt x="1480897" y="517783"/>
                    <a:pt x="1474082" y="534236"/>
                    <a:pt x="1461951" y="546366"/>
                  </a:cubicBezTo>
                  <a:cubicBezTo>
                    <a:pt x="1449821" y="558497"/>
                    <a:pt x="1433368" y="565312"/>
                    <a:pt x="1416212" y="565312"/>
                  </a:cubicBezTo>
                  <a:lnTo>
                    <a:pt x="64685" y="565312"/>
                  </a:lnTo>
                  <a:cubicBezTo>
                    <a:pt x="47530" y="565312"/>
                    <a:pt x="31077" y="558497"/>
                    <a:pt x="18946" y="546366"/>
                  </a:cubicBezTo>
                  <a:cubicBezTo>
                    <a:pt x="6815" y="534236"/>
                    <a:pt x="0" y="517783"/>
                    <a:pt x="0" y="500627"/>
                  </a:cubicBezTo>
                  <a:lnTo>
                    <a:pt x="0" y="64685"/>
                  </a:lnTo>
                  <a:cubicBezTo>
                    <a:pt x="0" y="47530"/>
                    <a:pt x="6815" y="31077"/>
                    <a:pt x="18946" y="18946"/>
                  </a:cubicBezTo>
                  <a:cubicBezTo>
                    <a:pt x="31077" y="6815"/>
                    <a:pt x="47530" y="0"/>
                    <a:pt x="64685" y="0"/>
                  </a:cubicBezTo>
                  <a:close/>
                </a:path>
              </a:pathLst>
            </a:custGeom>
            <a:solidFill>
              <a:srgbClr val="FFFDFE"/>
            </a:solidFill>
            <a:ln cap="rnd" cmpd="sng" w="57150">
              <a:solidFill>
                <a:srgbClr val="FF91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6"/>
            <p:cNvSpPr txBox="1"/>
            <p:nvPr/>
          </p:nvSpPr>
          <p:spPr>
            <a:xfrm>
              <a:off x="0" y="-47625"/>
              <a:ext cx="1480897" cy="612937"/>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84" name="Google Shape;684;p36"/>
          <p:cNvGrpSpPr/>
          <p:nvPr/>
        </p:nvGrpSpPr>
        <p:grpSpPr>
          <a:xfrm>
            <a:off x="2158759" y="4676039"/>
            <a:ext cx="398110" cy="583857"/>
            <a:chOff x="0" y="-47625"/>
            <a:chExt cx="96586" cy="141650"/>
          </a:xfrm>
        </p:grpSpPr>
        <p:sp>
          <p:nvSpPr>
            <p:cNvPr id="685" name="Google Shape;685;p36"/>
            <p:cNvSpPr/>
            <p:nvPr/>
          </p:nvSpPr>
          <p:spPr>
            <a:xfrm>
              <a:off x="0" y="0"/>
              <a:ext cx="96586" cy="94025"/>
            </a:xfrm>
            <a:custGeom>
              <a:rect b="b" l="l" r="r" t="t"/>
              <a:pathLst>
                <a:path extrusionOk="0" h="94025" w="96586">
                  <a:moveTo>
                    <a:pt x="0" y="0"/>
                  </a:moveTo>
                  <a:lnTo>
                    <a:pt x="96586" y="0"/>
                  </a:lnTo>
                  <a:lnTo>
                    <a:pt x="96586" y="94025"/>
                  </a:lnTo>
                  <a:lnTo>
                    <a:pt x="0" y="94025"/>
                  </a:lnTo>
                  <a:close/>
                </a:path>
              </a:pathLst>
            </a:custGeom>
            <a:solidFill>
              <a:srgbClr val="FFFDFE"/>
            </a:solidFill>
            <a:ln cap="sq" cmpd="sng" w="57150">
              <a:solidFill>
                <a:srgbClr val="1D741B"/>
              </a:solidFill>
              <a:prstDash val="solid"/>
              <a:miter lim="8000"/>
              <a:headEnd len="sm" w="sm" type="none"/>
              <a:tailEnd len="sm" w="sm" type="none"/>
            </a:ln>
          </p:spPr>
        </p:sp>
        <p:sp>
          <p:nvSpPr>
            <p:cNvPr id="686" name="Google Shape;686;p36"/>
            <p:cNvSpPr txBox="1"/>
            <p:nvPr/>
          </p:nvSpPr>
          <p:spPr>
            <a:xfrm>
              <a:off x="0" y="-47625"/>
              <a:ext cx="96586" cy="141650"/>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87" name="Google Shape;687;p36"/>
          <p:cNvSpPr txBox="1"/>
          <p:nvPr/>
        </p:nvSpPr>
        <p:spPr>
          <a:xfrm>
            <a:off x="5273725" y="28425"/>
            <a:ext cx="7160100" cy="11097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REINTERPRETACIÓN MODERNA</a:t>
            </a:r>
            <a:endParaRPr/>
          </a:p>
          <a:p>
            <a:pPr indent="0" lvl="0" marL="0" marR="0" rtl="0" algn="ctr">
              <a:lnSpc>
                <a:spcPct val="140013"/>
              </a:lnSpc>
              <a:spcBef>
                <a:spcPts val="0"/>
              </a:spcBef>
              <a:spcAft>
                <a:spcPts val="0"/>
              </a:spcAft>
              <a:buNone/>
            </a:pPr>
            <a:r>
              <a:t/>
            </a:r>
            <a:endParaRPr sz="3004" u="none" strike="noStrike">
              <a:solidFill>
                <a:srgbClr val="503C30"/>
              </a:solidFill>
              <a:latin typeface="Arial"/>
              <a:ea typeface="Arial"/>
              <a:cs typeface="Arial"/>
              <a:sym typeface="Arial"/>
            </a:endParaRPr>
          </a:p>
        </p:txBody>
      </p:sp>
      <p:grpSp>
        <p:nvGrpSpPr>
          <p:cNvPr id="688" name="Google Shape;688;p36"/>
          <p:cNvGrpSpPr/>
          <p:nvPr/>
        </p:nvGrpSpPr>
        <p:grpSpPr>
          <a:xfrm>
            <a:off x="8944945" y="4737652"/>
            <a:ext cx="398110" cy="583857"/>
            <a:chOff x="0" y="-47625"/>
            <a:chExt cx="96586" cy="141650"/>
          </a:xfrm>
        </p:grpSpPr>
        <p:sp>
          <p:nvSpPr>
            <p:cNvPr id="689" name="Google Shape;689;p36"/>
            <p:cNvSpPr/>
            <p:nvPr/>
          </p:nvSpPr>
          <p:spPr>
            <a:xfrm>
              <a:off x="0" y="0"/>
              <a:ext cx="96586" cy="94025"/>
            </a:xfrm>
            <a:custGeom>
              <a:rect b="b" l="l" r="r" t="t"/>
              <a:pathLst>
                <a:path extrusionOk="0" h="94025" w="96586">
                  <a:moveTo>
                    <a:pt x="0" y="0"/>
                  </a:moveTo>
                  <a:lnTo>
                    <a:pt x="96586" y="0"/>
                  </a:lnTo>
                  <a:lnTo>
                    <a:pt x="96586" y="94025"/>
                  </a:lnTo>
                  <a:lnTo>
                    <a:pt x="0" y="94025"/>
                  </a:lnTo>
                  <a:close/>
                </a:path>
              </a:pathLst>
            </a:custGeom>
            <a:solidFill>
              <a:srgbClr val="FFFDFE"/>
            </a:solidFill>
            <a:ln cap="sq" cmpd="sng" w="57150">
              <a:solidFill>
                <a:srgbClr val="CB6CE6"/>
              </a:solidFill>
              <a:prstDash val="solid"/>
              <a:miter lim="8000"/>
              <a:headEnd len="sm" w="sm" type="none"/>
              <a:tailEnd len="sm" w="sm" type="none"/>
            </a:ln>
          </p:spPr>
        </p:sp>
        <p:sp>
          <p:nvSpPr>
            <p:cNvPr id="690" name="Google Shape;690;p36"/>
            <p:cNvSpPr txBox="1"/>
            <p:nvPr/>
          </p:nvSpPr>
          <p:spPr>
            <a:xfrm>
              <a:off x="0" y="-47625"/>
              <a:ext cx="96586" cy="141650"/>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91" name="Google Shape;691;p36"/>
          <p:cNvGrpSpPr/>
          <p:nvPr/>
        </p:nvGrpSpPr>
        <p:grpSpPr>
          <a:xfrm>
            <a:off x="14771565" y="4737652"/>
            <a:ext cx="398110" cy="583857"/>
            <a:chOff x="0" y="-47625"/>
            <a:chExt cx="96586" cy="141650"/>
          </a:xfrm>
        </p:grpSpPr>
        <p:sp>
          <p:nvSpPr>
            <p:cNvPr id="692" name="Google Shape;692;p36"/>
            <p:cNvSpPr/>
            <p:nvPr/>
          </p:nvSpPr>
          <p:spPr>
            <a:xfrm>
              <a:off x="0" y="0"/>
              <a:ext cx="96586" cy="94025"/>
            </a:xfrm>
            <a:custGeom>
              <a:rect b="b" l="l" r="r" t="t"/>
              <a:pathLst>
                <a:path extrusionOk="0" h="94025" w="96586">
                  <a:moveTo>
                    <a:pt x="0" y="0"/>
                  </a:moveTo>
                  <a:lnTo>
                    <a:pt x="96586" y="0"/>
                  </a:lnTo>
                  <a:lnTo>
                    <a:pt x="96586" y="94025"/>
                  </a:lnTo>
                  <a:lnTo>
                    <a:pt x="0" y="94025"/>
                  </a:lnTo>
                  <a:close/>
                </a:path>
              </a:pathLst>
            </a:custGeom>
            <a:solidFill>
              <a:srgbClr val="FFFDFE"/>
            </a:solidFill>
            <a:ln cap="sq" cmpd="sng" w="57150">
              <a:solidFill>
                <a:srgbClr val="FF914D"/>
              </a:solidFill>
              <a:prstDash val="solid"/>
              <a:miter lim="8000"/>
              <a:headEnd len="sm" w="sm" type="none"/>
              <a:tailEnd len="sm" w="sm" type="none"/>
            </a:ln>
          </p:spPr>
        </p:sp>
        <p:sp>
          <p:nvSpPr>
            <p:cNvPr id="693" name="Google Shape;693;p36"/>
            <p:cNvSpPr txBox="1"/>
            <p:nvPr/>
          </p:nvSpPr>
          <p:spPr>
            <a:xfrm>
              <a:off x="0" y="-47625"/>
              <a:ext cx="96586" cy="141650"/>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94" name="Google Shape;694;p36"/>
          <p:cNvGrpSpPr/>
          <p:nvPr/>
        </p:nvGrpSpPr>
        <p:grpSpPr>
          <a:xfrm>
            <a:off x="1028700" y="7060136"/>
            <a:ext cx="6086326" cy="2434852"/>
            <a:chOff x="0" y="-47625"/>
            <a:chExt cx="1476615" cy="590724"/>
          </a:xfrm>
        </p:grpSpPr>
        <p:sp>
          <p:nvSpPr>
            <p:cNvPr id="695" name="Google Shape;695;p36"/>
            <p:cNvSpPr/>
            <p:nvPr/>
          </p:nvSpPr>
          <p:spPr>
            <a:xfrm>
              <a:off x="0" y="0"/>
              <a:ext cx="1476615" cy="543099"/>
            </a:xfrm>
            <a:custGeom>
              <a:rect b="b" l="l" r="r" t="t"/>
              <a:pathLst>
                <a:path extrusionOk="0" h="543099" w="1476615">
                  <a:moveTo>
                    <a:pt x="64873" y="0"/>
                  </a:moveTo>
                  <a:lnTo>
                    <a:pt x="1411742" y="0"/>
                  </a:lnTo>
                  <a:cubicBezTo>
                    <a:pt x="1447570" y="0"/>
                    <a:pt x="1476615" y="29045"/>
                    <a:pt x="1476615" y="64873"/>
                  </a:cubicBezTo>
                  <a:lnTo>
                    <a:pt x="1476615" y="478226"/>
                  </a:lnTo>
                  <a:cubicBezTo>
                    <a:pt x="1476615" y="514054"/>
                    <a:pt x="1447570" y="543099"/>
                    <a:pt x="1411742" y="543099"/>
                  </a:cubicBezTo>
                  <a:lnTo>
                    <a:pt x="64873" y="543099"/>
                  </a:lnTo>
                  <a:cubicBezTo>
                    <a:pt x="29045" y="543099"/>
                    <a:pt x="0" y="514054"/>
                    <a:pt x="0" y="478226"/>
                  </a:cubicBezTo>
                  <a:lnTo>
                    <a:pt x="0" y="64873"/>
                  </a:lnTo>
                  <a:cubicBezTo>
                    <a:pt x="0" y="29045"/>
                    <a:pt x="29045" y="0"/>
                    <a:pt x="64873" y="0"/>
                  </a:cubicBezTo>
                  <a:close/>
                </a:path>
              </a:pathLst>
            </a:custGeom>
            <a:solidFill>
              <a:srgbClr val="FFFDFE"/>
            </a:solidFill>
            <a:ln cap="rnd" cmpd="sng" w="57150">
              <a:solidFill>
                <a:srgbClr val="3E89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6"/>
            <p:cNvSpPr txBox="1"/>
            <p:nvPr/>
          </p:nvSpPr>
          <p:spPr>
            <a:xfrm>
              <a:off x="0" y="-47625"/>
              <a:ext cx="1476615" cy="590724"/>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97" name="Google Shape;697;p36"/>
          <p:cNvGrpSpPr/>
          <p:nvPr/>
        </p:nvGrpSpPr>
        <p:grpSpPr>
          <a:xfrm>
            <a:off x="6100837" y="1004855"/>
            <a:ext cx="6086326" cy="2434852"/>
            <a:chOff x="0" y="-47625"/>
            <a:chExt cx="1476615" cy="590724"/>
          </a:xfrm>
        </p:grpSpPr>
        <p:sp>
          <p:nvSpPr>
            <p:cNvPr id="698" name="Google Shape;698;p36"/>
            <p:cNvSpPr/>
            <p:nvPr/>
          </p:nvSpPr>
          <p:spPr>
            <a:xfrm>
              <a:off x="0" y="0"/>
              <a:ext cx="1476615" cy="543099"/>
            </a:xfrm>
            <a:custGeom>
              <a:rect b="b" l="l" r="r" t="t"/>
              <a:pathLst>
                <a:path extrusionOk="0" h="543099" w="1476615">
                  <a:moveTo>
                    <a:pt x="64873" y="0"/>
                  </a:moveTo>
                  <a:lnTo>
                    <a:pt x="1411742" y="0"/>
                  </a:lnTo>
                  <a:cubicBezTo>
                    <a:pt x="1447570" y="0"/>
                    <a:pt x="1476615" y="29045"/>
                    <a:pt x="1476615" y="64873"/>
                  </a:cubicBezTo>
                  <a:lnTo>
                    <a:pt x="1476615" y="478226"/>
                  </a:lnTo>
                  <a:cubicBezTo>
                    <a:pt x="1476615" y="514054"/>
                    <a:pt x="1447570" y="543099"/>
                    <a:pt x="1411742" y="543099"/>
                  </a:cubicBezTo>
                  <a:lnTo>
                    <a:pt x="64873" y="543099"/>
                  </a:lnTo>
                  <a:cubicBezTo>
                    <a:pt x="29045" y="543099"/>
                    <a:pt x="0" y="514054"/>
                    <a:pt x="0" y="478226"/>
                  </a:cubicBezTo>
                  <a:lnTo>
                    <a:pt x="0" y="64873"/>
                  </a:lnTo>
                  <a:cubicBezTo>
                    <a:pt x="0" y="29045"/>
                    <a:pt x="29045" y="0"/>
                    <a:pt x="64873" y="0"/>
                  </a:cubicBezTo>
                  <a:close/>
                </a:path>
              </a:pathLst>
            </a:custGeom>
            <a:solidFill>
              <a:srgbClr val="FFFDFE"/>
            </a:solidFill>
            <a:ln cap="rnd" cmpd="sng" w="57150">
              <a:solidFill>
                <a:srgbClr val="CB6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6"/>
            <p:cNvSpPr txBox="1"/>
            <p:nvPr/>
          </p:nvSpPr>
          <p:spPr>
            <a:xfrm>
              <a:off x="0" y="-47625"/>
              <a:ext cx="1476615" cy="590724"/>
            </a:xfrm>
            <a:prstGeom prst="rect">
              <a:avLst/>
            </a:prstGeom>
            <a:noFill/>
            <a:ln>
              <a:noFill/>
            </a:ln>
          </p:spPr>
          <p:txBody>
            <a:bodyPr anchorCtr="0" anchor="ctr" bIns="71425" lIns="71425" spcFirstLastPara="1" rIns="71425" wrap="square" tIns="71425">
              <a:noAutofit/>
            </a:bodyPr>
            <a:lstStyle/>
            <a:p>
              <a:pPr indent="0" lvl="0" marL="0" marR="0" rtl="0" algn="ctr">
                <a:lnSpc>
                  <a:spcPct val="164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00" name="Google Shape;700;p36"/>
          <p:cNvGrpSpPr/>
          <p:nvPr/>
        </p:nvGrpSpPr>
        <p:grpSpPr>
          <a:xfrm>
            <a:off x="7795729" y="5840600"/>
            <a:ext cx="2970312" cy="3067738"/>
            <a:chOff x="0" y="0"/>
            <a:chExt cx="6350000" cy="6558280"/>
          </a:xfrm>
        </p:grpSpPr>
        <p:sp>
          <p:nvSpPr>
            <p:cNvPr id="701" name="Google Shape;701;p36"/>
            <p:cNvSpPr/>
            <p:nvPr/>
          </p:nvSpPr>
          <p:spPr>
            <a:xfrm>
              <a:off x="74930" y="74930"/>
              <a:ext cx="6200140" cy="6408420"/>
            </a:xfrm>
            <a:custGeom>
              <a:rect b="b" l="l" r="r" t="t"/>
              <a:pathLst>
                <a:path extrusionOk="0"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rotWithShape="1">
              <a:blip r:embed="rId4">
                <a:alphaModFix/>
              </a:blip>
              <a:stretch>
                <a:fillRect b="0" l="-23395" r="-23395"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6"/>
            <p:cNvSpPr/>
            <p:nvPr/>
          </p:nvSpPr>
          <p:spPr>
            <a:xfrm>
              <a:off x="0" y="0"/>
              <a:ext cx="6350000" cy="6558280"/>
            </a:xfrm>
            <a:custGeom>
              <a:rect b="b" l="l" r="r" t="t"/>
              <a:pathLst>
                <a:path extrusionOk="0"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FFFD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3" name="Google Shape;703;p36"/>
          <p:cNvSpPr/>
          <p:nvPr/>
        </p:nvSpPr>
        <p:spPr>
          <a:xfrm>
            <a:off x="13576373" y="821566"/>
            <a:ext cx="2497746" cy="3532527"/>
          </a:xfrm>
          <a:custGeom>
            <a:rect b="b" l="l" r="r" t="t"/>
            <a:pathLst>
              <a:path extrusionOk="0" h="3532527" w="2497746">
                <a:moveTo>
                  <a:pt x="0" y="0"/>
                </a:moveTo>
                <a:lnTo>
                  <a:pt x="2497746" y="0"/>
                </a:lnTo>
                <a:lnTo>
                  <a:pt x="2497746" y="3532527"/>
                </a:lnTo>
                <a:lnTo>
                  <a:pt x="0" y="3532527"/>
                </a:lnTo>
                <a:lnTo>
                  <a:pt x="0" y="0"/>
                </a:lnTo>
                <a:close/>
              </a:path>
            </a:pathLst>
          </a:custGeom>
          <a:blipFill rotWithShape="1">
            <a:blip r:embed="rId5">
              <a:alphaModFix/>
            </a:blip>
            <a:stretch>
              <a:fillRect b="0" l="0" r="0" t="0"/>
            </a:stretch>
          </a:blipFill>
          <a:ln>
            <a:noFill/>
          </a:ln>
        </p:spPr>
      </p:sp>
      <p:sp>
        <p:nvSpPr>
          <p:cNvPr id="704" name="Google Shape;704;p36"/>
          <p:cNvSpPr txBox="1"/>
          <p:nvPr/>
        </p:nvSpPr>
        <p:spPr>
          <a:xfrm>
            <a:off x="15870718" y="348713"/>
            <a:ext cx="2307388" cy="1320141"/>
          </a:xfrm>
          <a:prstGeom prst="rect">
            <a:avLst/>
          </a:prstGeom>
          <a:noFill/>
          <a:ln>
            <a:noFill/>
          </a:ln>
        </p:spPr>
        <p:txBody>
          <a:bodyPr anchorCtr="0" anchor="t" bIns="0" lIns="0" spcFirstLastPara="1" rIns="0" wrap="square" tIns="0">
            <a:spAutoFit/>
          </a:bodyPr>
          <a:lstStyle/>
          <a:p>
            <a:pPr indent="0" lvl="0" marL="0" marR="0" rtl="0" algn="r">
              <a:lnSpc>
                <a:spcPct val="105002"/>
              </a:lnSpc>
              <a:spcBef>
                <a:spcPts val="0"/>
              </a:spcBef>
              <a:spcAft>
                <a:spcPts val="0"/>
              </a:spcAft>
              <a:buNone/>
            </a:pPr>
            <a:r>
              <a:rPr lang="en-US" sz="4798">
                <a:solidFill>
                  <a:srgbClr val="503C30"/>
                </a:solidFill>
                <a:latin typeface="Arial"/>
                <a:ea typeface="Arial"/>
                <a:cs typeface="Arial"/>
                <a:sym typeface="Arial"/>
              </a:rPr>
              <a:t>LINEA DEL TIEMPO</a:t>
            </a:r>
            <a:endParaRPr/>
          </a:p>
        </p:txBody>
      </p:sp>
      <p:sp>
        <p:nvSpPr>
          <p:cNvPr id="705" name="Google Shape;705;p36"/>
          <p:cNvSpPr txBox="1"/>
          <p:nvPr/>
        </p:nvSpPr>
        <p:spPr>
          <a:xfrm>
            <a:off x="1338343" y="6212775"/>
            <a:ext cx="57924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INTEGRACIÓN TEÓRICA</a:t>
            </a:r>
            <a:endParaRPr/>
          </a:p>
        </p:txBody>
      </p:sp>
      <p:sp>
        <p:nvSpPr>
          <p:cNvPr id="706" name="Google Shape;706;p36"/>
          <p:cNvSpPr txBox="1"/>
          <p:nvPr/>
        </p:nvSpPr>
        <p:spPr>
          <a:xfrm>
            <a:off x="11318900" y="6212775"/>
            <a:ext cx="5792400" cy="11097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lang="en-US" sz="3004" u="none" strike="noStrike">
                <a:solidFill>
                  <a:srgbClr val="503C30"/>
                </a:solidFill>
                <a:latin typeface="Arial"/>
                <a:ea typeface="Arial"/>
                <a:cs typeface="Arial"/>
                <a:sym typeface="Arial"/>
              </a:rPr>
              <a:t>REFERENCIA EN FORMACIÓN Y DISEÑO</a:t>
            </a:r>
            <a:endParaRPr/>
          </a:p>
        </p:txBody>
      </p:sp>
      <p:sp>
        <p:nvSpPr>
          <p:cNvPr id="707" name="Google Shape;707;p36"/>
          <p:cNvSpPr txBox="1"/>
          <p:nvPr/>
        </p:nvSpPr>
        <p:spPr>
          <a:xfrm>
            <a:off x="8303647" y="3962425"/>
            <a:ext cx="23073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2015–2020</a:t>
            </a:r>
            <a:endParaRPr/>
          </a:p>
        </p:txBody>
      </p:sp>
      <p:sp>
        <p:nvSpPr>
          <p:cNvPr id="708" name="Google Shape;708;p36"/>
          <p:cNvSpPr txBox="1"/>
          <p:nvPr/>
        </p:nvSpPr>
        <p:spPr>
          <a:xfrm>
            <a:off x="1477224" y="5479475"/>
            <a:ext cx="23073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a:solidFill>
                  <a:srgbClr val="503C30"/>
                </a:solidFill>
                <a:latin typeface="Arial"/>
                <a:ea typeface="Arial"/>
                <a:cs typeface="Arial"/>
                <a:sym typeface="Arial"/>
              </a:rPr>
              <a:t>2000–2010</a:t>
            </a:r>
            <a:endParaRPr/>
          </a:p>
        </p:txBody>
      </p:sp>
      <p:sp>
        <p:nvSpPr>
          <p:cNvPr id="709" name="Google Shape;709;p36"/>
          <p:cNvSpPr txBox="1"/>
          <p:nvPr/>
        </p:nvSpPr>
        <p:spPr>
          <a:xfrm>
            <a:off x="13287000" y="5616200"/>
            <a:ext cx="3169800" cy="4623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lang="en-US" sz="3004" u="none" strike="noStrike">
                <a:solidFill>
                  <a:srgbClr val="503C30"/>
                </a:solidFill>
                <a:latin typeface="Arial"/>
                <a:ea typeface="Arial"/>
                <a:cs typeface="Arial"/>
                <a:sym typeface="Arial"/>
              </a:rPr>
              <a:t>2021–PRESENTE</a:t>
            </a:r>
            <a:endParaRPr/>
          </a:p>
        </p:txBody>
      </p:sp>
      <p:sp>
        <p:nvSpPr>
          <p:cNvPr id="710" name="Google Shape;710;p36"/>
          <p:cNvSpPr txBox="1"/>
          <p:nvPr/>
        </p:nvSpPr>
        <p:spPr>
          <a:xfrm>
            <a:off x="11278893" y="7365844"/>
            <a:ext cx="5832557" cy="2258531"/>
          </a:xfrm>
          <a:prstGeom prst="rect">
            <a:avLst/>
          </a:prstGeom>
          <a:noFill/>
          <a:ln>
            <a:noFill/>
          </a:ln>
        </p:spPr>
        <p:txBody>
          <a:bodyPr anchorCtr="0" anchor="t" bIns="0" lIns="0" spcFirstLastPara="1" rIns="0" wrap="square" tIns="0">
            <a:spAutoFit/>
          </a:bodyPr>
          <a:lstStyle/>
          <a:p>
            <a:pPr indent="0" lvl="0" marL="0" marR="0" rtl="0" algn="ctr">
              <a:lnSpc>
                <a:spcPct val="142444"/>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lnSpc>
                <a:spcPct val="140032"/>
              </a:lnSpc>
              <a:spcBef>
                <a:spcPts val="0"/>
              </a:spcBef>
              <a:spcAft>
                <a:spcPts val="0"/>
              </a:spcAft>
              <a:buNone/>
            </a:pPr>
            <a:r>
              <a:rPr lang="en-US" sz="1831">
                <a:solidFill>
                  <a:srgbClr val="503C30"/>
                </a:solidFill>
                <a:latin typeface="Inter"/>
                <a:ea typeface="Inter"/>
                <a:cs typeface="Inter"/>
                <a:sym typeface="Inter"/>
              </a:rPr>
              <a:t>El modelo OSI continúa siendo la base conceptual para entender cómo los datos viajan por Internet y otros sistemas conectados, incluso en redes definidas por software (SDN) y 5G. (TechTarget, 2025; Cisco Learning Network, 2021)</a:t>
            </a:r>
            <a:endParaRPr/>
          </a:p>
        </p:txBody>
      </p:sp>
      <p:sp>
        <p:nvSpPr>
          <p:cNvPr id="711" name="Google Shape;711;p36"/>
          <p:cNvSpPr txBox="1"/>
          <p:nvPr/>
        </p:nvSpPr>
        <p:spPr>
          <a:xfrm>
            <a:off x="1062534" y="7343549"/>
            <a:ext cx="5874922" cy="1943578"/>
          </a:xfrm>
          <a:prstGeom prst="rect">
            <a:avLst/>
          </a:prstGeom>
          <a:noFill/>
          <a:ln>
            <a:noFill/>
          </a:ln>
        </p:spPr>
        <p:txBody>
          <a:bodyPr anchorCtr="0" anchor="t" bIns="0" lIns="0" spcFirstLastPara="1" rIns="0" wrap="square" tIns="0">
            <a:spAutoFit/>
          </a:bodyPr>
          <a:lstStyle/>
          <a:p>
            <a:pPr indent="0" lvl="0" marL="0" marR="0" rtl="0" algn="ctr">
              <a:lnSpc>
                <a:spcPct val="173500"/>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lnSpc>
                <a:spcPct val="139982"/>
              </a:lnSpc>
              <a:spcBef>
                <a:spcPts val="0"/>
              </a:spcBef>
              <a:spcAft>
                <a:spcPts val="0"/>
              </a:spcAft>
              <a:buNone/>
            </a:pPr>
            <a:r>
              <a:rPr lang="en-US" sz="2231">
                <a:solidFill>
                  <a:srgbClr val="503C30"/>
                </a:solidFill>
                <a:latin typeface="Inter"/>
                <a:ea typeface="Inter"/>
                <a:cs typeface="Inter"/>
                <a:sym typeface="Inter"/>
              </a:rPr>
              <a:t>Aunque no se aplica literalmente, sus principios guían el diseño de redes LAN, WAN, y tecnologías emergentes. (TechTarget, 2025)</a:t>
            </a:r>
            <a:endParaRPr/>
          </a:p>
        </p:txBody>
      </p:sp>
      <p:sp>
        <p:nvSpPr>
          <p:cNvPr id="712" name="Google Shape;712;p36"/>
          <p:cNvSpPr txBox="1"/>
          <p:nvPr/>
        </p:nvSpPr>
        <p:spPr>
          <a:xfrm>
            <a:off x="6100837" y="1394312"/>
            <a:ext cx="6086326" cy="1589841"/>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lang="en-US" sz="2282">
                <a:solidFill>
                  <a:srgbClr val="503C30"/>
                </a:solidFill>
                <a:latin typeface="Inter"/>
                <a:ea typeface="Inter"/>
                <a:cs typeface="Inter"/>
                <a:sym typeface="Inter"/>
              </a:rPr>
              <a:t>El modelo se usa para mapear servicios de nube, IoT y ciberseguridad, relacionando cada capa con procesos modernos. (OPIT, 2023)</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1"/>
                                        </p:tgtEl>
                                        <p:attrNameLst>
                                          <p:attrName>style.visibility</p:attrName>
                                        </p:attrNameLst>
                                      </p:cBhvr>
                                      <p:to>
                                        <p:strVal val="visible"/>
                                      </p:to>
                                    </p:set>
                                    <p:animEffect filter="fade" transition="in">
                                      <p:cBhvr>
                                        <p:cTn dur="500"/>
                                        <p:tgtEl>
                                          <p:spTgt spid="671"/>
                                        </p:tgtEl>
                                      </p:cBhvr>
                                    </p:animEffect>
                                  </p:childTnLst>
                                </p:cTn>
                              </p:par>
                              <p:par>
                                <p:cTn fill="hold" nodeType="with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500"/>
                                        <p:tgtEl>
                                          <p:spTgt spid="672"/>
                                        </p:tgtEl>
                                      </p:cBhvr>
                                    </p:animEffect>
                                  </p:childTnLst>
                                </p:cTn>
                              </p:par>
                              <p:par>
                                <p:cTn fill="hold" nodeType="withEffect" presetClass="entr" presetID="10" presetSubtype="0">
                                  <p:stCondLst>
                                    <p:cond delay="0"/>
                                  </p:stCondLst>
                                  <p:childTnLst>
                                    <p:set>
                                      <p:cBhvr>
                                        <p:cTn dur="1" fill="hold">
                                          <p:stCondLst>
                                            <p:cond delay="0"/>
                                          </p:stCondLst>
                                        </p:cTn>
                                        <p:tgtEl>
                                          <p:spTgt spid="673"/>
                                        </p:tgtEl>
                                        <p:attrNameLst>
                                          <p:attrName>style.visibility</p:attrName>
                                        </p:attrNameLst>
                                      </p:cBhvr>
                                      <p:to>
                                        <p:strVal val="visible"/>
                                      </p:to>
                                    </p:set>
                                    <p:animEffect filter="fade" transition="in">
                                      <p:cBhvr>
                                        <p:cTn dur="500"/>
                                        <p:tgtEl>
                                          <p:spTgt spid="673"/>
                                        </p:tgtEl>
                                      </p:cBhvr>
                                    </p:animEffect>
                                  </p:childTnLst>
                                </p:cTn>
                              </p:par>
                              <p:par>
                                <p:cTn fill="hold" nodeType="withEffect" presetClass="entr" presetID="10" presetSubtype="0">
                                  <p:stCondLst>
                                    <p:cond delay="0"/>
                                  </p:stCondLst>
                                  <p:childTnLst>
                                    <p:set>
                                      <p:cBhvr>
                                        <p:cTn dur="1" fill="hold">
                                          <p:stCondLst>
                                            <p:cond delay="0"/>
                                          </p:stCondLst>
                                        </p:cTn>
                                        <p:tgtEl>
                                          <p:spTgt spid="674"/>
                                        </p:tgtEl>
                                        <p:attrNameLst>
                                          <p:attrName>style.visibility</p:attrName>
                                        </p:attrNameLst>
                                      </p:cBhvr>
                                      <p:to>
                                        <p:strVal val="visible"/>
                                      </p:to>
                                    </p:set>
                                    <p:animEffect filter="fade" transition="in">
                                      <p:cBhvr>
                                        <p:cTn dur="500"/>
                                        <p:tgtEl>
                                          <p:spTgt spid="674"/>
                                        </p:tgtEl>
                                      </p:cBhvr>
                                    </p:animEffect>
                                  </p:childTnLst>
                                </p:cTn>
                              </p:par>
                              <p:par>
                                <p:cTn fill="hold" nodeType="withEffect" presetClass="entr" presetID="10" presetSubtype="0">
                                  <p:stCondLst>
                                    <p:cond delay="0"/>
                                  </p:stCondLst>
                                  <p:childTnLst>
                                    <p:set>
                                      <p:cBhvr>
                                        <p:cTn dur="1" fill="hold">
                                          <p:stCondLst>
                                            <p:cond delay="0"/>
                                          </p:stCondLst>
                                        </p:cTn>
                                        <p:tgtEl>
                                          <p:spTgt spid="675"/>
                                        </p:tgtEl>
                                        <p:attrNameLst>
                                          <p:attrName>style.visibility</p:attrName>
                                        </p:attrNameLst>
                                      </p:cBhvr>
                                      <p:to>
                                        <p:strVal val="visible"/>
                                      </p:to>
                                    </p:set>
                                    <p:animEffect filter="fade" transition="in">
                                      <p:cBhvr>
                                        <p:cTn dur="500"/>
                                        <p:tgtEl>
                                          <p:spTgt spid="675"/>
                                        </p:tgtEl>
                                      </p:cBhvr>
                                    </p:animEffect>
                                  </p:childTnLst>
                                </p:cTn>
                              </p:par>
                              <p:par>
                                <p:cTn fill="hold" nodeType="with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500"/>
                                        <p:tgtEl>
                                          <p:spTgt spid="676"/>
                                        </p:tgtEl>
                                      </p:cBhvr>
                                    </p:animEffect>
                                  </p:childTnLst>
                                </p:cTn>
                              </p:par>
                              <p:par>
                                <p:cTn fill="hold" nodeType="withEffect" presetClass="entr" presetID="10" presetSubtype="0">
                                  <p:stCondLst>
                                    <p:cond delay="0"/>
                                  </p:stCondLst>
                                  <p:childTnLst>
                                    <p:set>
                                      <p:cBhvr>
                                        <p:cTn dur="1" fill="hold">
                                          <p:stCondLst>
                                            <p:cond delay="0"/>
                                          </p:stCondLst>
                                        </p:cTn>
                                        <p:tgtEl>
                                          <p:spTgt spid="677"/>
                                        </p:tgtEl>
                                        <p:attrNameLst>
                                          <p:attrName>style.visibility</p:attrName>
                                        </p:attrNameLst>
                                      </p:cBhvr>
                                      <p:to>
                                        <p:strVal val="visible"/>
                                      </p:to>
                                    </p:set>
                                    <p:animEffect filter="fade" transition="in">
                                      <p:cBhvr>
                                        <p:cTn dur="500"/>
                                        <p:tgtEl>
                                          <p:spTgt spid="677"/>
                                        </p:tgtEl>
                                      </p:cBhvr>
                                    </p:animEffect>
                                  </p:childTnLst>
                                </p:cTn>
                              </p:par>
                              <p:par>
                                <p:cTn fill="hold" nodeType="withEffect" presetClass="entr" presetID="10" presetSubtype="0">
                                  <p:stCondLst>
                                    <p:cond delay="0"/>
                                  </p:stCondLst>
                                  <p:childTnLst>
                                    <p:set>
                                      <p:cBhvr>
                                        <p:cTn dur="1" fill="hold">
                                          <p:stCondLst>
                                            <p:cond delay="0"/>
                                          </p:stCondLst>
                                        </p:cTn>
                                        <p:tgtEl>
                                          <p:spTgt spid="678"/>
                                        </p:tgtEl>
                                        <p:attrNameLst>
                                          <p:attrName>style.visibility</p:attrName>
                                        </p:attrNameLst>
                                      </p:cBhvr>
                                      <p:to>
                                        <p:strVal val="visible"/>
                                      </p:to>
                                    </p:set>
                                    <p:animEffect filter="fade" transition="in">
                                      <p:cBhvr>
                                        <p:cTn dur="500"/>
                                        <p:tgtEl>
                                          <p:spTgt spid="678"/>
                                        </p:tgtEl>
                                      </p:cBhvr>
                                    </p:animEffect>
                                  </p:childTnLst>
                                </p:cTn>
                              </p:par>
                              <p:par>
                                <p:cTn fill="hold" nodeType="with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500"/>
                                        <p:tgtEl>
                                          <p:spTgt spid="681"/>
                                        </p:tgtEl>
                                      </p:cBhvr>
                                    </p:animEffect>
                                  </p:childTnLst>
                                </p:cTn>
                              </p:par>
                              <p:par>
                                <p:cTn fill="hold" nodeType="withEffect" presetClass="entr" presetID="10" presetSubtype="0">
                                  <p:stCondLst>
                                    <p:cond delay="0"/>
                                  </p:stCondLst>
                                  <p:childTnLst>
                                    <p:set>
                                      <p:cBhvr>
                                        <p:cTn dur="1" fill="hold">
                                          <p:stCondLst>
                                            <p:cond delay="0"/>
                                          </p:stCondLst>
                                        </p:cTn>
                                        <p:tgtEl>
                                          <p:spTgt spid="684"/>
                                        </p:tgtEl>
                                        <p:attrNameLst>
                                          <p:attrName>style.visibility</p:attrName>
                                        </p:attrNameLst>
                                      </p:cBhvr>
                                      <p:to>
                                        <p:strVal val="visible"/>
                                      </p:to>
                                    </p:set>
                                    <p:animEffect filter="fade" transition="in">
                                      <p:cBhvr>
                                        <p:cTn dur="500"/>
                                        <p:tgtEl>
                                          <p:spTgt spid="684"/>
                                        </p:tgtEl>
                                      </p:cBhvr>
                                    </p:animEffect>
                                  </p:childTnLst>
                                </p:cTn>
                              </p:par>
                              <p:par>
                                <p:cTn fill="hold" nodeType="with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500"/>
                                        <p:tgtEl>
                                          <p:spTgt spid="687"/>
                                        </p:tgtEl>
                                      </p:cBhvr>
                                    </p:animEffect>
                                  </p:childTnLst>
                                </p:cTn>
                              </p:par>
                              <p:par>
                                <p:cTn fill="hold" nodeType="with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500"/>
                                        <p:tgtEl>
                                          <p:spTgt spid="688"/>
                                        </p:tgtEl>
                                      </p:cBhvr>
                                    </p:animEffect>
                                  </p:childTnLst>
                                </p:cTn>
                              </p:par>
                              <p:par>
                                <p:cTn fill="hold" nodeType="with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500"/>
                                        <p:tgtEl>
                                          <p:spTgt spid="691"/>
                                        </p:tgtEl>
                                      </p:cBhvr>
                                    </p:animEffect>
                                  </p:childTnLst>
                                </p:cTn>
                              </p:par>
                              <p:par>
                                <p:cTn fill="hold" nodeType="with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500"/>
                                        <p:tgtEl>
                                          <p:spTgt spid="694"/>
                                        </p:tgtEl>
                                      </p:cBhvr>
                                    </p:animEffect>
                                  </p:childTnLst>
                                </p:cTn>
                              </p:par>
                              <p:par>
                                <p:cTn fill="hold" nodeType="withEffect" presetClass="entr" presetID="10" presetSubtype="0">
                                  <p:stCondLst>
                                    <p:cond delay="0"/>
                                  </p:stCondLst>
                                  <p:childTnLst>
                                    <p:set>
                                      <p:cBhvr>
                                        <p:cTn dur="1" fill="hold">
                                          <p:stCondLst>
                                            <p:cond delay="0"/>
                                          </p:stCondLst>
                                        </p:cTn>
                                        <p:tgtEl>
                                          <p:spTgt spid="697"/>
                                        </p:tgtEl>
                                        <p:attrNameLst>
                                          <p:attrName>style.visibility</p:attrName>
                                        </p:attrNameLst>
                                      </p:cBhvr>
                                      <p:to>
                                        <p:strVal val="visible"/>
                                      </p:to>
                                    </p:set>
                                    <p:animEffect filter="fade" transition="in">
                                      <p:cBhvr>
                                        <p:cTn dur="500"/>
                                        <p:tgtEl>
                                          <p:spTgt spid="697"/>
                                        </p:tgtEl>
                                      </p:cBhvr>
                                    </p:animEffect>
                                  </p:childTnLst>
                                </p:cTn>
                              </p:par>
                              <p:par>
                                <p:cTn fill="hold" nodeType="withEffect" presetClass="entr" presetID="10" presetSubtype="0">
                                  <p:stCondLst>
                                    <p:cond delay="0"/>
                                  </p:stCondLst>
                                  <p:childTnLst>
                                    <p:set>
                                      <p:cBhvr>
                                        <p:cTn dur="1" fill="hold">
                                          <p:stCondLst>
                                            <p:cond delay="0"/>
                                          </p:stCondLst>
                                        </p:cTn>
                                        <p:tgtEl>
                                          <p:spTgt spid="700"/>
                                        </p:tgtEl>
                                        <p:attrNameLst>
                                          <p:attrName>style.visibility</p:attrName>
                                        </p:attrNameLst>
                                      </p:cBhvr>
                                      <p:to>
                                        <p:strVal val="visible"/>
                                      </p:to>
                                    </p:set>
                                    <p:animEffect filter="fade" transition="in">
                                      <p:cBhvr>
                                        <p:cTn dur="500"/>
                                        <p:tgtEl>
                                          <p:spTgt spid="700"/>
                                        </p:tgtEl>
                                      </p:cBhvr>
                                    </p:animEffect>
                                  </p:childTnLst>
                                </p:cTn>
                              </p:par>
                              <p:par>
                                <p:cTn fill="hold" nodeType="withEffect" presetClass="entr" presetID="10" presetSubtype="0">
                                  <p:stCondLst>
                                    <p:cond delay="0"/>
                                  </p:stCondLst>
                                  <p:childTnLst>
                                    <p:set>
                                      <p:cBhvr>
                                        <p:cTn dur="1" fill="hold">
                                          <p:stCondLst>
                                            <p:cond delay="0"/>
                                          </p:stCondLst>
                                        </p:cTn>
                                        <p:tgtEl>
                                          <p:spTgt spid="703"/>
                                        </p:tgtEl>
                                        <p:attrNameLst>
                                          <p:attrName>style.visibility</p:attrName>
                                        </p:attrNameLst>
                                      </p:cBhvr>
                                      <p:to>
                                        <p:strVal val="visible"/>
                                      </p:to>
                                    </p:set>
                                    <p:animEffect filter="fade" transition="in">
                                      <p:cBhvr>
                                        <p:cTn dur="500"/>
                                        <p:tgtEl>
                                          <p:spTgt spid="703"/>
                                        </p:tgtEl>
                                      </p:cBhvr>
                                    </p:animEffect>
                                  </p:childTnLst>
                                </p:cTn>
                              </p:par>
                              <p:par>
                                <p:cTn fill="hold" nodeType="with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500"/>
                                        <p:tgtEl>
                                          <p:spTgt spid="704"/>
                                        </p:tgtEl>
                                      </p:cBhvr>
                                    </p:animEffect>
                                  </p:childTnLst>
                                </p:cTn>
                              </p:par>
                              <p:par>
                                <p:cTn fill="hold" nodeType="with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500"/>
                                        <p:tgtEl>
                                          <p:spTgt spid="705"/>
                                        </p:tgtEl>
                                      </p:cBhvr>
                                    </p:animEffect>
                                  </p:childTnLst>
                                </p:cTn>
                              </p:par>
                              <p:par>
                                <p:cTn fill="hold" nodeType="with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500"/>
                                        <p:tgtEl>
                                          <p:spTgt spid="706"/>
                                        </p:tgtEl>
                                      </p:cBhvr>
                                    </p:animEffect>
                                  </p:childTnLst>
                                </p:cTn>
                              </p:par>
                              <p:par>
                                <p:cTn fill="hold" nodeType="withEffect" presetClass="entr" presetID="10" presetSubtype="0">
                                  <p:stCondLst>
                                    <p:cond delay="0"/>
                                  </p:stCondLst>
                                  <p:childTnLst>
                                    <p:set>
                                      <p:cBhvr>
                                        <p:cTn dur="1" fill="hold">
                                          <p:stCondLst>
                                            <p:cond delay="0"/>
                                          </p:stCondLst>
                                        </p:cTn>
                                        <p:tgtEl>
                                          <p:spTgt spid="707"/>
                                        </p:tgtEl>
                                        <p:attrNameLst>
                                          <p:attrName>style.visibility</p:attrName>
                                        </p:attrNameLst>
                                      </p:cBhvr>
                                      <p:to>
                                        <p:strVal val="visible"/>
                                      </p:to>
                                    </p:set>
                                    <p:animEffect filter="fade" transition="in">
                                      <p:cBhvr>
                                        <p:cTn dur="500"/>
                                        <p:tgtEl>
                                          <p:spTgt spid="707"/>
                                        </p:tgtEl>
                                      </p:cBhvr>
                                    </p:animEffect>
                                  </p:childTnLst>
                                </p:cTn>
                              </p:par>
                              <p:par>
                                <p:cTn fill="hold" nodeType="withEffect" presetClass="entr" presetID="10" presetSubtype="0">
                                  <p:stCondLst>
                                    <p:cond delay="0"/>
                                  </p:stCondLst>
                                  <p:childTnLst>
                                    <p:set>
                                      <p:cBhvr>
                                        <p:cTn dur="1" fill="hold">
                                          <p:stCondLst>
                                            <p:cond delay="0"/>
                                          </p:stCondLst>
                                        </p:cTn>
                                        <p:tgtEl>
                                          <p:spTgt spid="708"/>
                                        </p:tgtEl>
                                        <p:attrNameLst>
                                          <p:attrName>style.visibility</p:attrName>
                                        </p:attrNameLst>
                                      </p:cBhvr>
                                      <p:to>
                                        <p:strVal val="visible"/>
                                      </p:to>
                                    </p:set>
                                    <p:animEffect filter="fade" transition="in">
                                      <p:cBhvr>
                                        <p:cTn dur="500"/>
                                        <p:tgtEl>
                                          <p:spTgt spid="708"/>
                                        </p:tgtEl>
                                      </p:cBhvr>
                                    </p:animEffect>
                                  </p:childTnLst>
                                </p:cTn>
                              </p:par>
                              <p:par>
                                <p:cTn fill="hold" nodeType="withEffect" presetClass="entr" presetID="10" presetSubtype="0">
                                  <p:stCondLst>
                                    <p:cond delay="0"/>
                                  </p:stCondLst>
                                  <p:childTnLst>
                                    <p:set>
                                      <p:cBhvr>
                                        <p:cTn dur="1" fill="hold">
                                          <p:stCondLst>
                                            <p:cond delay="0"/>
                                          </p:stCondLst>
                                        </p:cTn>
                                        <p:tgtEl>
                                          <p:spTgt spid="709"/>
                                        </p:tgtEl>
                                        <p:attrNameLst>
                                          <p:attrName>style.visibility</p:attrName>
                                        </p:attrNameLst>
                                      </p:cBhvr>
                                      <p:to>
                                        <p:strVal val="visible"/>
                                      </p:to>
                                    </p:set>
                                    <p:animEffect filter="fade" transition="in">
                                      <p:cBhvr>
                                        <p:cTn dur="500"/>
                                        <p:tgtEl>
                                          <p:spTgt spid="709"/>
                                        </p:tgtEl>
                                      </p:cBhvr>
                                    </p:animEffect>
                                  </p:childTnLst>
                                </p:cTn>
                              </p:par>
                              <p:par>
                                <p:cTn fill="hold" nodeType="with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500"/>
                                        <p:tgtEl>
                                          <p:spTgt spid="710"/>
                                        </p:tgtEl>
                                      </p:cBhvr>
                                    </p:animEffect>
                                  </p:childTnLst>
                                </p:cTn>
                              </p:par>
                              <p:par>
                                <p:cTn fill="hold" nodeType="withEffect" presetClass="entr" presetID="10" presetSubtype="0">
                                  <p:stCondLst>
                                    <p:cond delay="0"/>
                                  </p:stCondLst>
                                  <p:childTnLst>
                                    <p:set>
                                      <p:cBhvr>
                                        <p:cTn dur="1" fill="hold">
                                          <p:stCondLst>
                                            <p:cond delay="0"/>
                                          </p:stCondLst>
                                        </p:cTn>
                                        <p:tgtEl>
                                          <p:spTgt spid="711"/>
                                        </p:tgtEl>
                                        <p:attrNameLst>
                                          <p:attrName>style.visibility</p:attrName>
                                        </p:attrNameLst>
                                      </p:cBhvr>
                                      <p:to>
                                        <p:strVal val="visible"/>
                                      </p:to>
                                    </p:set>
                                    <p:animEffect filter="fade" transition="in">
                                      <p:cBhvr>
                                        <p:cTn dur="500"/>
                                        <p:tgtEl>
                                          <p:spTgt spid="711"/>
                                        </p:tgtEl>
                                      </p:cBhvr>
                                    </p:animEffect>
                                  </p:childTnLst>
                                </p:cTn>
                              </p:par>
                              <p:par>
                                <p:cTn fill="hold" nodeType="withEffect" presetClass="entr" presetID="10" presetSubtype="0">
                                  <p:stCondLst>
                                    <p:cond delay="0"/>
                                  </p:stCondLst>
                                  <p:childTnLst>
                                    <p:set>
                                      <p:cBhvr>
                                        <p:cTn dur="1" fill="hold">
                                          <p:stCondLst>
                                            <p:cond delay="0"/>
                                          </p:stCondLst>
                                        </p:cTn>
                                        <p:tgtEl>
                                          <p:spTgt spid="712"/>
                                        </p:tgtEl>
                                        <p:attrNameLst>
                                          <p:attrName>style.visibility</p:attrName>
                                        </p:attrNameLst>
                                      </p:cBhvr>
                                      <p:to>
                                        <p:strVal val="visible"/>
                                      </p:to>
                                    </p:set>
                                    <p:animEffect filter="fade" transition="in">
                                      <p:cBhvr>
                                        <p:cTn dur="500"/>
                                        <p:tgtEl>
                                          <p:spTgt spid="7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716" name="Shape 716"/>
        <p:cNvGrpSpPr/>
        <p:nvPr/>
      </p:nvGrpSpPr>
      <p:grpSpPr>
        <a:xfrm>
          <a:off x="0" y="0"/>
          <a:ext cx="0" cy="0"/>
          <a:chOff x="0" y="0"/>
          <a:chExt cx="0" cy="0"/>
        </a:xfrm>
      </p:grpSpPr>
      <p:sp>
        <p:nvSpPr>
          <p:cNvPr id="717" name="Google Shape;717;p37"/>
          <p:cNvSpPr/>
          <p:nvPr/>
        </p:nvSpPr>
        <p:spPr>
          <a:xfrm>
            <a:off x="15926560" y="9040620"/>
            <a:ext cx="3191605" cy="3428482"/>
          </a:xfrm>
          <a:custGeom>
            <a:rect b="b" l="l" r="r" t="t"/>
            <a:pathLst>
              <a:path extrusionOk="0" h="3428482" w="3191605">
                <a:moveTo>
                  <a:pt x="0" y="0"/>
                </a:moveTo>
                <a:lnTo>
                  <a:pt x="3191605" y="0"/>
                </a:lnTo>
                <a:lnTo>
                  <a:pt x="3191605" y="3428481"/>
                </a:lnTo>
                <a:lnTo>
                  <a:pt x="0" y="3428481"/>
                </a:lnTo>
                <a:lnTo>
                  <a:pt x="0" y="0"/>
                </a:lnTo>
                <a:close/>
              </a:path>
            </a:pathLst>
          </a:custGeom>
          <a:blipFill rotWithShape="1">
            <a:blip r:embed="rId3">
              <a:alphaModFix/>
            </a:blip>
            <a:stretch>
              <a:fillRect b="0" l="0" r="0" t="0"/>
            </a:stretch>
          </a:blipFill>
          <a:ln>
            <a:noFill/>
          </a:ln>
        </p:spPr>
      </p:sp>
      <p:sp>
        <p:nvSpPr>
          <p:cNvPr id="718" name="Google Shape;718;p37"/>
          <p:cNvSpPr/>
          <p:nvPr/>
        </p:nvSpPr>
        <p:spPr>
          <a:xfrm>
            <a:off x="10598951" y="9160583"/>
            <a:ext cx="4993680" cy="1897598"/>
          </a:xfrm>
          <a:custGeom>
            <a:rect b="b" l="l" r="r" t="t"/>
            <a:pathLst>
              <a:path extrusionOk="0" h="1897598" w="4993680">
                <a:moveTo>
                  <a:pt x="0" y="0"/>
                </a:moveTo>
                <a:lnTo>
                  <a:pt x="4993679" y="0"/>
                </a:lnTo>
                <a:lnTo>
                  <a:pt x="4993679" y="1897598"/>
                </a:lnTo>
                <a:lnTo>
                  <a:pt x="0" y="1897598"/>
                </a:lnTo>
                <a:lnTo>
                  <a:pt x="0" y="0"/>
                </a:lnTo>
                <a:close/>
              </a:path>
            </a:pathLst>
          </a:custGeom>
          <a:blipFill rotWithShape="1">
            <a:blip r:embed="rId4">
              <a:alphaModFix/>
            </a:blip>
            <a:stretch>
              <a:fillRect b="0" l="0" r="0" t="0"/>
            </a:stretch>
          </a:blipFill>
          <a:ln>
            <a:noFill/>
          </a:ln>
        </p:spPr>
      </p:sp>
      <p:sp>
        <p:nvSpPr>
          <p:cNvPr id="719" name="Google Shape;719;p37"/>
          <p:cNvSpPr/>
          <p:nvPr/>
        </p:nvSpPr>
        <p:spPr>
          <a:xfrm>
            <a:off x="-830165" y="9040620"/>
            <a:ext cx="3889222" cy="4005753"/>
          </a:xfrm>
          <a:custGeom>
            <a:rect b="b" l="l" r="r" t="t"/>
            <a:pathLst>
              <a:path extrusionOk="0" h="4005753" w="3889222">
                <a:moveTo>
                  <a:pt x="0" y="0"/>
                </a:moveTo>
                <a:lnTo>
                  <a:pt x="3889222" y="0"/>
                </a:lnTo>
                <a:lnTo>
                  <a:pt x="3889222" y="4005752"/>
                </a:lnTo>
                <a:lnTo>
                  <a:pt x="0" y="4005752"/>
                </a:lnTo>
                <a:lnTo>
                  <a:pt x="0" y="0"/>
                </a:lnTo>
                <a:close/>
              </a:path>
            </a:pathLst>
          </a:custGeom>
          <a:blipFill rotWithShape="1">
            <a:blip r:embed="rId5">
              <a:alphaModFix/>
            </a:blip>
            <a:stretch>
              <a:fillRect b="0" l="0" r="0" t="0"/>
            </a:stretch>
          </a:blipFill>
          <a:ln>
            <a:noFill/>
          </a:ln>
        </p:spPr>
      </p:sp>
      <p:sp>
        <p:nvSpPr>
          <p:cNvPr id="720" name="Google Shape;720;p37"/>
          <p:cNvSpPr/>
          <p:nvPr/>
        </p:nvSpPr>
        <p:spPr>
          <a:xfrm>
            <a:off x="3059057" y="9057142"/>
            <a:ext cx="3731631" cy="2313611"/>
          </a:xfrm>
          <a:custGeom>
            <a:rect b="b" l="l" r="r" t="t"/>
            <a:pathLst>
              <a:path extrusionOk="0" h="2313611" w="3731631">
                <a:moveTo>
                  <a:pt x="0" y="0"/>
                </a:moveTo>
                <a:lnTo>
                  <a:pt x="3731630" y="0"/>
                </a:lnTo>
                <a:lnTo>
                  <a:pt x="3731630" y="2313611"/>
                </a:lnTo>
                <a:lnTo>
                  <a:pt x="0" y="2313611"/>
                </a:lnTo>
                <a:lnTo>
                  <a:pt x="0" y="0"/>
                </a:lnTo>
                <a:close/>
              </a:path>
            </a:pathLst>
          </a:custGeom>
          <a:blipFill rotWithShape="1">
            <a:blip r:embed="rId6">
              <a:alphaModFix/>
            </a:blip>
            <a:stretch>
              <a:fillRect b="0" l="0" r="0" t="0"/>
            </a:stretch>
          </a:blipFill>
          <a:ln>
            <a:noFill/>
          </a:ln>
        </p:spPr>
      </p:sp>
      <p:sp>
        <p:nvSpPr>
          <p:cNvPr id="721" name="Google Shape;721;p37"/>
          <p:cNvSpPr/>
          <p:nvPr/>
        </p:nvSpPr>
        <p:spPr>
          <a:xfrm>
            <a:off x="5366419" y="9040620"/>
            <a:ext cx="4899156" cy="4035123"/>
          </a:xfrm>
          <a:custGeom>
            <a:rect b="b" l="l" r="r" t="t"/>
            <a:pathLst>
              <a:path extrusionOk="0" h="4035123" w="4899156">
                <a:moveTo>
                  <a:pt x="0" y="0"/>
                </a:moveTo>
                <a:lnTo>
                  <a:pt x="4899157" y="0"/>
                </a:lnTo>
                <a:lnTo>
                  <a:pt x="4899157" y="4035123"/>
                </a:lnTo>
                <a:lnTo>
                  <a:pt x="0" y="4035123"/>
                </a:lnTo>
                <a:lnTo>
                  <a:pt x="0" y="0"/>
                </a:lnTo>
                <a:close/>
              </a:path>
            </a:pathLst>
          </a:custGeom>
          <a:blipFill rotWithShape="1">
            <a:blip r:embed="rId7">
              <a:alphaModFix/>
            </a:blip>
            <a:stretch>
              <a:fillRect b="0" l="0" r="0" t="0"/>
            </a:stretch>
          </a:blipFill>
          <a:ln>
            <a:noFill/>
          </a:ln>
        </p:spPr>
      </p:sp>
      <p:grpSp>
        <p:nvGrpSpPr>
          <p:cNvPr id="722" name="Google Shape;722;p37"/>
          <p:cNvGrpSpPr/>
          <p:nvPr/>
        </p:nvGrpSpPr>
        <p:grpSpPr>
          <a:xfrm>
            <a:off x="835813" y="2941802"/>
            <a:ext cx="7597414" cy="4299892"/>
            <a:chOff x="0" y="-41910"/>
            <a:chExt cx="24353521" cy="13783310"/>
          </a:xfrm>
        </p:grpSpPr>
        <p:sp>
          <p:nvSpPr>
            <p:cNvPr id="723" name="Google Shape;723;p37">
              <a:hlinkClick r:id="rId8"/>
            </p:cNvPr>
            <p:cNvSpPr/>
            <p:nvPr/>
          </p:nvSpPr>
          <p:spPr>
            <a:xfrm>
              <a:off x="20320" y="-41910"/>
              <a:ext cx="24317960" cy="13783310"/>
            </a:xfrm>
            <a:custGeom>
              <a:rect b="b" l="l" r="r" t="t"/>
              <a:pathLst>
                <a:path extrusionOk="0" h="13783310" w="24317960">
                  <a:moveTo>
                    <a:pt x="23684230" y="2738120"/>
                  </a:moveTo>
                  <a:lnTo>
                    <a:pt x="23686769" y="4034790"/>
                  </a:lnTo>
                  <a:lnTo>
                    <a:pt x="24311610" y="5066030"/>
                  </a:lnTo>
                  <a:lnTo>
                    <a:pt x="24315419" y="12388849"/>
                  </a:lnTo>
                  <a:cubicBezTo>
                    <a:pt x="23834091" y="12870180"/>
                    <a:pt x="23430230" y="13272769"/>
                    <a:pt x="22962869" y="13740130"/>
                  </a:cubicBezTo>
                  <a:cubicBezTo>
                    <a:pt x="22758400" y="13695680"/>
                    <a:pt x="982981" y="13783310"/>
                    <a:pt x="328931" y="13726160"/>
                  </a:cubicBezTo>
                  <a:cubicBezTo>
                    <a:pt x="181611" y="13713460"/>
                    <a:pt x="118111" y="13599160"/>
                    <a:pt x="67311" y="13512799"/>
                  </a:cubicBezTo>
                  <a:cubicBezTo>
                    <a:pt x="16511" y="13426440"/>
                    <a:pt x="1271" y="13343890"/>
                    <a:pt x="1271" y="13305790"/>
                  </a:cubicBezTo>
                  <a:lnTo>
                    <a:pt x="1271" y="543560"/>
                  </a:lnTo>
                  <a:cubicBezTo>
                    <a:pt x="0" y="273050"/>
                    <a:pt x="201930" y="57150"/>
                    <a:pt x="472440" y="57150"/>
                  </a:cubicBezTo>
                  <a:cubicBezTo>
                    <a:pt x="641350" y="86360"/>
                    <a:pt x="23746460" y="0"/>
                    <a:pt x="23968710" y="71120"/>
                  </a:cubicBezTo>
                  <a:cubicBezTo>
                    <a:pt x="24190960" y="142240"/>
                    <a:pt x="24315419" y="328930"/>
                    <a:pt x="24315419" y="533400"/>
                  </a:cubicBezTo>
                  <a:cubicBezTo>
                    <a:pt x="24315419" y="533400"/>
                    <a:pt x="24317960" y="1786890"/>
                    <a:pt x="24317960" y="1786890"/>
                  </a:cubicBezTo>
                  <a:lnTo>
                    <a:pt x="23684230" y="2738120"/>
                  </a:lnTo>
                  <a:close/>
                </a:path>
              </a:pathLst>
            </a:custGeom>
            <a:blipFill rotWithShape="1">
              <a:blip r:embed="rId9">
                <a:alphaModFix/>
              </a:blip>
              <a:stretch>
                <a:fillRect b="0" l="-93" r="-93"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7">
              <a:hlinkClick r:id="rId10"/>
            </p:cNvPr>
            <p:cNvSpPr/>
            <p:nvPr/>
          </p:nvSpPr>
          <p:spPr>
            <a:xfrm>
              <a:off x="0" y="0"/>
              <a:ext cx="24353521" cy="13714730"/>
            </a:xfrm>
            <a:custGeom>
              <a:rect b="b" l="l" r="r" t="t"/>
              <a:pathLst>
                <a:path extrusionOk="0" h="13714730" w="24353521">
                  <a:moveTo>
                    <a:pt x="24061420" y="834390"/>
                  </a:moveTo>
                  <a:lnTo>
                    <a:pt x="16941800" y="834390"/>
                  </a:lnTo>
                  <a:lnTo>
                    <a:pt x="15369539" y="293370"/>
                  </a:lnTo>
                  <a:lnTo>
                    <a:pt x="15367000" y="293370"/>
                  </a:lnTo>
                  <a:cubicBezTo>
                    <a:pt x="15367000" y="293370"/>
                    <a:pt x="8989060" y="293370"/>
                    <a:pt x="8989060" y="293370"/>
                  </a:cubicBezTo>
                  <a:lnTo>
                    <a:pt x="7414260" y="835660"/>
                  </a:lnTo>
                  <a:lnTo>
                    <a:pt x="293370" y="835660"/>
                  </a:lnTo>
                  <a:lnTo>
                    <a:pt x="293370" y="1892300"/>
                  </a:lnTo>
                  <a:lnTo>
                    <a:pt x="835660" y="2270760"/>
                  </a:lnTo>
                  <a:lnTo>
                    <a:pt x="835660" y="12882880"/>
                  </a:lnTo>
                  <a:lnTo>
                    <a:pt x="5826760" y="12882880"/>
                  </a:lnTo>
                  <a:lnTo>
                    <a:pt x="7399020" y="13423900"/>
                  </a:lnTo>
                  <a:lnTo>
                    <a:pt x="7401560" y="13423900"/>
                  </a:lnTo>
                  <a:cubicBezTo>
                    <a:pt x="7401560" y="13423900"/>
                    <a:pt x="22871430" y="13423900"/>
                    <a:pt x="22871430" y="13423900"/>
                  </a:cubicBezTo>
                  <a:lnTo>
                    <a:pt x="22999700" y="13295630"/>
                  </a:lnTo>
                  <a:cubicBezTo>
                    <a:pt x="23110189" y="13185139"/>
                    <a:pt x="23210520" y="13084809"/>
                    <a:pt x="23308309" y="12987020"/>
                  </a:cubicBezTo>
                  <a:lnTo>
                    <a:pt x="23521670" y="12774930"/>
                  </a:lnTo>
                  <a:lnTo>
                    <a:pt x="23521670" y="4207510"/>
                  </a:lnTo>
                  <a:lnTo>
                    <a:pt x="23436580" y="4066540"/>
                  </a:lnTo>
                  <a:lnTo>
                    <a:pt x="23436580" y="2614930"/>
                  </a:lnTo>
                  <a:lnTo>
                    <a:pt x="24063961" y="1678940"/>
                  </a:lnTo>
                  <a:lnTo>
                    <a:pt x="24063961" y="835660"/>
                  </a:lnTo>
                  <a:close/>
                  <a:moveTo>
                    <a:pt x="24023320" y="1666240"/>
                  </a:moveTo>
                  <a:lnTo>
                    <a:pt x="23395939" y="2602230"/>
                  </a:lnTo>
                  <a:lnTo>
                    <a:pt x="23395939" y="4076700"/>
                  </a:lnTo>
                  <a:lnTo>
                    <a:pt x="23481030" y="4217670"/>
                  </a:lnTo>
                  <a:lnTo>
                    <a:pt x="23481030" y="12758420"/>
                  </a:lnTo>
                  <a:lnTo>
                    <a:pt x="23279100" y="12960350"/>
                  </a:lnTo>
                  <a:cubicBezTo>
                    <a:pt x="23181309" y="13058139"/>
                    <a:pt x="23080980" y="13158470"/>
                    <a:pt x="22970489" y="13268961"/>
                  </a:cubicBezTo>
                  <a:lnTo>
                    <a:pt x="22853650" y="13385800"/>
                  </a:lnTo>
                  <a:lnTo>
                    <a:pt x="7406640" y="13385800"/>
                  </a:lnTo>
                  <a:lnTo>
                    <a:pt x="5834380" y="12844780"/>
                  </a:lnTo>
                  <a:lnTo>
                    <a:pt x="5831840" y="12844780"/>
                  </a:lnTo>
                  <a:cubicBezTo>
                    <a:pt x="5831840" y="12844780"/>
                    <a:pt x="872490" y="12844780"/>
                    <a:pt x="872490" y="12844780"/>
                  </a:cubicBezTo>
                  <a:lnTo>
                    <a:pt x="872490" y="2249170"/>
                  </a:lnTo>
                  <a:lnTo>
                    <a:pt x="330200" y="1870710"/>
                  </a:lnTo>
                  <a:lnTo>
                    <a:pt x="330200" y="872490"/>
                  </a:lnTo>
                  <a:lnTo>
                    <a:pt x="7418070" y="872490"/>
                  </a:lnTo>
                  <a:lnTo>
                    <a:pt x="8992870" y="330200"/>
                  </a:lnTo>
                  <a:lnTo>
                    <a:pt x="15358111" y="330200"/>
                  </a:lnTo>
                  <a:lnTo>
                    <a:pt x="16930370" y="871220"/>
                  </a:lnTo>
                  <a:lnTo>
                    <a:pt x="16932911" y="871220"/>
                  </a:lnTo>
                  <a:cubicBezTo>
                    <a:pt x="16932911" y="871220"/>
                    <a:pt x="24022050" y="871220"/>
                    <a:pt x="24022050" y="871220"/>
                  </a:cubicBezTo>
                  <a:lnTo>
                    <a:pt x="24022050" y="1664970"/>
                  </a:lnTo>
                  <a:close/>
                  <a:moveTo>
                    <a:pt x="24353520" y="1766570"/>
                  </a:moveTo>
                  <a:lnTo>
                    <a:pt x="24353520" y="490220"/>
                  </a:lnTo>
                  <a:cubicBezTo>
                    <a:pt x="24353520" y="285750"/>
                    <a:pt x="24223980" y="100330"/>
                    <a:pt x="24032209" y="30480"/>
                  </a:cubicBezTo>
                  <a:cubicBezTo>
                    <a:pt x="23978870" y="10160"/>
                    <a:pt x="23921720" y="1270"/>
                    <a:pt x="23863300" y="1270"/>
                  </a:cubicBezTo>
                  <a:lnTo>
                    <a:pt x="9987280" y="1270"/>
                  </a:lnTo>
                  <a:lnTo>
                    <a:pt x="490220" y="1270"/>
                  </a:lnTo>
                  <a:cubicBezTo>
                    <a:pt x="219710" y="0"/>
                    <a:pt x="0" y="219710"/>
                    <a:pt x="0" y="490220"/>
                  </a:cubicBezTo>
                  <a:lnTo>
                    <a:pt x="0" y="1640840"/>
                  </a:lnTo>
                  <a:lnTo>
                    <a:pt x="0" y="13277850"/>
                  </a:lnTo>
                  <a:lnTo>
                    <a:pt x="2540" y="13277850"/>
                  </a:lnTo>
                  <a:cubicBezTo>
                    <a:pt x="17780" y="13421361"/>
                    <a:pt x="95250" y="13549630"/>
                    <a:pt x="215900" y="13632180"/>
                  </a:cubicBezTo>
                  <a:lnTo>
                    <a:pt x="219710" y="13634720"/>
                  </a:lnTo>
                  <a:cubicBezTo>
                    <a:pt x="240030" y="13648689"/>
                    <a:pt x="261620" y="13660120"/>
                    <a:pt x="284480" y="13670280"/>
                  </a:cubicBezTo>
                  <a:cubicBezTo>
                    <a:pt x="349250" y="13699489"/>
                    <a:pt x="417830" y="13714730"/>
                    <a:pt x="488950" y="13714730"/>
                  </a:cubicBezTo>
                  <a:lnTo>
                    <a:pt x="22990811" y="13714730"/>
                  </a:lnTo>
                  <a:lnTo>
                    <a:pt x="23190200" y="13515339"/>
                  </a:lnTo>
                  <a:cubicBezTo>
                    <a:pt x="23305771" y="13399770"/>
                    <a:pt x="23411180" y="13294361"/>
                    <a:pt x="23512780" y="13192761"/>
                  </a:cubicBezTo>
                  <a:lnTo>
                    <a:pt x="23610571" y="13094970"/>
                  </a:lnTo>
                  <a:cubicBezTo>
                    <a:pt x="23804880" y="12900660"/>
                    <a:pt x="23994111" y="12711430"/>
                    <a:pt x="24227791" y="12477750"/>
                  </a:cubicBezTo>
                  <a:lnTo>
                    <a:pt x="24353521" y="12352020"/>
                  </a:lnTo>
                  <a:lnTo>
                    <a:pt x="24353521" y="5021580"/>
                  </a:lnTo>
                  <a:lnTo>
                    <a:pt x="23726141" y="3983990"/>
                  </a:lnTo>
                  <a:lnTo>
                    <a:pt x="23726141" y="2702560"/>
                  </a:lnTo>
                  <a:lnTo>
                    <a:pt x="24353521" y="1766570"/>
                  </a:lnTo>
                  <a:close/>
                  <a:moveTo>
                    <a:pt x="24316689" y="5031740"/>
                  </a:moveTo>
                  <a:lnTo>
                    <a:pt x="24316689" y="12336780"/>
                  </a:lnTo>
                  <a:lnTo>
                    <a:pt x="24202389" y="12451080"/>
                  </a:lnTo>
                  <a:cubicBezTo>
                    <a:pt x="23969979" y="12683490"/>
                    <a:pt x="23780750" y="12873990"/>
                    <a:pt x="23585170" y="13068300"/>
                  </a:cubicBezTo>
                  <a:lnTo>
                    <a:pt x="23487379" y="13166091"/>
                  </a:lnTo>
                  <a:cubicBezTo>
                    <a:pt x="23385779" y="13267691"/>
                    <a:pt x="23280370" y="13373100"/>
                    <a:pt x="23164800" y="13488670"/>
                  </a:cubicBezTo>
                  <a:lnTo>
                    <a:pt x="22976839" y="13676630"/>
                  </a:lnTo>
                  <a:lnTo>
                    <a:pt x="490220" y="13676630"/>
                  </a:lnTo>
                  <a:cubicBezTo>
                    <a:pt x="424180" y="13676630"/>
                    <a:pt x="360680" y="13662661"/>
                    <a:pt x="300990" y="13634720"/>
                  </a:cubicBezTo>
                  <a:cubicBezTo>
                    <a:pt x="280670" y="13624561"/>
                    <a:pt x="260350" y="13614400"/>
                    <a:pt x="241300" y="13601700"/>
                  </a:cubicBezTo>
                  <a:lnTo>
                    <a:pt x="237490" y="13599161"/>
                  </a:lnTo>
                  <a:cubicBezTo>
                    <a:pt x="121920" y="13520420"/>
                    <a:pt x="49530" y="13395961"/>
                    <a:pt x="39370" y="13256261"/>
                  </a:cubicBezTo>
                  <a:lnTo>
                    <a:pt x="39370" y="13238480"/>
                  </a:lnTo>
                  <a:lnTo>
                    <a:pt x="38100" y="13238480"/>
                  </a:lnTo>
                  <a:lnTo>
                    <a:pt x="38100" y="1711960"/>
                  </a:lnTo>
                  <a:cubicBezTo>
                    <a:pt x="38100" y="1711960"/>
                    <a:pt x="38100" y="490220"/>
                    <a:pt x="38100" y="490220"/>
                  </a:cubicBezTo>
                  <a:cubicBezTo>
                    <a:pt x="38100" y="241300"/>
                    <a:pt x="241300" y="38100"/>
                    <a:pt x="490220" y="38100"/>
                  </a:cubicBezTo>
                  <a:lnTo>
                    <a:pt x="9697720" y="38100"/>
                  </a:lnTo>
                  <a:cubicBezTo>
                    <a:pt x="9697720" y="38100"/>
                    <a:pt x="23864570" y="38100"/>
                    <a:pt x="23864570" y="38100"/>
                  </a:cubicBezTo>
                  <a:cubicBezTo>
                    <a:pt x="23917911" y="38100"/>
                    <a:pt x="23969980" y="46990"/>
                    <a:pt x="24019511" y="66040"/>
                  </a:cubicBezTo>
                  <a:cubicBezTo>
                    <a:pt x="24197311" y="130810"/>
                    <a:pt x="24315420" y="300990"/>
                    <a:pt x="24315420" y="490220"/>
                  </a:cubicBezTo>
                  <a:lnTo>
                    <a:pt x="24315420" y="1755140"/>
                  </a:lnTo>
                  <a:lnTo>
                    <a:pt x="23688039" y="2691130"/>
                  </a:lnTo>
                  <a:lnTo>
                    <a:pt x="23688039" y="3995420"/>
                  </a:lnTo>
                  <a:lnTo>
                    <a:pt x="24315420" y="5033010"/>
                  </a:lnTo>
                  <a:close/>
                </a:path>
              </a:pathLst>
            </a:custGeom>
            <a:solidFill>
              <a:srgbClr val="FFBE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5" name="Google Shape;725;p37"/>
          <p:cNvGrpSpPr/>
          <p:nvPr/>
        </p:nvGrpSpPr>
        <p:grpSpPr>
          <a:xfrm>
            <a:off x="9144000" y="2941854"/>
            <a:ext cx="7567061" cy="4282713"/>
            <a:chOff x="0" y="-41910"/>
            <a:chExt cx="24353521" cy="13783310"/>
          </a:xfrm>
        </p:grpSpPr>
        <p:sp>
          <p:nvSpPr>
            <p:cNvPr id="726" name="Google Shape;726;p37">
              <a:hlinkClick r:id="rId11"/>
            </p:cNvPr>
            <p:cNvSpPr/>
            <p:nvPr/>
          </p:nvSpPr>
          <p:spPr>
            <a:xfrm>
              <a:off x="20320" y="-41910"/>
              <a:ext cx="24317960" cy="13783310"/>
            </a:xfrm>
            <a:custGeom>
              <a:rect b="b" l="l" r="r" t="t"/>
              <a:pathLst>
                <a:path extrusionOk="0" h="13783310" w="24317960">
                  <a:moveTo>
                    <a:pt x="23684230" y="2738120"/>
                  </a:moveTo>
                  <a:lnTo>
                    <a:pt x="23686769" y="4034790"/>
                  </a:lnTo>
                  <a:lnTo>
                    <a:pt x="24311610" y="5066030"/>
                  </a:lnTo>
                  <a:lnTo>
                    <a:pt x="24315419" y="12388849"/>
                  </a:lnTo>
                  <a:cubicBezTo>
                    <a:pt x="23834091" y="12870180"/>
                    <a:pt x="23430230" y="13272769"/>
                    <a:pt x="22962869" y="13740130"/>
                  </a:cubicBezTo>
                  <a:cubicBezTo>
                    <a:pt x="22758400" y="13695680"/>
                    <a:pt x="982981" y="13783310"/>
                    <a:pt x="328931" y="13726160"/>
                  </a:cubicBezTo>
                  <a:cubicBezTo>
                    <a:pt x="181611" y="13713460"/>
                    <a:pt x="118111" y="13599160"/>
                    <a:pt x="67311" y="13512799"/>
                  </a:cubicBezTo>
                  <a:cubicBezTo>
                    <a:pt x="16511" y="13426440"/>
                    <a:pt x="1271" y="13343890"/>
                    <a:pt x="1271" y="13305790"/>
                  </a:cubicBezTo>
                  <a:lnTo>
                    <a:pt x="1271" y="543560"/>
                  </a:lnTo>
                  <a:cubicBezTo>
                    <a:pt x="0" y="273050"/>
                    <a:pt x="201930" y="57150"/>
                    <a:pt x="472440" y="57150"/>
                  </a:cubicBezTo>
                  <a:cubicBezTo>
                    <a:pt x="641350" y="86360"/>
                    <a:pt x="23746460" y="0"/>
                    <a:pt x="23968710" y="71120"/>
                  </a:cubicBezTo>
                  <a:cubicBezTo>
                    <a:pt x="24190960" y="142240"/>
                    <a:pt x="24315419" y="328930"/>
                    <a:pt x="24315419" y="533400"/>
                  </a:cubicBezTo>
                  <a:cubicBezTo>
                    <a:pt x="24315419" y="533400"/>
                    <a:pt x="24317960" y="1786890"/>
                    <a:pt x="24317960" y="1786890"/>
                  </a:cubicBezTo>
                  <a:lnTo>
                    <a:pt x="23684230" y="2738120"/>
                  </a:lnTo>
                  <a:close/>
                </a:path>
              </a:pathLst>
            </a:custGeom>
            <a:blipFill rotWithShape="1">
              <a:blip r:embed="rId12">
                <a:alphaModFix/>
              </a:blip>
              <a:stretch>
                <a:fillRect b="-107718" l="0" r="0" t="-107718"/>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7">
              <a:hlinkClick r:id="rId13"/>
            </p:cNvPr>
            <p:cNvSpPr/>
            <p:nvPr/>
          </p:nvSpPr>
          <p:spPr>
            <a:xfrm>
              <a:off x="0" y="0"/>
              <a:ext cx="24353521" cy="13714730"/>
            </a:xfrm>
            <a:custGeom>
              <a:rect b="b" l="l" r="r" t="t"/>
              <a:pathLst>
                <a:path extrusionOk="0" h="13714730" w="24353521">
                  <a:moveTo>
                    <a:pt x="24061420" y="834390"/>
                  </a:moveTo>
                  <a:lnTo>
                    <a:pt x="16941800" y="834390"/>
                  </a:lnTo>
                  <a:lnTo>
                    <a:pt x="15369539" y="293370"/>
                  </a:lnTo>
                  <a:lnTo>
                    <a:pt x="15367000" y="293370"/>
                  </a:lnTo>
                  <a:cubicBezTo>
                    <a:pt x="15367000" y="293370"/>
                    <a:pt x="8989060" y="293370"/>
                    <a:pt x="8989060" y="293370"/>
                  </a:cubicBezTo>
                  <a:lnTo>
                    <a:pt x="7414260" y="835660"/>
                  </a:lnTo>
                  <a:lnTo>
                    <a:pt x="293370" y="835660"/>
                  </a:lnTo>
                  <a:lnTo>
                    <a:pt x="293370" y="1892300"/>
                  </a:lnTo>
                  <a:lnTo>
                    <a:pt x="835660" y="2270760"/>
                  </a:lnTo>
                  <a:lnTo>
                    <a:pt x="835660" y="12882880"/>
                  </a:lnTo>
                  <a:lnTo>
                    <a:pt x="5826760" y="12882880"/>
                  </a:lnTo>
                  <a:lnTo>
                    <a:pt x="7399020" y="13423900"/>
                  </a:lnTo>
                  <a:lnTo>
                    <a:pt x="7401560" y="13423900"/>
                  </a:lnTo>
                  <a:cubicBezTo>
                    <a:pt x="7401560" y="13423900"/>
                    <a:pt x="22871430" y="13423900"/>
                    <a:pt x="22871430" y="13423900"/>
                  </a:cubicBezTo>
                  <a:lnTo>
                    <a:pt x="22999700" y="13295630"/>
                  </a:lnTo>
                  <a:cubicBezTo>
                    <a:pt x="23110189" y="13185139"/>
                    <a:pt x="23210520" y="13084809"/>
                    <a:pt x="23308309" y="12987020"/>
                  </a:cubicBezTo>
                  <a:lnTo>
                    <a:pt x="23521670" y="12774930"/>
                  </a:lnTo>
                  <a:lnTo>
                    <a:pt x="23521670" y="4207510"/>
                  </a:lnTo>
                  <a:lnTo>
                    <a:pt x="23436580" y="4066540"/>
                  </a:lnTo>
                  <a:lnTo>
                    <a:pt x="23436580" y="2614930"/>
                  </a:lnTo>
                  <a:lnTo>
                    <a:pt x="24063961" y="1678940"/>
                  </a:lnTo>
                  <a:lnTo>
                    <a:pt x="24063961" y="835660"/>
                  </a:lnTo>
                  <a:close/>
                  <a:moveTo>
                    <a:pt x="24023320" y="1666240"/>
                  </a:moveTo>
                  <a:lnTo>
                    <a:pt x="23395939" y="2602230"/>
                  </a:lnTo>
                  <a:lnTo>
                    <a:pt x="23395939" y="4076700"/>
                  </a:lnTo>
                  <a:lnTo>
                    <a:pt x="23481030" y="4217670"/>
                  </a:lnTo>
                  <a:lnTo>
                    <a:pt x="23481030" y="12758420"/>
                  </a:lnTo>
                  <a:lnTo>
                    <a:pt x="23279100" y="12960350"/>
                  </a:lnTo>
                  <a:cubicBezTo>
                    <a:pt x="23181309" y="13058139"/>
                    <a:pt x="23080980" y="13158470"/>
                    <a:pt x="22970489" y="13268961"/>
                  </a:cubicBezTo>
                  <a:lnTo>
                    <a:pt x="22853650" y="13385800"/>
                  </a:lnTo>
                  <a:lnTo>
                    <a:pt x="7406640" y="13385800"/>
                  </a:lnTo>
                  <a:lnTo>
                    <a:pt x="5834380" y="12844780"/>
                  </a:lnTo>
                  <a:lnTo>
                    <a:pt x="5831840" y="12844780"/>
                  </a:lnTo>
                  <a:cubicBezTo>
                    <a:pt x="5831840" y="12844780"/>
                    <a:pt x="872490" y="12844780"/>
                    <a:pt x="872490" y="12844780"/>
                  </a:cubicBezTo>
                  <a:lnTo>
                    <a:pt x="872490" y="2249170"/>
                  </a:lnTo>
                  <a:lnTo>
                    <a:pt x="330200" y="1870710"/>
                  </a:lnTo>
                  <a:lnTo>
                    <a:pt x="330200" y="872490"/>
                  </a:lnTo>
                  <a:lnTo>
                    <a:pt x="7418070" y="872490"/>
                  </a:lnTo>
                  <a:lnTo>
                    <a:pt x="8992870" y="330200"/>
                  </a:lnTo>
                  <a:lnTo>
                    <a:pt x="15358111" y="330200"/>
                  </a:lnTo>
                  <a:lnTo>
                    <a:pt x="16930370" y="871220"/>
                  </a:lnTo>
                  <a:lnTo>
                    <a:pt x="16932911" y="871220"/>
                  </a:lnTo>
                  <a:cubicBezTo>
                    <a:pt x="16932911" y="871220"/>
                    <a:pt x="24022050" y="871220"/>
                    <a:pt x="24022050" y="871220"/>
                  </a:cubicBezTo>
                  <a:lnTo>
                    <a:pt x="24022050" y="1664970"/>
                  </a:lnTo>
                  <a:close/>
                  <a:moveTo>
                    <a:pt x="24353520" y="1766570"/>
                  </a:moveTo>
                  <a:lnTo>
                    <a:pt x="24353520" y="490220"/>
                  </a:lnTo>
                  <a:cubicBezTo>
                    <a:pt x="24353520" y="285750"/>
                    <a:pt x="24223980" y="100330"/>
                    <a:pt x="24032209" y="30480"/>
                  </a:cubicBezTo>
                  <a:cubicBezTo>
                    <a:pt x="23978870" y="10160"/>
                    <a:pt x="23921720" y="1270"/>
                    <a:pt x="23863300" y="1270"/>
                  </a:cubicBezTo>
                  <a:lnTo>
                    <a:pt x="9987280" y="1270"/>
                  </a:lnTo>
                  <a:lnTo>
                    <a:pt x="490220" y="1270"/>
                  </a:lnTo>
                  <a:cubicBezTo>
                    <a:pt x="219710" y="0"/>
                    <a:pt x="0" y="219710"/>
                    <a:pt x="0" y="490220"/>
                  </a:cubicBezTo>
                  <a:lnTo>
                    <a:pt x="0" y="1640840"/>
                  </a:lnTo>
                  <a:lnTo>
                    <a:pt x="0" y="13277850"/>
                  </a:lnTo>
                  <a:lnTo>
                    <a:pt x="2540" y="13277850"/>
                  </a:lnTo>
                  <a:cubicBezTo>
                    <a:pt x="17780" y="13421361"/>
                    <a:pt x="95250" y="13549630"/>
                    <a:pt x="215900" y="13632180"/>
                  </a:cubicBezTo>
                  <a:lnTo>
                    <a:pt x="219710" y="13634720"/>
                  </a:lnTo>
                  <a:cubicBezTo>
                    <a:pt x="240030" y="13648689"/>
                    <a:pt x="261620" y="13660120"/>
                    <a:pt x="284480" y="13670280"/>
                  </a:cubicBezTo>
                  <a:cubicBezTo>
                    <a:pt x="349250" y="13699489"/>
                    <a:pt x="417830" y="13714730"/>
                    <a:pt x="488950" y="13714730"/>
                  </a:cubicBezTo>
                  <a:lnTo>
                    <a:pt x="22990811" y="13714730"/>
                  </a:lnTo>
                  <a:lnTo>
                    <a:pt x="23190200" y="13515339"/>
                  </a:lnTo>
                  <a:cubicBezTo>
                    <a:pt x="23305771" y="13399770"/>
                    <a:pt x="23411180" y="13294361"/>
                    <a:pt x="23512780" y="13192761"/>
                  </a:cubicBezTo>
                  <a:lnTo>
                    <a:pt x="23610571" y="13094970"/>
                  </a:lnTo>
                  <a:cubicBezTo>
                    <a:pt x="23804880" y="12900660"/>
                    <a:pt x="23994111" y="12711430"/>
                    <a:pt x="24227791" y="12477750"/>
                  </a:cubicBezTo>
                  <a:lnTo>
                    <a:pt x="24353521" y="12352020"/>
                  </a:lnTo>
                  <a:lnTo>
                    <a:pt x="24353521" y="5021580"/>
                  </a:lnTo>
                  <a:lnTo>
                    <a:pt x="23726141" y="3983990"/>
                  </a:lnTo>
                  <a:lnTo>
                    <a:pt x="23726141" y="2702560"/>
                  </a:lnTo>
                  <a:lnTo>
                    <a:pt x="24353521" y="1766570"/>
                  </a:lnTo>
                  <a:close/>
                  <a:moveTo>
                    <a:pt x="24316689" y="5031740"/>
                  </a:moveTo>
                  <a:lnTo>
                    <a:pt x="24316689" y="12336780"/>
                  </a:lnTo>
                  <a:lnTo>
                    <a:pt x="24202389" y="12451080"/>
                  </a:lnTo>
                  <a:cubicBezTo>
                    <a:pt x="23969979" y="12683490"/>
                    <a:pt x="23780750" y="12873990"/>
                    <a:pt x="23585170" y="13068300"/>
                  </a:cubicBezTo>
                  <a:lnTo>
                    <a:pt x="23487379" y="13166091"/>
                  </a:lnTo>
                  <a:cubicBezTo>
                    <a:pt x="23385779" y="13267691"/>
                    <a:pt x="23280370" y="13373100"/>
                    <a:pt x="23164800" y="13488670"/>
                  </a:cubicBezTo>
                  <a:lnTo>
                    <a:pt x="22976839" y="13676630"/>
                  </a:lnTo>
                  <a:lnTo>
                    <a:pt x="490220" y="13676630"/>
                  </a:lnTo>
                  <a:cubicBezTo>
                    <a:pt x="424180" y="13676630"/>
                    <a:pt x="360680" y="13662661"/>
                    <a:pt x="300990" y="13634720"/>
                  </a:cubicBezTo>
                  <a:cubicBezTo>
                    <a:pt x="280670" y="13624561"/>
                    <a:pt x="260350" y="13614400"/>
                    <a:pt x="241300" y="13601700"/>
                  </a:cubicBezTo>
                  <a:lnTo>
                    <a:pt x="237490" y="13599161"/>
                  </a:lnTo>
                  <a:cubicBezTo>
                    <a:pt x="121920" y="13520420"/>
                    <a:pt x="49530" y="13395961"/>
                    <a:pt x="39370" y="13256261"/>
                  </a:cubicBezTo>
                  <a:lnTo>
                    <a:pt x="39370" y="13238480"/>
                  </a:lnTo>
                  <a:lnTo>
                    <a:pt x="38100" y="13238480"/>
                  </a:lnTo>
                  <a:lnTo>
                    <a:pt x="38100" y="1711960"/>
                  </a:lnTo>
                  <a:cubicBezTo>
                    <a:pt x="38100" y="1711960"/>
                    <a:pt x="38100" y="490220"/>
                    <a:pt x="38100" y="490220"/>
                  </a:cubicBezTo>
                  <a:cubicBezTo>
                    <a:pt x="38100" y="241300"/>
                    <a:pt x="241300" y="38100"/>
                    <a:pt x="490220" y="38100"/>
                  </a:cubicBezTo>
                  <a:lnTo>
                    <a:pt x="9697720" y="38100"/>
                  </a:lnTo>
                  <a:cubicBezTo>
                    <a:pt x="9697720" y="38100"/>
                    <a:pt x="23864570" y="38100"/>
                    <a:pt x="23864570" y="38100"/>
                  </a:cubicBezTo>
                  <a:cubicBezTo>
                    <a:pt x="23917911" y="38100"/>
                    <a:pt x="23969980" y="46990"/>
                    <a:pt x="24019511" y="66040"/>
                  </a:cubicBezTo>
                  <a:cubicBezTo>
                    <a:pt x="24197311" y="130810"/>
                    <a:pt x="24315420" y="300990"/>
                    <a:pt x="24315420" y="490220"/>
                  </a:cubicBezTo>
                  <a:lnTo>
                    <a:pt x="24315420" y="1755140"/>
                  </a:lnTo>
                  <a:lnTo>
                    <a:pt x="23688039" y="2691130"/>
                  </a:lnTo>
                  <a:lnTo>
                    <a:pt x="23688039" y="3995420"/>
                  </a:lnTo>
                  <a:lnTo>
                    <a:pt x="24315420" y="5033010"/>
                  </a:lnTo>
                  <a:close/>
                </a:path>
              </a:pathLst>
            </a:custGeom>
            <a:solidFill>
              <a:srgbClr val="FFBE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8" name="Google Shape;728;p37"/>
          <p:cNvSpPr txBox="1"/>
          <p:nvPr/>
        </p:nvSpPr>
        <p:spPr>
          <a:xfrm>
            <a:off x="1944564" y="899133"/>
            <a:ext cx="14398872" cy="900176"/>
          </a:xfrm>
          <a:prstGeom prst="rect">
            <a:avLst/>
          </a:prstGeom>
          <a:noFill/>
          <a:ln>
            <a:noFill/>
          </a:ln>
        </p:spPr>
        <p:txBody>
          <a:bodyPr anchorCtr="0" anchor="t" bIns="0" lIns="0" spcFirstLastPara="1" rIns="0" wrap="square" tIns="0">
            <a:spAutoFit/>
          </a:bodyPr>
          <a:lstStyle/>
          <a:p>
            <a:pPr indent="0" lvl="0" marL="0" marR="0" rtl="0" algn="ctr">
              <a:lnSpc>
                <a:spcPct val="91998"/>
              </a:lnSpc>
              <a:spcBef>
                <a:spcPts val="0"/>
              </a:spcBef>
              <a:spcAft>
                <a:spcPts val="0"/>
              </a:spcAft>
              <a:buNone/>
            </a:pPr>
            <a:r>
              <a:rPr lang="en-US" sz="7099">
                <a:solidFill>
                  <a:srgbClr val="503C30"/>
                </a:solidFill>
                <a:latin typeface="Arial"/>
                <a:ea typeface="Arial"/>
                <a:cs typeface="Arial"/>
                <a:sym typeface="Arial"/>
              </a:rPr>
              <a:t>VIDEOS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7"/>
                                        </p:tgtEl>
                                        <p:attrNameLst>
                                          <p:attrName>style.visibility</p:attrName>
                                        </p:attrNameLst>
                                      </p:cBhvr>
                                      <p:to>
                                        <p:strVal val="visible"/>
                                      </p:to>
                                    </p:set>
                                    <p:animEffect filter="fade" transition="in">
                                      <p:cBhvr>
                                        <p:cTn dur="500"/>
                                        <p:tgtEl>
                                          <p:spTgt spid="717"/>
                                        </p:tgtEl>
                                      </p:cBhvr>
                                    </p:animEffect>
                                  </p:childTnLst>
                                </p:cTn>
                              </p:par>
                              <p:par>
                                <p:cTn fill="hold" nodeType="withEffect" presetClass="entr" presetID="10" presetSubtype="0">
                                  <p:stCondLst>
                                    <p:cond delay="0"/>
                                  </p:stCondLst>
                                  <p:childTnLst>
                                    <p:set>
                                      <p:cBhvr>
                                        <p:cTn dur="1" fill="hold">
                                          <p:stCondLst>
                                            <p:cond delay="0"/>
                                          </p:stCondLst>
                                        </p:cTn>
                                        <p:tgtEl>
                                          <p:spTgt spid="718"/>
                                        </p:tgtEl>
                                        <p:attrNameLst>
                                          <p:attrName>style.visibility</p:attrName>
                                        </p:attrNameLst>
                                      </p:cBhvr>
                                      <p:to>
                                        <p:strVal val="visible"/>
                                      </p:to>
                                    </p:set>
                                    <p:animEffect filter="fade" transition="in">
                                      <p:cBhvr>
                                        <p:cTn dur="500"/>
                                        <p:tgtEl>
                                          <p:spTgt spid="718"/>
                                        </p:tgtEl>
                                      </p:cBhvr>
                                    </p:animEffect>
                                  </p:childTnLst>
                                </p:cTn>
                              </p:par>
                              <p:par>
                                <p:cTn fill="hold" nodeType="withEffect" presetClass="entr" presetID="10" presetSubtype="0">
                                  <p:stCondLst>
                                    <p:cond delay="0"/>
                                  </p:stCondLst>
                                  <p:childTnLst>
                                    <p:set>
                                      <p:cBhvr>
                                        <p:cTn dur="1" fill="hold">
                                          <p:stCondLst>
                                            <p:cond delay="0"/>
                                          </p:stCondLst>
                                        </p:cTn>
                                        <p:tgtEl>
                                          <p:spTgt spid="719"/>
                                        </p:tgtEl>
                                        <p:attrNameLst>
                                          <p:attrName>style.visibility</p:attrName>
                                        </p:attrNameLst>
                                      </p:cBhvr>
                                      <p:to>
                                        <p:strVal val="visible"/>
                                      </p:to>
                                    </p:set>
                                    <p:animEffect filter="fade" transition="in">
                                      <p:cBhvr>
                                        <p:cTn dur="500"/>
                                        <p:tgtEl>
                                          <p:spTgt spid="719"/>
                                        </p:tgtEl>
                                      </p:cBhvr>
                                    </p:animEffect>
                                  </p:childTnLst>
                                </p:cTn>
                              </p:par>
                              <p:par>
                                <p:cTn fill="hold" nodeType="withEffect" presetClass="entr" presetID="10" presetSubtype="0">
                                  <p:stCondLst>
                                    <p:cond delay="0"/>
                                  </p:stCondLst>
                                  <p:childTnLst>
                                    <p:set>
                                      <p:cBhvr>
                                        <p:cTn dur="1" fill="hold">
                                          <p:stCondLst>
                                            <p:cond delay="0"/>
                                          </p:stCondLst>
                                        </p:cTn>
                                        <p:tgtEl>
                                          <p:spTgt spid="720"/>
                                        </p:tgtEl>
                                        <p:attrNameLst>
                                          <p:attrName>style.visibility</p:attrName>
                                        </p:attrNameLst>
                                      </p:cBhvr>
                                      <p:to>
                                        <p:strVal val="visible"/>
                                      </p:to>
                                    </p:set>
                                    <p:animEffect filter="fade" transition="in">
                                      <p:cBhvr>
                                        <p:cTn dur="500"/>
                                        <p:tgtEl>
                                          <p:spTgt spid="720"/>
                                        </p:tgtEl>
                                      </p:cBhvr>
                                    </p:animEffect>
                                  </p:childTnLst>
                                </p:cTn>
                              </p:par>
                              <p:par>
                                <p:cTn fill="hold" nodeType="withEffect" presetClass="entr" presetID="10" presetSubtype="0">
                                  <p:stCondLst>
                                    <p:cond delay="0"/>
                                  </p:stCondLst>
                                  <p:childTnLst>
                                    <p:set>
                                      <p:cBhvr>
                                        <p:cTn dur="1" fill="hold">
                                          <p:stCondLst>
                                            <p:cond delay="0"/>
                                          </p:stCondLst>
                                        </p:cTn>
                                        <p:tgtEl>
                                          <p:spTgt spid="721"/>
                                        </p:tgtEl>
                                        <p:attrNameLst>
                                          <p:attrName>style.visibility</p:attrName>
                                        </p:attrNameLst>
                                      </p:cBhvr>
                                      <p:to>
                                        <p:strVal val="visible"/>
                                      </p:to>
                                    </p:set>
                                    <p:animEffect filter="fade" transition="in">
                                      <p:cBhvr>
                                        <p:cTn dur="500"/>
                                        <p:tgtEl>
                                          <p:spTgt spid="721"/>
                                        </p:tgtEl>
                                      </p:cBhvr>
                                    </p:animEffect>
                                  </p:childTnLst>
                                </p:cTn>
                              </p:par>
                              <p:par>
                                <p:cTn fill="hold" nodeType="with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500"/>
                                        <p:tgtEl>
                                          <p:spTgt spid="722"/>
                                        </p:tgtEl>
                                      </p:cBhvr>
                                    </p:animEffect>
                                  </p:childTnLst>
                                </p:cTn>
                              </p:par>
                              <p:par>
                                <p:cTn fill="hold" nodeType="withEffect" presetClass="entr" presetID="10" presetSubtype="0">
                                  <p:stCondLst>
                                    <p:cond delay="0"/>
                                  </p:stCondLst>
                                  <p:childTnLst>
                                    <p:set>
                                      <p:cBhvr>
                                        <p:cTn dur="1" fill="hold">
                                          <p:stCondLst>
                                            <p:cond delay="0"/>
                                          </p:stCondLst>
                                        </p:cTn>
                                        <p:tgtEl>
                                          <p:spTgt spid="725"/>
                                        </p:tgtEl>
                                        <p:attrNameLst>
                                          <p:attrName>style.visibility</p:attrName>
                                        </p:attrNameLst>
                                      </p:cBhvr>
                                      <p:to>
                                        <p:strVal val="visible"/>
                                      </p:to>
                                    </p:set>
                                    <p:animEffect filter="fade" transition="in">
                                      <p:cBhvr>
                                        <p:cTn dur="500"/>
                                        <p:tgtEl>
                                          <p:spTgt spid="725"/>
                                        </p:tgtEl>
                                      </p:cBhvr>
                                    </p:animEffect>
                                  </p:childTnLst>
                                </p:cTn>
                              </p:par>
                              <p:par>
                                <p:cTn fill="hold" nodeType="withEffect" presetClass="entr" presetID="10" presetSubtype="0">
                                  <p:stCondLst>
                                    <p:cond delay="0"/>
                                  </p:stCondLst>
                                  <p:childTnLst>
                                    <p:set>
                                      <p:cBhvr>
                                        <p:cTn dur="1" fill="hold">
                                          <p:stCondLst>
                                            <p:cond delay="0"/>
                                          </p:stCondLst>
                                        </p:cTn>
                                        <p:tgtEl>
                                          <p:spTgt spid="728"/>
                                        </p:tgtEl>
                                        <p:attrNameLst>
                                          <p:attrName>style.visibility</p:attrName>
                                        </p:attrNameLst>
                                      </p:cBhvr>
                                      <p:to>
                                        <p:strVal val="visible"/>
                                      </p:to>
                                    </p:set>
                                    <p:animEffect filter="fade" transition="in">
                                      <p:cBhvr>
                                        <p:cTn dur="500"/>
                                        <p:tgtEl>
                                          <p:spTgt spid="7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732" name="Shape 732"/>
        <p:cNvGrpSpPr/>
        <p:nvPr/>
      </p:nvGrpSpPr>
      <p:grpSpPr>
        <a:xfrm>
          <a:off x="0" y="0"/>
          <a:ext cx="0" cy="0"/>
          <a:chOff x="0" y="0"/>
          <a:chExt cx="0" cy="0"/>
        </a:xfrm>
      </p:grpSpPr>
      <p:sp>
        <p:nvSpPr>
          <p:cNvPr id="733" name="Google Shape;733;p38"/>
          <p:cNvSpPr/>
          <p:nvPr/>
        </p:nvSpPr>
        <p:spPr>
          <a:xfrm>
            <a:off x="15926560" y="9040620"/>
            <a:ext cx="3191605" cy="3428482"/>
          </a:xfrm>
          <a:custGeom>
            <a:rect b="b" l="l" r="r" t="t"/>
            <a:pathLst>
              <a:path extrusionOk="0" h="3428482" w="3191605">
                <a:moveTo>
                  <a:pt x="0" y="0"/>
                </a:moveTo>
                <a:lnTo>
                  <a:pt x="3191605" y="0"/>
                </a:lnTo>
                <a:lnTo>
                  <a:pt x="3191605" y="3428481"/>
                </a:lnTo>
                <a:lnTo>
                  <a:pt x="0" y="3428481"/>
                </a:lnTo>
                <a:lnTo>
                  <a:pt x="0" y="0"/>
                </a:lnTo>
                <a:close/>
              </a:path>
            </a:pathLst>
          </a:custGeom>
          <a:blipFill rotWithShape="1">
            <a:blip r:embed="rId3">
              <a:alphaModFix/>
            </a:blip>
            <a:stretch>
              <a:fillRect b="0" l="0" r="0" t="0"/>
            </a:stretch>
          </a:blipFill>
          <a:ln>
            <a:noFill/>
          </a:ln>
        </p:spPr>
      </p:sp>
      <p:sp>
        <p:nvSpPr>
          <p:cNvPr id="734" name="Google Shape;734;p38"/>
          <p:cNvSpPr/>
          <p:nvPr/>
        </p:nvSpPr>
        <p:spPr>
          <a:xfrm>
            <a:off x="10598951" y="9160583"/>
            <a:ext cx="4993680" cy="1897598"/>
          </a:xfrm>
          <a:custGeom>
            <a:rect b="b" l="l" r="r" t="t"/>
            <a:pathLst>
              <a:path extrusionOk="0" h="1897598" w="4993680">
                <a:moveTo>
                  <a:pt x="0" y="0"/>
                </a:moveTo>
                <a:lnTo>
                  <a:pt x="4993679" y="0"/>
                </a:lnTo>
                <a:lnTo>
                  <a:pt x="4993679" y="1897598"/>
                </a:lnTo>
                <a:lnTo>
                  <a:pt x="0" y="1897598"/>
                </a:lnTo>
                <a:lnTo>
                  <a:pt x="0" y="0"/>
                </a:lnTo>
                <a:close/>
              </a:path>
            </a:pathLst>
          </a:custGeom>
          <a:blipFill rotWithShape="1">
            <a:blip r:embed="rId4">
              <a:alphaModFix/>
            </a:blip>
            <a:stretch>
              <a:fillRect b="0" l="0" r="0" t="0"/>
            </a:stretch>
          </a:blipFill>
          <a:ln>
            <a:noFill/>
          </a:ln>
        </p:spPr>
      </p:sp>
      <p:sp>
        <p:nvSpPr>
          <p:cNvPr id="735" name="Google Shape;735;p38"/>
          <p:cNvSpPr/>
          <p:nvPr/>
        </p:nvSpPr>
        <p:spPr>
          <a:xfrm>
            <a:off x="-830165" y="9040620"/>
            <a:ext cx="3889222" cy="4005753"/>
          </a:xfrm>
          <a:custGeom>
            <a:rect b="b" l="l" r="r" t="t"/>
            <a:pathLst>
              <a:path extrusionOk="0" h="4005753" w="3889222">
                <a:moveTo>
                  <a:pt x="0" y="0"/>
                </a:moveTo>
                <a:lnTo>
                  <a:pt x="3889222" y="0"/>
                </a:lnTo>
                <a:lnTo>
                  <a:pt x="3889222" y="4005752"/>
                </a:lnTo>
                <a:lnTo>
                  <a:pt x="0" y="4005752"/>
                </a:lnTo>
                <a:lnTo>
                  <a:pt x="0" y="0"/>
                </a:lnTo>
                <a:close/>
              </a:path>
            </a:pathLst>
          </a:custGeom>
          <a:blipFill rotWithShape="1">
            <a:blip r:embed="rId5">
              <a:alphaModFix/>
            </a:blip>
            <a:stretch>
              <a:fillRect b="0" l="0" r="0" t="0"/>
            </a:stretch>
          </a:blipFill>
          <a:ln>
            <a:noFill/>
          </a:ln>
        </p:spPr>
      </p:sp>
      <p:sp>
        <p:nvSpPr>
          <p:cNvPr id="736" name="Google Shape;736;p38"/>
          <p:cNvSpPr/>
          <p:nvPr/>
        </p:nvSpPr>
        <p:spPr>
          <a:xfrm>
            <a:off x="3059057" y="9057142"/>
            <a:ext cx="3731631" cy="2313611"/>
          </a:xfrm>
          <a:custGeom>
            <a:rect b="b" l="l" r="r" t="t"/>
            <a:pathLst>
              <a:path extrusionOk="0" h="2313611" w="3731631">
                <a:moveTo>
                  <a:pt x="0" y="0"/>
                </a:moveTo>
                <a:lnTo>
                  <a:pt x="3731630" y="0"/>
                </a:lnTo>
                <a:lnTo>
                  <a:pt x="3731630" y="2313611"/>
                </a:lnTo>
                <a:lnTo>
                  <a:pt x="0" y="2313611"/>
                </a:lnTo>
                <a:lnTo>
                  <a:pt x="0" y="0"/>
                </a:lnTo>
                <a:close/>
              </a:path>
            </a:pathLst>
          </a:custGeom>
          <a:blipFill rotWithShape="1">
            <a:blip r:embed="rId6">
              <a:alphaModFix/>
            </a:blip>
            <a:stretch>
              <a:fillRect b="0" l="0" r="0" t="0"/>
            </a:stretch>
          </a:blipFill>
          <a:ln>
            <a:noFill/>
          </a:ln>
        </p:spPr>
      </p:sp>
      <p:sp>
        <p:nvSpPr>
          <p:cNvPr id="737" name="Google Shape;737;p38"/>
          <p:cNvSpPr/>
          <p:nvPr/>
        </p:nvSpPr>
        <p:spPr>
          <a:xfrm>
            <a:off x="5366419" y="9040620"/>
            <a:ext cx="4899156" cy="4035123"/>
          </a:xfrm>
          <a:custGeom>
            <a:rect b="b" l="l" r="r" t="t"/>
            <a:pathLst>
              <a:path extrusionOk="0" h="4035123" w="4899156">
                <a:moveTo>
                  <a:pt x="0" y="0"/>
                </a:moveTo>
                <a:lnTo>
                  <a:pt x="4899157" y="0"/>
                </a:lnTo>
                <a:lnTo>
                  <a:pt x="4899157" y="4035123"/>
                </a:lnTo>
                <a:lnTo>
                  <a:pt x="0" y="4035123"/>
                </a:lnTo>
                <a:lnTo>
                  <a:pt x="0" y="0"/>
                </a:lnTo>
                <a:close/>
              </a:path>
            </a:pathLst>
          </a:custGeom>
          <a:blipFill rotWithShape="1">
            <a:blip r:embed="rId7">
              <a:alphaModFix/>
            </a:blip>
            <a:stretch>
              <a:fillRect b="0" l="0" r="0" t="0"/>
            </a:stretch>
          </a:blipFill>
          <a:ln>
            <a:noFill/>
          </a:ln>
        </p:spPr>
      </p:sp>
      <p:sp>
        <p:nvSpPr>
          <p:cNvPr id="738" name="Google Shape;738;p38"/>
          <p:cNvSpPr txBox="1"/>
          <p:nvPr/>
        </p:nvSpPr>
        <p:spPr>
          <a:xfrm>
            <a:off x="1944564" y="342085"/>
            <a:ext cx="14398872" cy="812165"/>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6500">
                <a:solidFill>
                  <a:srgbClr val="503C30"/>
                </a:solidFill>
                <a:latin typeface="Arial"/>
                <a:ea typeface="Arial"/>
                <a:cs typeface="Arial"/>
                <a:sym typeface="Arial"/>
              </a:rPr>
              <a:t>REFERENCIAS</a:t>
            </a:r>
            <a:endParaRPr/>
          </a:p>
        </p:txBody>
      </p:sp>
      <p:sp>
        <p:nvSpPr>
          <p:cNvPr id="739" name="Google Shape;739;p38"/>
          <p:cNvSpPr txBox="1"/>
          <p:nvPr/>
        </p:nvSpPr>
        <p:spPr>
          <a:xfrm>
            <a:off x="1114446" y="1369481"/>
            <a:ext cx="16272300" cy="8536500"/>
          </a:xfrm>
          <a:prstGeom prst="rect">
            <a:avLst/>
          </a:prstGeom>
          <a:noFill/>
          <a:ln>
            <a:noFill/>
          </a:ln>
        </p:spPr>
        <p:txBody>
          <a:bodyPr anchorCtr="0" anchor="t" bIns="0" lIns="0" spcFirstLastPara="1" rIns="0" wrap="square" tIns="0">
            <a:spAutoFit/>
          </a:bodyPr>
          <a:lstStyle/>
          <a:p>
            <a:pPr indent="0" lvl="0" marL="0" marR="0" rtl="0" algn="l">
              <a:lnSpc>
                <a:spcPct val="139987"/>
              </a:lnSpc>
              <a:spcBef>
                <a:spcPts val="0"/>
              </a:spcBef>
              <a:spcAft>
                <a:spcPts val="0"/>
              </a:spcAft>
              <a:buNone/>
            </a:pPr>
            <a:r>
              <a:rPr lang="en-US" sz="1603">
                <a:solidFill>
                  <a:srgbClr val="503C30"/>
                </a:solidFill>
                <a:latin typeface="Inter"/>
                <a:ea typeface="Inter"/>
                <a:cs typeface="Inter"/>
                <a:sym typeface="Inter"/>
              </a:rPr>
              <a:t>Awati, R., Froehlich, A., &amp; Rosencrance, L. (2025, 22 de mayo). What is the OSI model? The 7 layers of OSI explained. TechTarget. </a:t>
            </a:r>
            <a:r>
              <a:rPr lang="en-US" sz="1603" u="sng">
                <a:solidFill>
                  <a:srgbClr val="503C30"/>
                </a:solidFill>
                <a:latin typeface="Inter"/>
                <a:ea typeface="Inter"/>
                <a:cs typeface="Inter"/>
                <a:sym typeface="Inter"/>
                <a:hlinkClick r:id="rId8">
                  <a:extLst>
                    <a:ext uri="{A12FA001-AC4F-418D-AE19-62706E023703}">
                      <ahyp:hlinkClr val="tx"/>
                    </a:ext>
                  </a:extLst>
                </a:hlinkClick>
              </a:rPr>
              <a:t>https://www.techtarget.com/searchnetworking/definition/OSI</a:t>
            </a:r>
            <a:endParaRPr/>
          </a:p>
          <a:p>
            <a:pPr indent="0" lvl="0" marL="0" marR="0" rtl="0" algn="l">
              <a:lnSpc>
                <a:spcPct val="139987"/>
              </a:lnSpc>
              <a:spcBef>
                <a:spcPts val="0"/>
              </a:spcBef>
              <a:spcAft>
                <a:spcPts val="0"/>
              </a:spcAft>
              <a:buNone/>
            </a:pPr>
            <a:r>
              <a:t/>
            </a:r>
            <a:endParaRPr sz="1603" u="sng">
              <a:solidFill>
                <a:srgbClr val="503C30"/>
              </a:solidFill>
              <a:latin typeface="Inter"/>
              <a:ea typeface="Inter"/>
              <a:cs typeface="Inter"/>
              <a:sym typeface="Inter"/>
              <a:hlinkClick r:id="rId9">
                <a:extLst>
                  <a:ext uri="{A12FA001-AC4F-418D-AE19-62706E023703}">
                    <ahyp:hlinkClr val="tx"/>
                  </a:ext>
                </a:extLst>
              </a:hlinkClick>
            </a:endParaRPr>
          </a:p>
          <a:p>
            <a:pPr indent="0" lvl="0" marL="0" marR="0" rtl="0" algn="l">
              <a:lnSpc>
                <a:spcPct val="139987"/>
              </a:lnSpc>
              <a:spcBef>
                <a:spcPts val="0"/>
              </a:spcBef>
              <a:spcAft>
                <a:spcPts val="0"/>
              </a:spcAft>
              <a:buNone/>
            </a:pPr>
            <a:r>
              <a:rPr b="1" lang="en-US" sz="1603">
                <a:solidFill>
                  <a:srgbClr val="503C30"/>
                </a:solidFill>
                <a:highlight>
                  <a:srgbClr val="FAD02C"/>
                </a:highlight>
                <a:latin typeface="Inter"/>
                <a:ea typeface="Inter"/>
                <a:cs typeface="Inter"/>
                <a:sym typeface="Inter"/>
              </a:rPr>
              <a:t>Barbosa, M. (2025). Global Voices Online - Portuguese - Global Voices Online: 2025: O ano que decidiremos o futuro da internet. Newstex.</a:t>
            </a:r>
            <a:endParaRPr>
              <a:highlight>
                <a:srgbClr val="FAD02C"/>
              </a:highlight>
            </a:endParaRPr>
          </a:p>
          <a:p>
            <a:pPr indent="0" lvl="0" marL="0" marR="0" rtl="0" algn="l">
              <a:lnSpc>
                <a:spcPct val="139987"/>
              </a:lnSpc>
              <a:spcBef>
                <a:spcPts val="0"/>
              </a:spcBef>
              <a:spcAft>
                <a:spcPts val="0"/>
              </a:spcAft>
              <a:buNone/>
            </a:pPr>
            <a:r>
              <a:t/>
            </a:r>
            <a:endParaRPr b="1" sz="1603">
              <a:solidFill>
                <a:srgbClr val="503C30"/>
              </a:solidFill>
              <a:latin typeface="Inter"/>
              <a:ea typeface="Inter"/>
              <a:cs typeface="Inter"/>
              <a:sym typeface="Inter"/>
            </a:endParaRPr>
          </a:p>
          <a:p>
            <a:pPr indent="0" lvl="0" marL="0" marR="0" rtl="0" algn="l">
              <a:lnSpc>
                <a:spcPct val="139987"/>
              </a:lnSpc>
              <a:spcBef>
                <a:spcPts val="0"/>
              </a:spcBef>
              <a:spcAft>
                <a:spcPts val="0"/>
              </a:spcAft>
              <a:buNone/>
            </a:pPr>
            <a:r>
              <a:rPr lang="en-US" sz="1603">
                <a:solidFill>
                  <a:srgbClr val="503C30"/>
                </a:solidFill>
                <a:latin typeface="Inter"/>
                <a:ea typeface="Inter"/>
                <a:cs typeface="Inter"/>
                <a:sym typeface="Inter"/>
              </a:rPr>
              <a:t>Chavez, J. J. S. (2025, 21 agosto). ¿Qué es el Modelo OSI? Cómo Funciona, Capas y Utilidad. </a:t>
            </a:r>
            <a:r>
              <a:rPr lang="en-US" sz="1603" u="sng">
                <a:solidFill>
                  <a:srgbClr val="503C30"/>
                </a:solidFill>
                <a:latin typeface="Inter"/>
                <a:ea typeface="Inter"/>
                <a:cs typeface="Inter"/>
                <a:sym typeface="Inter"/>
                <a:hlinkClick r:id="rId10">
                  <a:extLst>
                    <a:ext uri="{A12FA001-AC4F-418D-AE19-62706E023703}">
                      <ahyp:hlinkClr val="tx"/>
                    </a:ext>
                  </a:extLst>
                </a:hlinkClick>
              </a:rPr>
              <a:t>https://www.deltaprotect.com/blog/modelo-osi</a:t>
            </a:r>
            <a:endParaRPr/>
          </a:p>
          <a:p>
            <a:pPr indent="0" lvl="0" marL="0" marR="0" rtl="0" algn="l">
              <a:lnSpc>
                <a:spcPct val="139987"/>
              </a:lnSpc>
              <a:spcBef>
                <a:spcPts val="0"/>
              </a:spcBef>
              <a:spcAft>
                <a:spcPts val="0"/>
              </a:spcAft>
              <a:buNone/>
            </a:pPr>
            <a:r>
              <a:t/>
            </a:r>
            <a:endParaRPr sz="1603" u="sng">
              <a:solidFill>
                <a:srgbClr val="503C30"/>
              </a:solidFill>
              <a:latin typeface="Inter"/>
              <a:ea typeface="Inter"/>
              <a:cs typeface="Inter"/>
              <a:sym typeface="Inter"/>
              <a:hlinkClick r:id="rId11">
                <a:extLst>
                  <a:ext uri="{A12FA001-AC4F-418D-AE19-62706E023703}">
                    <ahyp:hlinkClr val="tx"/>
                  </a:ext>
                </a:extLst>
              </a:hlinkClick>
            </a:endParaRPr>
          </a:p>
          <a:p>
            <a:pPr indent="0" lvl="0" marL="0" marR="0" rtl="0" algn="l">
              <a:lnSpc>
                <a:spcPct val="139987"/>
              </a:lnSpc>
              <a:spcBef>
                <a:spcPts val="0"/>
              </a:spcBef>
              <a:spcAft>
                <a:spcPts val="0"/>
              </a:spcAft>
              <a:buNone/>
            </a:pPr>
            <a:r>
              <a:rPr lang="en-US" sz="1603">
                <a:solidFill>
                  <a:srgbClr val="503C30"/>
                </a:solidFill>
                <a:latin typeface="Inter"/>
                <a:ea typeface="Inter"/>
                <a:cs typeface="Inter"/>
                <a:sym typeface="Inter"/>
              </a:rPr>
              <a:t>Cisco Learning Network. (2021, 3 de septiembre). OSI Model Reference Sheet. </a:t>
            </a:r>
            <a:r>
              <a:rPr lang="en-US" sz="1603" u="sng">
                <a:solidFill>
                  <a:srgbClr val="503C30"/>
                </a:solidFill>
                <a:latin typeface="Inter"/>
                <a:ea typeface="Inter"/>
                <a:cs typeface="Inter"/>
                <a:sym typeface="Inter"/>
                <a:hlinkClick r:id="rId12">
                  <a:extLst>
                    <a:ext uri="{A12FA001-AC4F-418D-AE19-62706E023703}">
                      <ahyp:hlinkClr val="tx"/>
                    </a:ext>
                  </a:extLst>
                </a:hlinkClick>
              </a:rPr>
              <a:t>https://learningnetwork.cisco.com/s/article/OSI-Model-Reference-Sheet</a:t>
            </a:r>
            <a:endParaRPr/>
          </a:p>
          <a:p>
            <a:pPr indent="0" lvl="0" marL="0" marR="0" rtl="0" algn="l">
              <a:lnSpc>
                <a:spcPct val="139987"/>
              </a:lnSpc>
              <a:spcBef>
                <a:spcPts val="0"/>
              </a:spcBef>
              <a:spcAft>
                <a:spcPts val="0"/>
              </a:spcAft>
              <a:buNone/>
            </a:pPr>
            <a:r>
              <a:t/>
            </a:r>
            <a:endParaRPr sz="1603" u="sng">
              <a:solidFill>
                <a:srgbClr val="503C30"/>
              </a:solidFill>
              <a:latin typeface="Inter"/>
              <a:ea typeface="Inter"/>
              <a:cs typeface="Inter"/>
              <a:sym typeface="Inter"/>
              <a:hlinkClick r:id="rId13">
                <a:extLst>
                  <a:ext uri="{A12FA001-AC4F-418D-AE19-62706E023703}">
                    <ahyp:hlinkClr val="tx"/>
                  </a:ext>
                </a:extLst>
              </a:hlinkClick>
            </a:endParaRPr>
          </a:p>
          <a:p>
            <a:pPr indent="0" lvl="0" marL="0" marR="0" rtl="0" algn="l">
              <a:lnSpc>
                <a:spcPct val="139987"/>
              </a:lnSpc>
              <a:spcBef>
                <a:spcPts val="0"/>
              </a:spcBef>
              <a:spcAft>
                <a:spcPts val="0"/>
              </a:spcAft>
              <a:buNone/>
            </a:pPr>
            <a:r>
              <a:rPr lang="en-US" sz="1603">
                <a:solidFill>
                  <a:srgbClr val="503C30"/>
                </a:solidFill>
                <a:latin typeface="Inter"/>
                <a:ea typeface="Inter"/>
                <a:cs typeface="Inter"/>
                <a:sym typeface="Inter"/>
              </a:rPr>
              <a:t>Cloudflare, Inc. (2025). ¿Qué es el modelo OSI? Ejemplos de modelos OSI. Cloudflare. </a:t>
            </a:r>
            <a:r>
              <a:rPr lang="en-US" sz="1603" u="sng">
                <a:solidFill>
                  <a:srgbClr val="503C30"/>
                </a:solidFill>
                <a:latin typeface="Inter"/>
                <a:ea typeface="Inter"/>
                <a:cs typeface="Inter"/>
                <a:sym typeface="Inter"/>
                <a:hlinkClick r:id="rId14">
                  <a:extLst>
                    <a:ext uri="{A12FA001-AC4F-418D-AE19-62706E023703}">
                      <ahyp:hlinkClr val="tx"/>
                    </a:ext>
                  </a:extLst>
                </a:hlinkClick>
              </a:rPr>
              <a:t>https://www.cloudflare.com/es-es/learning/ddos/glossary/open-systems-interconnection-model-osi/</a:t>
            </a:r>
            <a:endParaRPr/>
          </a:p>
          <a:p>
            <a:pPr indent="0" lvl="0" marL="0" marR="0" rtl="0" algn="l">
              <a:lnSpc>
                <a:spcPct val="139987"/>
              </a:lnSpc>
              <a:spcBef>
                <a:spcPts val="0"/>
              </a:spcBef>
              <a:spcAft>
                <a:spcPts val="0"/>
              </a:spcAft>
              <a:buNone/>
            </a:pPr>
            <a:r>
              <a:t/>
            </a:r>
            <a:endParaRPr sz="1603" u="sng">
              <a:solidFill>
                <a:srgbClr val="503C30"/>
              </a:solidFill>
              <a:latin typeface="Inter"/>
              <a:ea typeface="Inter"/>
              <a:cs typeface="Inter"/>
              <a:sym typeface="Inter"/>
              <a:hlinkClick r:id="rId15">
                <a:extLst>
                  <a:ext uri="{A12FA001-AC4F-418D-AE19-62706E023703}">
                    <ahyp:hlinkClr val="tx"/>
                  </a:ext>
                </a:extLst>
              </a:hlinkClick>
            </a:endParaRPr>
          </a:p>
          <a:p>
            <a:pPr indent="0" lvl="0" marL="0" marR="0" rtl="0" algn="l">
              <a:lnSpc>
                <a:spcPct val="139987"/>
              </a:lnSpc>
              <a:spcBef>
                <a:spcPts val="0"/>
              </a:spcBef>
              <a:spcAft>
                <a:spcPts val="0"/>
              </a:spcAft>
              <a:buNone/>
            </a:pPr>
            <a:r>
              <a:rPr lang="en-US" sz="1603">
                <a:solidFill>
                  <a:srgbClr val="503C30"/>
                </a:solidFill>
                <a:latin typeface="Inter"/>
                <a:ea typeface="Inter"/>
                <a:cs typeface="Inter"/>
                <a:sym typeface="Inter"/>
              </a:rPr>
              <a:t>Data-Flair. (2021, 25 de mayo). OSI Model: Layers, Characteristics and Functions. </a:t>
            </a:r>
            <a:r>
              <a:rPr lang="en-US" sz="1603" u="sng">
                <a:solidFill>
                  <a:srgbClr val="503C30"/>
                </a:solidFill>
                <a:latin typeface="Inter"/>
                <a:ea typeface="Inter"/>
                <a:cs typeface="Inter"/>
                <a:sym typeface="Inter"/>
                <a:hlinkClick r:id="rId16">
                  <a:extLst>
                    <a:ext uri="{A12FA001-AC4F-418D-AE19-62706E023703}">
                      <ahyp:hlinkClr val="tx"/>
                    </a:ext>
                  </a:extLst>
                </a:hlinkClick>
              </a:rPr>
              <a:t>https://data-flair.training/blogs/osi-model-in-computer-network/</a:t>
            </a:r>
            <a:endParaRPr/>
          </a:p>
          <a:p>
            <a:pPr indent="0" lvl="0" marL="0" marR="0" rtl="0" algn="l">
              <a:lnSpc>
                <a:spcPct val="139987"/>
              </a:lnSpc>
              <a:spcBef>
                <a:spcPts val="0"/>
              </a:spcBef>
              <a:spcAft>
                <a:spcPts val="0"/>
              </a:spcAft>
              <a:buNone/>
            </a:pPr>
            <a:r>
              <a:t/>
            </a:r>
            <a:endParaRPr sz="1603" u="sng">
              <a:solidFill>
                <a:srgbClr val="503C30"/>
              </a:solidFill>
              <a:latin typeface="Inter"/>
              <a:ea typeface="Inter"/>
              <a:cs typeface="Inter"/>
              <a:sym typeface="Inter"/>
              <a:hlinkClick r:id="rId17">
                <a:extLst>
                  <a:ext uri="{A12FA001-AC4F-418D-AE19-62706E023703}">
                    <ahyp:hlinkClr val="tx"/>
                  </a:ext>
                </a:extLst>
              </a:hlinkClick>
            </a:endParaRPr>
          </a:p>
          <a:p>
            <a:pPr indent="0" lvl="0" marL="0" marR="0" rtl="0" algn="l">
              <a:lnSpc>
                <a:spcPct val="139987"/>
              </a:lnSpc>
              <a:spcBef>
                <a:spcPts val="0"/>
              </a:spcBef>
              <a:spcAft>
                <a:spcPts val="0"/>
              </a:spcAft>
              <a:buNone/>
            </a:pPr>
            <a:r>
              <a:rPr lang="en-US" sz="1603">
                <a:solidFill>
                  <a:srgbClr val="503C30"/>
                </a:solidFill>
                <a:latin typeface="Inter"/>
                <a:ea typeface="Inter"/>
                <a:cs typeface="Inter"/>
                <a:sym typeface="Inter"/>
              </a:rPr>
              <a:t>Deepanshu. (2024, 11 septiembre). Difference between packet and frame - PyNet Labs. PyNet Labs. </a:t>
            </a:r>
            <a:r>
              <a:rPr lang="en-US" sz="1603" u="sng">
                <a:solidFill>
                  <a:srgbClr val="503C30"/>
                </a:solidFill>
                <a:latin typeface="Inter"/>
                <a:ea typeface="Inter"/>
                <a:cs typeface="Inter"/>
                <a:sym typeface="Inter"/>
                <a:hlinkClick r:id="rId18">
                  <a:extLst>
                    <a:ext uri="{A12FA001-AC4F-418D-AE19-62706E023703}">
                      <ahyp:hlinkClr val="tx"/>
                    </a:ext>
                  </a:extLst>
                </a:hlinkClick>
              </a:rPr>
              <a:t>https://www.pynetlabs.com/what-is-the-difference-between-packet-and-frame/</a:t>
            </a:r>
            <a:endParaRPr/>
          </a:p>
          <a:p>
            <a:pPr indent="0" lvl="0" marL="0" marR="0" rtl="0" algn="l">
              <a:lnSpc>
                <a:spcPct val="139987"/>
              </a:lnSpc>
              <a:spcBef>
                <a:spcPts val="0"/>
              </a:spcBef>
              <a:spcAft>
                <a:spcPts val="0"/>
              </a:spcAft>
              <a:buNone/>
            </a:pPr>
            <a:r>
              <a:t/>
            </a:r>
            <a:endParaRPr sz="1603" u="sng">
              <a:solidFill>
                <a:srgbClr val="503C30"/>
              </a:solidFill>
              <a:latin typeface="Inter"/>
              <a:ea typeface="Inter"/>
              <a:cs typeface="Inter"/>
              <a:sym typeface="Inter"/>
              <a:hlinkClick r:id="rId19">
                <a:extLst>
                  <a:ext uri="{A12FA001-AC4F-418D-AE19-62706E023703}">
                    <ahyp:hlinkClr val="tx"/>
                  </a:ext>
                </a:extLst>
              </a:hlinkClick>
            </a:endParaRPr>
          </a:p>
          <a:p>
            <a:pPr indent="0" lvl="0" marL="0" marR="0" rtl="0" algn="l">
              <a:lnSpc>
                <a:spcPct val="139987"/>
              </a:lnSpc>
              <a:spcBef>
                <a:spcPts val="0"/>
              </a:spcBef>
              <a:spcAft>
                <a:spcPts val="0"/>
              </a:spcAft>
              <a:buNone/>
            </a:pPr>
            <a:r>
              <a:rPr lang="en-US" sz="1603">
                <a:solidFill>
                  <a:srgbClr val="503C30"/>
                </a:solidFill>
                <a:latin typeface="Inter"/>
                <a:ea typeface="Inter"/>
                <a:cs typeface="Inter"/>
                <a:sym typeface="Inter"/>
              </a:rPr>
              <a:t>Elbehiery, K. (2023, 28 de junio). A closer look at the OSI Model in computer network. OPIT Magazine. </a:t>
            </a:r>
            <a:r>
              <a:rPr lang="en-US" sz="1603" u="sng">
                <a:solidFill>
                  <a:srgbClr val="503C30"/>
                </a:solidFill>
                <a:latin typeface="Inter"/>
                <a:ea typeface="Inter"/>
                <a:cs typeface="Inter"/>
                <a:sym typeface="Inter"/>
                <a:hlinkClick r:id="rId20">
                  <a:extLst>
                    <a:ext uri="{A12FA001-AC4F-418D-AE19-62706E023703}">
                      <ahyp:hlinkClr val="tx"/>
                    </a:ext>
                  </a:extLst>
                </a:hlinkClick>
              </a:rPr>
              <a:t>https://www.opit.com/magazine/osi-model-in-computer-network/</a:t>
            </a:r>
            <a:endParaRPr/>
          </a:p>
          <a:p>
            <a:pPr indent="0" lvl="0" marL="0" marR="0" rtl="0" algn="l">
              <a:lnSpc>
                <a:spcPct val="139987"/>
              </a:lnSpc>
              <a:spcBef>
                <a:spcPts val="0"/>
              </a:spcBef>
              <a:spcAft>
                <a:spcPts val="0"/>
              </a:spcAft>
              <a:buNone/>
            </a:pPr>
            <a:r>
              <a:t/>
            </a:r>
            <a:endParaRPr sz="1603" u="sng">
              <a:solidFill>
                <a:srgbClr val="503C30"/>
              </a:solidFill>
              <a:latin typeface="Inter"/>
              <a:ea typeface="Inter"/>
              <a:cs typeface="Inter"/>
              <a:sym typeface="Inter"/>
              <a:hlinkClick r:id="rId21">
                <a:extLst>
                  <a:ext uri="{A12FA001-AC4F-418D-AE19-62706E023703}">
                    <ahyp:hlinkClr val="tx"/>
                  </a:ext>
                </a:extLst>
              </a:hlinkClick>
            </a:endParaRPr>
          </a:p>
          <a:p>
            <a:pPr indent="0" lvl="0" marL="0" marR="0" rtl="0" algn="l">
              <a:lnSpc>
                <a:spcPct val="139987"/>
              </a:lnSpc>
              <a:spcBef>
                <a:spcPts val="0"/>
              </a:spcBef>
              <a:spcAft>
                <a:spcPts val="0"/>
              </a:spcAft>
              <a:buNone/>
            </a:pPr>
            <a:r>
              <a:rPr lang="en-US" sz="1603">
                <a:solidFill>
                  <a:srgbClr val="503C30"/>
                </a:solidFill>
                <a:latin typeface="Inter"/>
                <a:ea typeface="Inter"/>
                <a:cs typeface="Inter"/>
                <a:sym typeface="Inter"/>
              </a:rPr>
              <a:t>GeeksforGeeks. (2025, October 13). Transport layer in OSI model. GeeksforGeeks. </a:t>
            </a:r>
            <a:r>
              <a:rPr lang="en-US" sz="1603" u="sng">
                <a:solidFill>
                  <a:srgbClr val="503C30"/>
                </a:solidFill>
                <a:latin typeface="Inter"/>
                <a:ea typeface="Inter"/>
                <a:cs typeface="Inter"/>
                <a:sym typeface="Inter"/>
                <a:hlinkClick r:id="rId22">
                  <a:extLst>
                    <a:ext uri="{A12FA001-AC4F-418D-AE19-62706E023703}">
                      <ahyp:hlinkClr val="tx"/>
                    </a:ext>
                  </a:extLst>
                </a:hlinkClick>
              </a:rPr>
              <a:t>https://www.geeksforgeeks.org/computer-networks/transport-layer-in-osi-model/</a:t>
            </a:r>
            <a:endParaRPr/>
          </a:p>
          <a:p>
            <a:pPr indent="0" lvl="0" marL="0" marR="0" rtl="0" algn="l">
              <a:lnSpc>
                <a:spcPct val="139987"/>
              </a:lnSpc>
              <a:spcBef>
                <a:spcPts val="0"/>
              </a:spcBef>
              <a:spcAft>
                <a:spcPts val="0"/>
              </a:spcAft>
              <a:buNone/>
            </a:pPr>
            <a:r>
              <a:t/>
            </a:r>
            <a:endParaRPr sz="1603" u="sng">
              <a:solidFill>
                <a:srgbClr val="503C30"/>
              </a:solidFill>
              <a:latin typeface="Inter"/>
              <a:ea typeface="Inter"/>
              <a:cs typeface="Inter"/>
              <a:sym typeface="Inter"/>
              <a:hlinkClick r:id="rId23">
                <a:extLst>
                  <a:ext uri="{A12FA001-AC4F-418D-AE19-62706E023703}">
                    <ahyp:hlinkClr val="tx"/>
                  </a:ext>
                </a:extLst>
              </a:hlinkClick>
            </a:endParaRPr>
          </a:p>
          <a:p>
            <a:pPr indent="0" lvl="0" marL="0" marR="0" rtl="0" algn="l">
              <a:lnSpc>
                <a:spcPct val="139987"/>
              </a:lnSpc>
              <a:spcBef>
                <a:spcPts val="0"/>
              </a:spcBef>
              <a:spcAft>
                <a:spcPts val="0"/>
              </a:spcAft>
              <a:buNone/>
            </a:pPr>
            <a:r>
              <a:rPr lang="en-US" sz="1603">
                <a:solidFill>
                  <a:srgbClr val="503C30"/>
                </a:solidFill>
                <a:latin typeface="Inter"/>
                <a:ea typeface="Inter"/>
                <a:cs typeface="Inter"/>
                <a:sym typeface="Inter"/>
              </a:rPr>
              <a:t>Data-Flair. (2021, 25 de mayo). OSI Model: Layers, Characteristics and Functions. </a:t>
            </a:r>
            <a:r>
              <a:rPr lang="en-US" sz="1603" u="sng">
                <a:solidFill>
                  <a:srgbClr val="503C30"/>
                </a:solidFill>
                <a:latin typeface="Inter"/>
                <a:ea typeface="Inter"/>
                <a:cs typeface="Inter"/>
                <a:sym typeface="Inter"/>
                <a:hlinkClick r:id="rId24">
                  <a:extLst>
                    <a:ext uri="{A12FA001-AC4F-418D-AE19-62706E023703}">
                      <ahyp:hlinkClr val="tx"/>
                    </a:ext>
                  </a:extLst>
                </a:hlinkClick>
              </a:rPr>
              <a:t>https://data-flair.training/blogs/osi-model-in-computer-network/</a:t>
            </a:r>
            <a:endParaRPr/>
          </a:p>
          <a:p>
            <a:pPr indent="0" lvl="0" marL="0" marR="0" rtl="0" algn="l">
              <a:lnSpc>
                <a:spcPct val="139987"/>
              </a:lnSpc>
              <a:spcBef>
                <a:spcPts val="0"/>
              </a:spcBef>
              <a:spcAft>
                <a:spcPts val="0"/>
              </a:spcAft>
              <a:buNone/>
            </a:pPr>
            <a:r>
              <a:rPr lang="en-US" sz="1603">
                <a:solidFill>
                  <a:srgbClr val="503C30"/>
                </a:solidFill>
                <a:latin typeface="Inter"/>
                <a:ea typeface="Inter"/>
                <a:cs typeface="Inter"/>
                <a:sym typeface="Inter"/>
              </a:rPr>
              <a:t>Deepanshu. (2024, 11 septiembre). Difference between packet and frame - PyNet Labs. PyNet Labs. </a:t>
            </a:r>
            <a:r>
              <a:rPr lang="en-US" sz="1603" u="sng">
                <a:solidFill>
                  <a:srgbClr val="503C30"/>
                </a:solidFill>
                <a:latin typeface="Inter"/>
                <a:ea typeface="Inter"/>
                <a:cs typeface="Inter"/>
                <a:sym typeface="Inter"/>
                <a:hlinkClick r:id="rId25">
                  <a:extLst>
                    <a:ext uri="{A12FA001-AC4F-418D-AE19-62706E023703}">
                      <ahyp:hlinkClr val="tx"/>
                    </a:ext>
                  </a:extLst>
                </a:hlinkClick>
              </a:rPr>
              <a:t>https://www.pynetlabs.com/what-is-the-difference-between-packet-and-frame/</a:t>
            </a:r>
            <a:endParaRPr/>
          </a:p>
          <a:p>
            <a:pPr indent="0" lvl="0" marL="0" marR="0" rtl="0" algn="l">
              <a:lnSpc>
                <a:spcPct val="139987"/>
              </a:lnSpc>
              <a:spcBef>
                <a:spcPts val="0"/>
              </a:spcBef>
              <a:spcAft>
                <a:spcPts val="0"/>
              </a:spcAft>
              <a:buNone/>
            </a:pPr>
            <a:r>
              <a:t/>
            </a:r>
            <a:endParaRPr sz="1603" u="sng">
              <a:solidFill>
                <a:srgbClr val="503C30"/>
              </a:solidFill>
              <a:latin typeface="Inter"/>
              <a:ea typeface="Inter"/>
              <a:cs typeface="Inter"/>
              <a:sym typeface="Inter"/>
              <a:hlinkClick r:id="rId26">
                <a:extLst>
                  <a:ext uri="{A12FA001-AC4F-418D-AE19-62706E023703}">
                    <ahyp:hlinkClr val="tx"/>
                  </a:ext>
                </a:extLst>
              </a:hlinkClick>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500"/>
                                        <p:tgtEl>
                                          <p:spTgt spid="733"/>
                                        </p:tgtEl>
                                      </p:cBhvr>
                                    </p:animEffect>
                                  </p:childTnLst>
                                </p:cTn>
                              </p:par>
                              <p:par>
                                <p:cTn fill="hold" nodeType="with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500"/>
                                        <p:tgtEl>
                                          <p:spTgt spid="734"/>
                                        </p:tgtEl>
                                      </p:cBhvr>
                                    </p:animEffect>
                                  </p:childTnLst>
                                </p:cTn>
                              </p:par>
                              <p:par>
                                <p:cTn fill="hold" nodeType="withEffect" presetClass="entr" presetID="10" presetSubtype="0">
                                  <p:stCondLst>
                                    <p:cond delay="0"/>
                                  </p:stCondLst>
                                  <p:childTnLst>
                                    <p:set>
                                      <p:cBhvr>
                                        <p:cTn dur="1" fill="hold">
                                          <p:stCondLst>
                                            <p:cond delay="0"/>
                                          </p:stCondLst>
                                        </p:cTn>
                                        <p:tgtEl>
                                          <p:spTgt spid="735"/>
                                        </p:tgtEl>
                                        <p:attrNameLst>
                                          <p:attrName>style.visibility</p:attrName>
                                        </p:attrNameLst>
                                      </p:cBhvr>
                                      <p:to>
                                        <p:strVal val="visible"/>
                                      </p:to>
                                    </p:set>
                                    <p:animEffect filter="fade" transition="in">
                                      <p:cBhvr>
                                        <p:cTn dur="500"/>
                                        <p:tgtEl>
                                          <p:spTgt spid="735"/>
                                        </p:tgtEl>
                                      </p:cBhvr>
                                    </p:animEffect>
                                  </p:childTnLst>
                                </p:cTn>
                              </p:par>
                              <p:par>
                                <p:cTn fill="hold" nodeType="withEffect" presetClass="entr" presetID="10" presetSubtype="0">
                                  <p:stCondLst>
                                    <p:cond delay="0"/>
                                  </p:stCondLst>
                                  <p:childTnLst>
                                    <p:set>
                                      <p:cBhvr>
                                        <p:cTn dur="1" fill="hold">
                                          <p:stCondLst>
                                            <p:cond delay="0"/>
                                          </p:stCondLst>
                                        </p:cTn>
                                        <p:tgtEl>
                                          <p:spTgt spid="736"/>
                                        </p:tgtEl>
                                        <p:attrNameLst>
                                          <p:attrName>style.visibility</p:attrName>
                                        </p:attrNameLst>
                                      </p:cBhvr>
                                      <p:to>
                                        <p:strVal val="visible"/>
                                      </p:to>
                                    </p:set>
                                    <p:animEffect filter="fade" transition="in">
                                      <p:cBhvr>
                                        <p:cTn dur="500"/>
                                        <p:tgtEl>
                                          <p:spTgt spid="736"/>
                                        </p:tgtEl>
                                      </p:cBhvr>
                                    </p:animEffect>
                                  </p:childTnLst>
                                </p:cTn>
                              </p:par>
                              <p:par>
                                <p:cTn fill="hold" nodeType="withEffect" presetClass="entr" presetID="10" presetSubtype="0">
                                  <p:stCondLst>
                                    <p:cond delay="0"/>
                                  </p:stCondLst>
                                  <p:childTnLst>
                                    <p:set>
                                      <p:cBhvr>
                                        <p:cTn dur="1" fill="hold">
                                          <p:stCondLst>
                                            <p:cond delay="0"/>
                                          </p:stCondLst>
                                        </p:cTn>
                                        <p:tgtEl>
                                          <p:spTgt spid="737"/>
                                        </p:tgtEl>
                                        <p:attrNameLst>
                                          <p:attrName>style.visibility</p:attrName>
                                        </p:attrNameLst>
                                      </p:cBhvr>
                                      <p:to>
                                        <p:strVal val="visible"/>
                                      </p:to>
                                    </p:set>
                                    <p:animEffect filter="fade" transition="in">
                                      <p:cBhvr>
                                        <p:cTn dur="500"/>
                                        <p:tgtEl>
                                          <p:spTgt spid="737"/>
                                        </p:tgtEl>
                                      </p:cBhvr>
                                    </p:animEffect>
                                  </p:childTnLst>
                                </p:cTn>
                              </p:par>
                              <p:par>
                                <p:cTn fill="hold" nodeType="withEffect" presetClass="entr" presetID="10" presetSubtype="0">
                                  <p:stCondLst>
                                    <p:cond delay="0"/>
                                  </p:stCondLst>
                                  <p:childTnLst>
                                    <p:set>
                                      <p:cBhvr>
                                        <p:cTn dur="1" fill="hold">
                                          <p:stCondLst>
                                            <p:cond delay="0"/>
                                          </p:stCondLst>
                                        </p:cTn>
                                        <p:tgtEl>
                                          <p:spTgt spid="738"/>
                                        </p:tgtEl>
                                        <p:attrNameLst>
                                          <p:attrName>style.visibility</p:attrName>
                                        </p:attrNameLst>
                                      </p:cBhvr>
                                      <p:to>
                                        <p:strVal val="visible"/>
                                      </p:to>
                                    </p:set>
                                    <p:animEffect filter="fade" transition="in">
                                      <p:cBhvr>
                                        <p:cTn dur="500"/>
                                        <p:tgtEl>
                                          <p:spTgt spid="738"/>
                                        </p:tgtEl>
                                      </p:cBhvr>
                                    </p:animEffect>
                                  </p:childTnLst>
                                </p:cTn>
                              </p:par>
                              <p:par>
                                <p:cTn fill="hold" nodeType="with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500"/>
                                        <p:tgtEl>
                                          <p:spTgt spid="7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743" name="Shape 743"/>
        <p:cNvGrpSpPr/>
        <p:nvPr/>
      </p:nvGrpSpPr>
      <p:grpSpPr>
        <a:xfrm>
          <a:off x="0" y="0"/>
          <a:ext cx="0" cy="0"/>
          <a:chOff x="0" y="0"/>
          <a:chExt cx="0" cy="0"/>
        </a:xfrm>
      </p:grpSpPr>
      <p:sp>
        <p:nvSpPr>
          <p:cNvPr id="744" name="Google Shape;744;p39"/>
          <p:cNvSpPr/>
          <p:nvPr/>
        </p:nvSpPr>
        <p:spPr>
          <a:xfrm>
            <a:off x="15926560" y="9040620"/>
            <a:ext cx="3191605" cy="3428482"/>
          </a:xfrm>
          <a:custGeom>
            <a:rect b="b" l="l" r="r" t="t"/>
            <a:pathLst>
              <a:path extrusionOk="0" h="3428482" w="3191605">
                <a:moveTo>
                  <a:pt x="0" y="0"/>
                </a:moveTo>
                <a:lnTo>
                  <a:pt x="3191605" y="0"/>
                </a:lnTo>
                <a:lnTo>
                  <a:pt x="3191605" y="3428481"/>
                </a:lnTo>
                <a:lnTo>
                  <a:pt x="0" y="3428481"/>
                </a:lnTo>
                <a:lnTo>
                  <a:pt x="0" y="0"/>
                </a:lnTo>
                <a:close/>
              </a:path>
            </a:pathLst>
          </a:custGeom>
          <a:blipFill rotWithShape="1">
            <a:blip r:embed="rId3">
              <a:alphaModFix/>
            </a:blip>
            <a:stretch>
              <a:fillRect b="0" l="0" r="0" t="0"/>
            </a:stretch>
          </a:blipFill>
          <a:ln>
            <a:noFill/>
          </a:ln>
        </p:spPr>
      </p:sp>
      <p:sp>
        <p:nvSpPr>
          <p:cNvPr id="745" name="Google Shape;745;p39"/>
          <p:cNvSpPr/>
          <p:nvPr/>
        </p:nvSpPr>
        <p:spPr>
          <a:xfrm>
            <a:off x="10598951" y="9160583"/>
            <a:ext cx="4993680" cy="1897598"/>
          </a:xfrm>
          <a:custGeom>
            <a:rect b="b" l="l" r="r" t="t"/>
            <a:pathLst>
              <a:path extrusionOk="0" h="1897598" w="4993680">
                <a:moveTo>
                  <a:pt x="0" y="0"/>
                </a:moveTo>
                <a:lnTo>
                  <a:pt x="4993679" y="0"/>
                </a:lnTo>
                <a:lnTo>
                  <a:pt x="4993679" y="1897598"/>
                </a:lnTo>
                <a:lnTo>
                  <a:pt x="0" y="1897598"/>
                </a:lnTo>
                <a:lnTo>
                  <a:pt x="0" y="0"/>
                </a:lnTo>
                <a:close/>
              </a:path>
            </a:pathLst>
          </a:custGeom>
          <a:blipFill rotWithShape="1">
            <a:blip r:embed="rId4">
              <a:alphaModFix/>
            </a:blip>
            <a:stretch>
              <a:fillRect b="0" l="0" r="0" t="0"/>
            </a:stretch>
          </a:blipFill>
          <a:ln>
            <a:noFill/>
          </a:ln>
        </p:spPr>
      </p:sp>
      <p:sp>
        <p:nvSpPr>
          <p:cNvPr id="746" name="Google Shape;746;p39"/>
          <p:cNvSpPr/>
          <p:nvPr/>
        </p:nvSpPr>
        <p:spPr>
          <a:xfrm>
            <a:off x="-830165" y="9040620"/>
            <a:ext cx="3889222" cy="4005753"/>
          </a:xfrm>
          <a:custGeom>
            <a:rect b="b" l="l" r="r" t="t"/>
            <a:pathLst>
              <a:path extrusionOk="0" h="4005753" w="3889222">
                <a:moveTo>
                  <a:pt x="0" y="0"/>
                </a:moveTo>
                <a:lnTo>
                  <a:pt x="3889222" y="0"/>
                </a:lnTo>
                <a:lnTo>
                  <a:pt x="3889222" y="4005752"/>
                </a:lnTo>
                <a:lnTo>
                  <a:pt x="0" y="4005752"/>
                </a:lnTo>
                <a:lnTo>
                  <a:pt x="0" y="0"/>
                </a:lnTo>
                <a:close/>
              </a:path>
            </a:pathLst>
          </a:custGeom>
          <a:blipFill rotWithShape="1">
            <a:blip r:embed="rId5">
              <a:alphaModFix/>
            </a:blip>
            <a:stretch>
              <a:fillRect b="0" l="0" r="0" t="0"/>
            </a:stretch>
          </a:blipFill>
          <a:ln>
            <a:noFill/>
          </a:ln>
        </p:spPr>
      </p:sp>
      <p:sp>
        <p:nvSpPr>
          <p:cNvPr id="747" name="Google Shape;747;p39"/>
          <p:cNvSpPr/>
          <p:nvPr/>
        </p:nvSpPr>
        <p:spPr>
          <a:xfrm>
            <a:off x="3059057" y="9057142"/>
            <a:ext cx="3731631" cy="2313611"/>
          </a:xfrm>
          <a:custGeom>
            <a:rect b="b" l="l" r="r" t="t"/>
            <a:pathLst>
              <a:path extrusionOk="0" h="2313611" w="3731631">
                <a:moveTo>
                  <a:pt x="0" y="0"/>
                </a:moveTo>
                <a:lnTo>
                  <a:pt x="3731630" y="0"/>
                </a:lnTo>
                <a:lnTo>
                  <a:pt x="3731630" y="2313611"/>
                </a:lnTo>
                <a:lnTo>
                  <a:pt x="0" y="2313611"/>
                </a:lnTo>
                <a:lnTo>
                  <a:pt x="0" y="0"/>
                </a:lnTo>
                <a:close/>
              </a:path>
            </a:pathLst>
          </a:custGeom>
          <a:blipFill rotWithShape="1">
            <a:blip r:embed="rId6">
              <a:alphaModFix/>
            </a:blip>
            <a:stretch>
              <a:fillRect b="0" l="0" r="0" t="0"/>
            </a:stretch>
          </a:blipFill>
          <a:ln>
            <a:noFill/>
          </a:ln>
        </p:spPr>
      </p:sp>
      <p:sp>
        <p:nvSpPr>
          <p:cNvPr id="748" name="Google Shape;748;p39"/>
          <p:cNvSpPr/>
          <p:nvPr/>
        </p:nvSpPr>
        <p:spPr>
          <a:xfrm>
            <a:off x="5366419" y="9040620"/>
            <a:ext cx="4899156" cy="4035123"/>
          </a:xfrm>
          <a:custGeom>
            <a:rect b="b" l="l" r="r" t="t"/>
            <a:pathLst>
              <a:path extrusionOk="0" h="4035123" w="4899156">
                <a:moveTo>
                  <a:pt x="0" y="0"/>
                </a:moveTo>
                <a:lnTo>
                  <a:pt x="4899157" y="0"/>
                </a:lnTo>
                <a:lnTo>
                  <a:pt x="4899157" y="4035123"/>
                </a:lnTo>
                <a:lnTo>
                  <a:pt x="0" y="4035123"/>
                </a:lnTo>
                <a:lnTo>
                  <a:pt x="0" y="0"/>
                </a:lnTo>
                <a:close/>
              </a:path>
            </a:pathLst>
          </a:custGeom>
          <a:blipFill rotWithShape="1">
            <a:blip r:embed="rId7">
              <a:alphaModFix/>
            </a:blip>
            <a:stretch>
              <a:fillRect b="0" l="0" r="0" t="0"/>
            </a:stretch>
          </a:blipFill>
          <a:ln>
            <a:noFill/>
          </a:ln>
        </p:spPr>
      </p:sp>
      <p:sp>
        <p:nvSpPr>
          <p:cNvPr id="749" name="Google Shape;749;p39"/>
          <p:cNvSpPr txBox="1"/>
          <p:nvPr/>
        </p:nvSpPr>
        <p:spPr>
          <a:xfrm>
            <a:off x="1952746" y="375905"/>
            <a:ext cx="14398872" cy="812165"/>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6500">
                <a:solidFill>
                  <a:srgbClr val="503C30"/>
                </a:solidFill>
                <a:latin typeface="Arial"/>
                <a:ea typeface="Arial"/>
                <a:cs typeface="Arial"/>
                <a:sym typeface="Arial"/>
              </a:rPr>
              <a:t>REFERENCIAS</a:t>
            </a:r>
            <a:endParaRPr/>
          </a:p>
        </p:txBody>
      </p:sp>
      <p:sp>
        <p:nvSpPr>
          <p:cNvPr id="750" name="Google Shape;750;p39"/>
          <p:cNvSpPr txBox="1"/>
          <p:nvPr/>
        </p:nvSpPr>
        <p:spPr>
          <a:xfrm>
            <a:off x="518887" y="1288685"/>
            <a:ext cx="17266500" cy="8400000"/>
          </a:xfrm>
          <a:prstGeom prst="rect">
            <a:avLst/>
          </a:prstGeom>
          <a:noFill/>
          <a:ln>
            <a:noFill/>
          </a:ln>
        </p:spPr>
        <p:txBody>
          <a:bodyPr anchorCtr="0" anchor="t" bIns="0" lIns="0" spcFirstLastPara="1" rIns="0" wrap="square" tIns="0">
            <a:spAutoFit/>
          </a:bodyPr>
          <a:lstStyle/>
          <a:p>
            <a:pPr indent="0" lvl="0" marL="0" marR="0" rtl="0" algn="l">
              <a:lnSpc>
                <a:spcPct val="184052"/>
              </a:lnSpc>
              <a:spcBef>
                <a:spcPts val="0"/>
              </a:spcBef>
              <a:spcAft>
                <a:spcPts val="0"/>
              </a:spcAft>
              <a:buNone/>
            </a:pPr>
            <a:r>
              <a:rPr lang="en-US" sz="1599">
                <a:solidFill>
                  <a:srgbClr val="503C30"/>
                </a:solidFill>
                <a:latin typeface="Inter"/>
                <a:ea typeface="Inter"/>
                <a:cs typeface="Inter"/>
                <a:sym typeface="Inter"/>
              </a:rPr>
              <a:t>Elbehiery, K. (2023, 28 de junio). A closer look at the OSI Model in computer network. OPIT Magazine. </a:t>
            </a:r>
            <a:r>
              <a:rPr lang="en-US" sz="1599" u="sng">
                <a:solidFill>
                  <a:srgbClr val="503C30"/>
                </a:solidFill>
                <a:latin typeface="Inter"/>
                <a:ea typeface="Inter"/>
                <a:cs typeface="Inter"/>
                <a:sym typeface="Inter"/>
                <a:hlinkClick r:id="rId8">
                  <a:extLst>
                    <a:ext uri="{A12FA001-AC4F-418D-AE19-62706E023703}">
                      <ahyp:hlinkClr val="tx"/>
                    </a:ext>
                  </a:extLst>
                </a:hlinkClick>
              </a:rPr>
              <a:t>https://www.opit.com/magazine/osi-model-in-computer-network/</a:t>
            </a:r>
            <a:endParaRPr/>
          </a:p>
          <a:p>
            <a:pPr indent="0" lvl="0" marL="0" marR="0" rtl="0" algn="l">
              <a:lnSpc>
                <a:spcPct val="184052"/>
              </a:lnSpc>
              <a:spcBef>
                <a:spcPts val="0"/>
              </a:spcBef>
              <a:spcAft>
                <a:spcPts val="0"/>
              </a:spcAft>
              <a:buNone/>
            </a:pPr>
            <a:r>
              <a:t/>
            </a:r>
            <a:endParaRPr sz="1599" u="sng">
              <a:solidFill>
                <a:srgbClr val="503C30"/>
              </a:solidFill>
              <a:latin typeface="Inter"/>
              <a:ea typeface="Inter"/>
              <a:cs typeface="Inter"/>
              <a:sym typeface="Inter"/>
              <a:hlinkClick r:id="rId9">
                <a:extLst>
                  <a:ext uri="{A12FA001-AC4F-418D-AE19-62706E023703}">
                    <ahyp:hlinkClr val="tx"/>
                  </a:ext>
                </a:extLst>
              </a:hlinkClick>
            </a:endParaRPr>
          </a:p>
          <a:p>
            <a:pPr indent="0" lvl="0" marL="0" marR="0" rtl="0" algn="l">
              <a:lnSpc>
                <a:spcPct val="184052"/>
              </a:lnSpc>
              <a:spcBef>
                <a:spcPts val="0"/>
              </a:spcBef>
              <a:spcAft>
                <a:spcPts val="0"/>
              </a:spcAft>
              <a:buNone/>
            </a:pPr>
            <a:r>
              <a:rPr lang="en-US" sz="1599">
                <a:solidFill>
                  <a:srgbClr val="503C30"/>
                </a:solidFill>
                <a:latin typeface="Inter"/>
                <a:ea typeface="Inter"/>
                <a:cs typeface="Inter"/>
                <a:sym typeface="Inter"/>
              </a:rPr>
              <a:t>GeeksforGeeks. (2025, October 13). Transport layer in OSI model. GeeksforGeeks. </a:t>
            </a:r>
            <a:r>
              <a:rPr lang="en-US" sz="1599" u="sng">
                <a:solidFill>
                  <a:srgbClr val="503C30"/>
                </a:solidFill>
                <a:latin typeface="Inter"/>
                <a:ea typeface="Inter"/>
                <a:cs typeface="Inter"/>
                <a:sym typeface="Inter"/>
                <a:hlinkClick r:id="rId10">
                  <a:extLst>
                    <a:ext uri="{A12FA001-AC4F-418D-AE19-62706E023703}">
                      <ahyp:hlinkClr val="tx"/>
                    </a:ext>
                  </a:extLst>
                </a:hlinkClick>
              </a:rPr>
              <a:t>https://www.geeksforgeeks.org/computer-networks/transport-layer-in-osi-model/</a:t>
            </a:r>
            <a:endParaRPr/>
          </a:p>
          <a:p>
            <a:pPr indent="0" lvl="0" marL="0" marR="0" rtl="0" algn="l">
              <a:lnSpc>
                <a:spcPct val="184052"/>
              </a:lnSpc>
              <a:spcBef>
                <a:spcPts val="0"/>
              </a:spcBef>
              <a:spcAft>
                <a:spcPts val="0"/>
              </a:spcAft>
              <a:buNone/>
            </a:pPr>
            <a:r>
              <a:t/>
            </a:r>
            <a:endParaRPr sz="1599" u="sng">
              <a:solidFill>
                <a:srgbClr val="503C30"/>
              </a:solidFill>
              <a:latin typeface="Inter"/>
              <a:ea typeface="Inter"/>
              <a:cs typeface="Inter"/>
              <a:sym typeface="Inter"/>
              <a:hlinkClick r:id="rId11">
                <a:extLst>
                  <a:ext uri="{A12FA001-AC4F-418D-AE19-62706E023703}">
                    <ahyp:hlinkClr val="tx"/>
                  </a:ext>
                </a:extLst>
              </a:hlinkClick>
            </a:endParaRPr>
          </a:p>
          <a:p>
            <a:pPr indent="0" lvl="0" marL="0" marR="0" rtl="0" algn="l">
              <a:lnSpc>
                <a:spcPct val="184052"/>
              </a:lnSpc>
              <a:spcBef>
                <a:spcPts val="0"/>
              </a:spcBef>
              <a:spcAft>
                <a:spcPts val="0"/>
              </a:spcAft>
              <a:buNone/>
            </a:pPr>
            <a:r>
              <a:rPr lang="en-US" sz="1599">
                <a:solidFill>
                  <a:srgbClr val="503C30"/>
                </a:solidFill>
                <a:latin typeface="Inter"/>
                <a:ea typeface="Inter"/>
                <a:cs typeface="Inter"/>
                <a:sym typeface="Inter"/>
              </a:rPr>
              <a:t>Hosting. (2025, mayo 15). ¿Qué es el modelo OSI? Guía completa. Blog HostingTG. </a:t>
            </a:r>
            <a:r>
              <a:rPr lang="en-US" sz="1599" u="sng">
                <a:solidFill>
                  <a:srgbClr val="503C30"/>
                </a:solidFill>
                <a:latin typeface="Inter"/>
                <a:ea typeface="Inter"/>
                <a:cs typeface="Inter"/>
                <a:sym typeface="Inter"/>
                <a:hlinkClick r:id="rId12">
                  <a:extLst>
                    <a:ext uri="{A12FA001-AC4F-418D-AE19-62706E023703}">
                      <ahyp:hlinkClr val="tx"/>
                    </a:ext>
                  </a:extLst>
                </a:hlinkClick>
              </a:rPr>
              <a:t>https://www.hostingtg.com/blog/modelo-osi/#Capas_y_Arquitectura_del_Modelo_OSI</a:t>
            </a:r>
            <a:endParaRPr/>
          </a:p>
          <a:p>
            <a:pPr indent="0" lvl="0" marL="0" marR="0" rtl="0" algn="l">
              <a:lnSpc>
                <a:spcPct val="184052"/>
              </a:lnSpc>
              <a:spcBef>
                <a:spcPts val="0"/>
              </a:spcBef>
              <a:spcAft>
                <a:spcPts val="0"/>
              </a:spcAft>
              <a:buNone/>
            </a:pPr>
            <a:r>
              <a:t/>
            </a:r>
            <a:endParaRPr sz="1599" u="sng">
              <a:solidFill>
                <a:srgbClr val="503C30"/>
              </a:solidFill>
              <a:latin typeface="Inter"/>
              <a:ea typeface="Inter"/>
              <a:cs typeface="Inter"/>
              <a:sym typeface="Inter"/>
              <a:hlinkClick r:id="rId13">
                <a:extLst>
                  <a:ext uri="{A12FA001-AC4F-418D-AE19-62706E023703}">
                    <ahyp:hlinkClr val="tx"/>
                  </a:ext>
                </a:extLst>
              </a:hlinkClick>
            </a:endParaRPr>
          </a:p>
          <a:p>
            <a:pPr indent="0" lvl="0" marL="0" marR="0" rtl="0" algn="l">
              <a:lnSpc>
                <a:spcPct val="184052"/>
              </a:lnSpc>
              <a:spcBef>
                <a:spcPts val="0"/>
              </a:spcBef>
              <a:spcAft>
                <a:spcPts val="0"/>
              </a:spcAft>
              <a:buNone/>
            </a:pPr>
            <a:r>
              <a:rPr lang="en-US" sz="1599">
                <a:solidFill>
                  <a:srgbClr val="503C30"/>
                </a:solidFill>
                <a:latin typeface="Inter"/>
                <a:ea typeface="Inter"/>
                <a:cs typeface="Inter"/>
                <a:sym typeface="Inter"/>
              </a:rPr>
              <a:t>MACVerify.com. (n.d.). Network Protocol Reference Guide - OSI Model &amp; TCP/IP Stack | MACVerify. </a:t>
            </a:r>
            <a:r>
              <a:rPr lang="en-US" sz="1599" u="sng">
                <a:solidFill>
                  <a:srgbClr val="503C30"/>
                </a:solidFill>
                <a:latin typeface="Inter"/>
                <a:ea typeface="Inter"/>
                <a:cs typeface="Inter"/>
                <a:sym typeface="Inter"/>
                <a:hlinkClick r:id="rId14">
                  <a:extLst>
                    <a:ext uri="{A12FA001-AC4F-418D-AE19-62706E023703}">
                      <ahyp:hlinkClr val="tx"/>
                    </a:ext>
                  </a:extLst>
                </a:hlinkClick>
              </a:rPr>
              <a:t>https://www.macverify.com/blog/protocol-reference.php?utm_source</a:t>
            </a:r>
            <a:endParaRPr/>
          </a:p>
          <a:p>
            <a:pPr indent="0" lvl="0" marL="0" marR="0" rtl="0" algn="l">
              <a:lnSpc>
                <a:spcPct val="184052"/>
              </a:lnSpc>
              <a:spcBef>
                <a:spcPts val="0"/>
              </a:spcBef>
              <a:spcAft>
                <a:spcPts val="0"/>
              </a:spcAft>
              <a:buNone/>
            </a:pPr>
            <a:r>
              <a:t/>
            </a:r>
            <a:endParaRPr sz="1599" u="sng">
              <a:solidFill>
                <a:srgbClr val="503C30"/>
              </a:solidFill>
              <a:latin typeface="Inter"/>
              <a:ea typeface="Inter"/>
              <a:cs typeface="Inter"/>
              <a:sym typeface="Inter"/>
              <a:hlinkClick r:id="rId15">
                <a:extLst>
                  <a:ext uri="{A12FA001-AC4F-418D-AE19-62706E023703}">
                    <ahyp:hlinkClr val="tx"/>
                  </a:ext>
                </a:extLst>
              </a:hlinkClick>
            </a:endParaRPr>
          </a:p>
          <a:p>
            <a:pPr indent="0" lvl="0" marL="0" marR="0" rtl="0" algn="l">
              <a:lnSpc>
                <a:spcPct val="184052"/>
              </a:lnSpc>
              <a:spcBef>
                <a:spcPts val="0"/>
              </a:spcBef>
              <a:spcAft>
                <a:spcPts val="0"/>
              </a:spcAft>
              <a:buNone/>
            </a:pPr>
            <a:r>
              <a:rPr lang="en-US" sz="1599">
                <a:solidFill>
                  <a:srgbClr val="503C30"/>
                </a:solidFill>
                <a:latin typeface="Inter"/>
                <a:ea typeface="Inter"/>
                <a:cs typeface="Inter"/>
                <a:sym typeface="Inter"/>
              </a:rPr>
              <a:t>Madhuram. (2021, 20 febrero). OSI model explained | Info Cellar. Info Cellar. </a:t>
            </a:r>
            <a:r>
              <a:rPr lang="en-US" sz="1599" u="sng">
                <a:solidFill>
                  <a:srgbClr val="503C30"/>
                </a:solidFill>
                <a:latin typeface="Inter"/>
                <a:ea typeface="Inter"/>
                <a:cs typeface="Inter"/>
                <a:sym typeface="Inter"/>
                <a:hlinkClick r:id="rId16">
                  <a:extLst>
                    <a:ext uri="{A12FA001-AC4F-418D-AE19-62706E023703}">
                      <ahyp:hlinkClr val="tx"/>
                    </a:ext>
                  </a:extLst>
                </a:hlinkClick>
              </a:rPr>
              <a:t>https://infocellar.com/networks/osi-model/#:~:text=de%20193%20bits).-,Comunicaci%C3%B3n%20entre%20capas%20(comunicaci%C3%B3n%20vertical),transmite%20los%20datos%20hacia%20arriba</a:t>
            </a:r>
            <a:endParaRPr/>
          </a:p>
          <a:p>
            <a:pPr indent="0" lvl="0" marL="0" marR="0" rtl="0" algn="l">
              <a:lnSpc>
                <a:spcPct val="184052"/>
              </a:lnSpc>
              <a:spcBef>
                <a:spcPts val="0"/>
              </a:spcBef>
              <a:spcAft>
                <a:spcPts val="0"/>
              </a:spcAft>
              <a:buNone/>
            </a:pPr>
            <a:r>
              <a:t/>
            </a:r>
            <a:endParaRPr sz="1599" u="sng">
              <a:solidFill>
                <a:srgbClr val="503C30"/>
              </a:solidFill>
              <a:latin typeface="Inter"/>
              <a:ea typeface="Inter"/>
              <a:cs typeface="Inter"/>
              <a:sym typeface="Inter"/>
              <a:hlinkClick r:id="rId17">
                <a:extLst>
                  <a:ext uri="{A12FA001-AC4F-418D-AE19-62706E023703}">
                    <ahyp:hlinkClr val="tx"/>
                  </a:ext>
                </a:extLst>
              </a:hlinkClick>
            </a:endParaRPr>
          </a:p>
          <a:p>
            <a:pPr indent="0" lvl="0" marL="0" marR="0" rtl="0" algn="l">
              <a:lnSpc>
                <a:spcPct val="184052"/>
              </a:lnSpc>
              <a:spcBef>
                <a:spcPts val="0"/>
              </a:spcBef>
              <a:spcAft>
                <a:spcPts val="0"/>
              </a:spcAft>
              <a:buNone/>
            </a:pPr>
            <a:r>
              <a:rPr lang="en-US" sz="1599">
                <a:solidFill>
                  <a:srgbClr val="503C30"/>
                </a:solidFill>
                <a:latin typeface="Inter"/>
                <a:ea typeface="Inter"/>
                <a:cs typeface="Inter"/>
                <a:sym typeface="Inter"/>
              </a:rPr>
              <a:t>Madhuram. (2021, 20 febrero). OSI model explained | Info Cellar. Info Cellar. https://infocellar.com/networks/osi-model/#:~:text=de%20193%20bits).-,Comunicaci%C3%B3n%20entre%20capas%20(comunicaci%C3%B3n%20vertical),transmite%20los%20datos%20hacia%20arriba</a:t>
            </a:r>
            <a:endParaRPr/>
          </a:p>
          <a:p>
            <a:pPr indent="0" lvl="0" marL="0" marR="0" rtl="0" algn="l">
              <a:lnSpc>
                <a:spcPct val="184052"/>
              </a:lnSpc>
              <a:spcBef>
                <a:spcPts val="0"/>
              </a:spcBef>
              <a:spcAft>
                <a:spcPts val="0"/>
              </a:spcAft>
              <a:buNone/>
            </a:pPr>
            <a:r>
              <a:t/>
            </a:r>
            <a:endParaRPr sz="1599">
              <a:solidFill>
                <a:srgbClr val="503C30"/>
              </a:solidFill>
              <a:latin typeface="Inter"/>
              <a:ea typeface="Inter"/>
              <a:cs typeface="Inter"/>
              <a:sym typeface="Inter"/>
            </a:endParaRPr>
          </a:p>
          <a:p>
            <a:pPr indent="0" lvl="0" marL="0" marR="0" rtl="0" algn="l">
              <a:lnSpc>
                <a:spcPct val="184052"/>
              </a:lnSpc>
              <a:spcBef>
                <a:spcPts val="0"/>
              </a:spcBef>
              <a:spcAft>
                <a:spcPts val="0"/>
              </a:spcAft>
              <a:buNone/>
            </a:pPr>
            <a:r>
              <a:rPr lang="en-US" sz="1599">
                <a:solidFill>
                  <a:srgbClr val="503C30"/>
                </a:solidFill>
                <a:latin typeface="Inter"/>
                <a:ea typeface="Inter"/>
                <a:cs typeface="Inter"/>
                <a:sym typeface="Inter"/>
              </a:rPr>
              <a:t>Odedra, D. (2025, 4 septiembre). OSI model: Explained. Control D Blog. https://acortar.link/ZLMbfQ</a:t>
            </a:r>
            <a:endParaRPr/>
          </a:p>
          <a:p>
            <a:pPr indent="0" lvl="0" marL="0" marR="0" rtl="0" algn="l">
              <a:lnSpc>
                <a:spcPct val="184052"/>
              </a:lnSpc>
              <a:spcBef>
                <a:spcPts val="0"/>
              </a:spcBef>
              <a:spcAft>
                <a:spcPts val="0"/>
              </a:spcAft>
              <a:buNone/>
            </a:pPr>
            <a:r>
              <a:rPr lang="en-US" sz="1599">
                <a:solidFill>
                  <a:srgbClr val="503C30"/>
                </a:solidFill>
                <a:latin typeface="Inter"/>
                <a:ea typeface="Inter"/>
                <a:cs typeface="Inter"/>
                <a:sym typeface="Inter"/>
              </a:rPr>
              <a:t>Proofpoint. (2024, 13 mayo). ¿Qué es el modelo OSI? - Definición, capas y más | Proofpoint ES. https://www.proofpoint.com/es/threat-reference/osi-model</a:t>
            </a:r>
            <a:endParaRPr/>
          </a:p>
          <a:p>
            <a:pPr indent="0" lvl="0" marL="0" marR="0" rtl="0" algn="l">
              <a:lnSpc>
                <a:spcPct val="184052"/>
              </a:lnSpc>
              <a:spcBef>
                <a:spcPts val="0"/>
              </a:spcBef>
              <a:spcAft>
                <a:spcPts val="0"/>
              </a:spcAft>
              <a:buNone/>
            </a:pPr>
            <a:r>
              <a:t/>
            </a:r>
            <a:endParaRPr sz="1599">
              <a:solidFill>
                <a:srgbClr val="503C30"/>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500"/>
                                        <p:tgtEl>
                                          <p:spTgt spid="744"/>
                                        </p:tgtEl>
                                      </p:cBhvr>
                                    </p:animEffect>
                                  </p:childTnLst>
                                </p:cTn>
                              </p:par>
                              <p:par>
                                <p:cTn fill="hold" nodeType="withEffect" presetClass="entr" presetID="10" presetSubtype="0">
                                  <p:stCondLst>
                                    <p:cond delay="0"/>
                                  </p:stCondLst>
                                  <p:childTnLst>
                                    <p:set>
                                      <p:cBhvr>
                                        <p:cTn dur="1" fill="hold">
                                          <p:stCondLst>
                                            <p:cond delay="0"/>
                                          </p:stCondLst>
                                        </p:cTn>
                                        <p:tgtEl>
                                          <p:spTgt spid="745"/>
                                        </p:tgtEl>
                                        <p:attrNameLst>
                                          <p:attrName>style.visibility</p:attrName>
                                        </p:attrNameLst>
                                      </p:cBhvr>
                                      <p:to>
                                        <p:strVal val="visible"/>
                                      </p:to>
                                    </p:set>
                                    <p:animEffect filter="fade" transition="in">
                                      <p:cBhvr>
                                        <p:cTn dur="500"/>
                                        <p:tgtEl>
                                          <p:spTgt spid="745"/>
                                        </p:tgtEl>
                                      </p:cBhvr>
                                    </p:animEffect>
                                  </p:childTnLst>
                                </p:cTn>
                              </p:par>
                              <p:par>
                                <p:cTn fill="hold" nodeType="withEffect" presetClass="entr" presetID="10" presetSubtype="0">
                                  <p:stCondLst>
                                    <p:cond delay="0"/>
                                  </p:stCondLst>
                                  <p:childTnLst>
                                    <p:set>
                                      <p:cBhvr>
                                        <p:cTn dur="1" fill="hold">
                                          <p:stCondLst>
                                            <p:cond delay="0"/>
                                          </p:stCondLst>
                                        </p:cTn>
                                        <p:tgtEl>
                                          <p:spTgt spid="746"/>
                                        </p:tgtEl>
                                        <p:attrNameLst>
                                          <p:attrName>style.visibility</p:attrName>
                                        </p:attrNameLst>
                                      </p:cBhvr>
                                      <p:to>
                                        <p:strVal val="visible"/>
                                      </p:to>
                                    </p:set>
                                    <p:animEffect filter="fade" transition="in">
                                      <p:cBhvr>
                                        <p:cTn dur="500"/>
                                        <p:tgtEl>
                                          <p:spTgt spid="746"/>
                                        </p:tgtEl>
                                      </p:cBhvr>
                                    </p:animEffect>
                                  </p:childTnLst>
                                </p:cTn>
                              </p:par>
                              <p:par>
                                <p:cTn fill="hold" nodeType="withEffect" presetClass="entr" presetID="10" presetSubtype="0">
                                  <p:stCondLst>
                                    <p:cond delay="0"/>
                                  </p:stCondLst>
                                  <p:childTnLst>
                                    <p:set>
                                      <p:cBhvr>
                                        <p:cTn dur="1" fill="hold">
                                          <p:stCondLst>
                                            <p:cond delay="0"/>
                                          </p:stCondLst>
                                        </p:cTn>
                                        <p:tgtEl>
                                          <p:spTgt spid="747"/>
                                        </p:tgtEl>
                                        <p:attrNameLst>
                                          <p:attrName>style.visibility</p:attrName>
                                        </p:attrNameLst>
                                      </p:cBhvr>
                                      <p:to>
                                        <p:strVal val="visible"/>
                                      </p:to>
                                    </p:set>
                                    <p:animEffect filter="fade" transition="in">
                                      <p:cBhvr>
                                        <p:cTn dur="500"/>
                                        <p:tgtEl>
                                          <p:spTgt spid="747"/>
                                        </p:tgtEl>
                                      </p:cBhvr>
                                    </p:animEffect>
                                  </p:childTnLst>
                                </p:cTn>
                              </p:par>
                              <p:par>
                                <p:cTn fill="hold" nodeType="withEffect" presetClass="entr" presetID="10" presetSubtype="0">
                                  <p:stCondLst>
                                    <p:cond delay="0"/>
                                  </p:stCondLst>
                                  <p:childTnLst>
                                    <p:set>
                                      <p:cBhvr>
                                        <p:cTn dur="1" fill="hold">
                                          <p:stCondLst>
                                            <p:cond delay="0"/>
                                          </p:stCondLst>
                                        </p:cTn>
                                        <p:tgtEl>
                                          <p:spTgt spid="748"/>
                                        </p:tgtEl>
                                        <p:attrNameLst>
                                          <p:attrName>style.visibility</p:attrName>
                                        </p:attrNameLst>
                                      </p:cBhvr>
                                      <p:to>
                                        <p:strVal val="visible"/>
                                      </p:to>
                                    </p:set>
                                    <p:animEffect filter="fade" transition="in">
                                      <p:cBhvr>
                                        <p:cTn dur="500"/>
                                        <p:tgtEl>
                                          <p:spTgt spid="748"/>
                                        </p:tgtEl>
                                      </p:cBhvr>
                                    </p:animEffect>
                                  </p:childTnLst>
                                </p:cTn>
                              </p:par>
                              <p:par>
                                <p:cTn fill="hold" nodeType="withEffect" presetClass="entr" presetID="10" presetSubtype="0">
                                  <p:stCondLst>
                                    <p:cond delay="0"/>
                                  </p:stCondLst>
                                  <p:childTnLst>
                                    <p:set>
                                      <p:cBhvr>
                                        <p:cTn dur="1" fill="hold">
                                          <p:stCondLst>
                                            <p:cond delay="0"/>
                                          </p:stCondLst>
                                        </p:cTn>
                                        <p:tgtEl>
                                          <p:spTgt spid="749"/>
                                        </p:tgtEl>
                                        <p:attrNameLst>
                                          <p:attrName>style.visibility</p:attrName>
                                        </p:attrNameLst>
                                      </p:cBhvr>
                                      <p:to>
                                        <p:strVal val="visible"/>
                                      </p:to>
                                    </p:set>
                                    <p:animEffect filter="fade" transition="in">
                                      <p:cBhvr>
                                        <p:cTn dur="500"/>
                                        <p:tgtEl>
                                          <p:spTgt spid="749"/>
                                        </p:tgtEl>
                                      </p:cBhvr>
                                    </p:animEffect>
                                  </p:childTnLst>
                                </p:cTn>
                              </p:par>
                              <p:par>
                                <p:cTn fill="hold" nodeType="withEffect" presetClass="entr" presetID="10" presetSubtype="0">
                                  <p:stCondLst>
                                    <p:cond delay="0"/>
                                  </p:stCondLst>
                                  <p:childTnLst>
                                    <p:set>
                                      <p:cBhvr>
                                        <p:cTn dur="1" fill="hold">
                                          <p:stCondLst>
                                            <p:cond delay="0"/>
                                          </p:stCondLst>
                                        </p:cTn>
                                        <p:tgtEl>
                                          <p:spTgt spid="750"/>
                                        </p:tgtEl>
                                        <p:attrNameLst>
                                          <p:attrName>style.visibility</p:attrName>
                                        </p:attrNameLst>
                                      </p:cBhvr>
                                      <p:to>
                                        <p:strVal val="visible"/>
                                      </p:to>
                                    </p:set>
                                    <p:animEffect filter="fade" transition="in">
                                      <p:cBhvr>
                                        <p:cTn dur="500"/>
                                        <p:tgtEl>
                                          <p:spTgt spid="7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754" name="Shape 754"/>
        <p:cNvGrpSpPr/>
        <p:nvPr/>
      </p:nvGrpSpPr>
      <p:grpSpPr>
        <a:xfrm>
          <a:off x="0" y="0"/>
          <a:ext cx="0" cy="0"/>
          <a:chOff x="0" y="0"/>
          <a:chExt cx="0" cy="0"/>
        </a:xfrm>
      </p:grpSpPr>
      <p:sp>
        <p:nvSpPr>
          <p:cNvPr id="755" name="Google Shape;755;p40"/>
          <p:cNvSpPr/>
          <p:nvPr/>
        </p:nvSpPr>
        <p:spPr>
          <a:xfrm>
            <a:off x="15926560" y="9040620"/>
            <a:ext cx="3191605" cy="3428482"/>
          </a:xfrm>
          <a:custGeom>
            <a:rect b="b" l="l" r="r" t="t"/>
            <a:pathLst>
              <a:path extrusionOk="0" h="3428482" w="3191605">
                <a:moveTo>
                  <a:pt x="0" y="0"/>
                </a:moveTo>
                <a:lnTo>
                  <a:pt x="3191605" y="0"/>
                </a:lnTo>
                <a:lnTo>
                  <a:pt x="3191605" y="3428481"/>
                </a:lnTo>
                <a:lnTo>
                  <a:pt x="0" y="3428481"/>
                </a:lnTo>
                <a:lnTo>
                  <a:pt x="0" y="0"/>
                </a:lnTo>
                <a:close/>
              </a:path>
            </a:pathLst>
          </a:custGeom>
          <a:blipFill rotWithShape="1">
            <a:blip r:embed="rId3">
              <a:alphaModFix/>
            </a:blip>
            <a:stretch>
              <a:fillRect b="0" l="0" r="0" t="0"/>
            </a:stretch>
          </a:blipFill>
          <a:ln>
            <a:noFill/>
          </a:ln>
        </p:spPr>
      </p:sp>
      <p:sp>
        <p:nvSpPr>
          <p:cNvPr id="756" name="Google Shape;756;p40"/>
          <p:cNvSpPr/>
          <p:nvPr/>
        </p:nvSpPr>
        <p:spPr>
          <a:xfrm>
            <a:off x="10598951" y="9160583"/>
            <a:ext cx="4993680" cy="1897598"/>
          </a:xfrm>
          <a:custGeom>
            <a:rect b="b" l="l" r="r" t="t"/>
            <a:pathLst>
              <a:path extrusionOk="0" h="1897598" w="4993680">
                <a:moveTo>
                  <a:pt x="0" y="0"/>
                </a:moveTo>
                <a:lnTo>
                  <a:pt x="4993679" y="0"/>
                </a:lnTo>
                <a:lnTo>
                  <a:pt x="4993679" y="1897598"/>
                </a:lnTo>
                <a:lnTo>
                  <a:pt x="0" y="1897598"/>
                </a:lnTo>
                <a:lnTo>
                  <a:pt x="0" y="0"/>
                </a:lnTo>
                <a:close/>
              </a:path>
            </a:pathLst>
          </a:custGeom>
          <a:blipFill rotWithShape="1">
            <a:blip r:embed="rId4">
              <a:alphaModFix/>
            </a:blip>
            <a:stretch>
              <a:fillRect b="0" l="0" r="0" t="0"/>
            </a:stretch>
          </a:blipFill>
          <a:ln>
            <a:noFill/>
          </a:ln>
        </p:spPr>
      </p:sp>
      <p:sp>
        <p:nvSpPr>
          <p:cNvPr id="757" name="Google Shape;757;p40"/>
          <p:cNvSpPr/>
          <p:nvPr/>
        </p:nvSpPr>
        <p:spPr>
          <a:xfrm>
            <a:off x="-830165" y="9040620"/>
            <a:ext cx="3889222" cy="4005753"/>
          </a:xfrm>
          <a:custGeom>
            <a:rect b="b" l="l" r="r" t="t"/>
            <a:pathLst>
              <a:path extrusionOk="0" h="4005753" w="3889222">
                <a:moveTo>
                  <a:pt x="0" y="0"/>
                </a:moveTo>
                <a:lnTo>
                  <a:pt x="3889222" y="0"/>
                </a:lnTo>
                <a:lnTo>
                  <a:pt x="3889222" y="4005752"/>
                </a:lnTo>
                <a:lnTo>
                  <a:pt x="0" y="4005752"/>
                </a:lnTo>
                <a:lnTo>
                  <a:pt x="0" y="0"/>
                </a:lnTo>
                <a:close/>
              </a:path>
            </a:pathLst>
          </a:custGeom>
          <a:blipFill rotWithShape="1">
            <a:blip r:embed="rId5">
              <a:alphaModFix/>
            </a:blip>
            <a:stretch>
              <a:fillRect b="0" l="0" r="0" t="0"/>
            </a:stretch>
          </a:blipFill>
          <a:ln>
            <a:noFill/>
          </a:ln>
        </p:spPr>
      </p:sp>
      <p:sp>
        <p:nvSpPr>
          <p:cNvPr id="758" name="Google Shape;758;p40"/>
          <p:cNvSpPr/>
          <p:nvPr/>
        </p:nvSpPr>
        <p:spPr>
          <a:xfrm>
            <a:off x="3059057" y="9057142"/>
            <a:ext cx="3731631" cy="2313611"/>
          </a:xfrm>
          <a:custGeom>
            <a:rect b="b" l="l" r="r" t="t"/>
            <a:pathLst>
              <a:path extrusionOk="0" h="2313611" w="3731631">
                <a:moveTo>
                  <a:pt x="0" y="0"/>
                </a:moveTo>
                <a:lnTo>
                  <a:pt x="3731630" y="0"/>
                </a:lnTo>
                <a:lnTo>
                  <a:pt x="3731630" y="2313611"/>
                </a:lnTo>
                <a:lnTo>
                  <a:pt x="0" y="2313611"/>
                </a:lnTo>
                <a:lnTo>
                  <a:pt x="0" y="0"/>
                </a:lnTo>
                <a:close/>
              </a:path>
            </a:pathLst>
          </a:custGeom>
          <a:blipFill rotWithShape="1">
            <a:blip r:embed="rId6">
              <a:alphaModFix/>
            </a:blip>
            <a:stretch>
              <a:fillRect b="0" l="0" r="0" t="0"/>
            </a:stretch>
          </a:blipFill>
          <a:ln>
            <a:noFill/>
          </a:ln>
        </p:spPr>
      </p:sp>
      <p:sp>
        <p:nvSpPr>
          <p:cNvPr id="759" name="Google Shape;759;p40"/>
          <p:cNvSpPr/>
          <p:nvPr/>
        </p:nvSpPr>
        <p:spPr>
          <a:xfrm>
            <a:off x="5366419" y="9040620"/>
            <a:ext cx="4899156" cy="4035123"/>
          </a:xfrm>
          <a:custGeom>
            <a:rect b="b" l="l" r="r" t="t"/>
            <a:pathLst>
              <a:path extrusionOk="0" h="4035123" w="4899156">
                <a:moveTo>
                  <a:pt x="0" y="0"/>
                </a:moveTo>
                <a:lnTo>
                  <a:pt x="4899157" y="0"/>
                </a:lnTo>
                <a:lnTo>
                  <a:pt x="4899157" y="4035123"/>
                </a:lnTo>
                <a:lnTo>
                  <a:pt x="0" y="4035123"/>
                </a:lnTo>
                <a:lnTo>
                  <a:pt x="0" y="0"/>
                </a:lnTo>
                <a:close/>
              </a:path>
            </a:pathLst>
          </a:custGeom>
          <a:blipFill rotWithShape="1">
            <a:blip r:embed="rId7">
              <a:alphaModFix/>
            </a:blip>
            <a:stretch>
              <a:fillRect b="0" l="0" r="0" t="0"/>
            </a:stretch>
          </a:blipFill>
          <a:ln>
            <a:noFill/>
          </a:ln>
        </p:spPr>
      </p:sp>
      <p:sp>
        <p:nvSpPr>
          <p:cNvPr id="760" name="Google Shape;760;p40"/>
          <p:cNvSpPr txBox="1"/>
          <p:nvPr/>
        </p:nvSpPr>
        <p:spPr>
          <a:xfrm>
            <a:off x="1944564" y="423550"/>
            <a:ext cx="14398872" cy="812165"/>
          </a:xfrm>
          <a:prstGeom prst="rect">
            <a:avLst/>
          </a:prstGeom>
          <a:noFill/>
          <a:ln>
            <a:noFill/>
          </a:ln>
        </p:spPr>
        <p:txBody>
          <a:bodyPr anchorCtr="0" anchor="t" bIns="0" lIns="0" spcFirstLastPara="1" rIns="0" wrap="square" tIns="0">
            <a:spAutoFit/>
          </a:bodyPr>
          <a:lstStyle/>
          <a:p>
            <a:pPr indent="0" lvl="0" marL="0" marR="0" rtl="0" algn="ctr">
              <a:lnSpc>
                <a:spcPct val="92000"/>
              </a:lnSpc>
              <a:spcBef>
                <a:spcPts val="0"/>
              </a:spcBef>
              <a:spcAft>
                <a:spcPts val="0"/>
              </a:spcAft>
              <a:buNone/>
            </a:pPr>
            <a:r>
              <a:rPr lang="en-US" sz="6500">
                <a:solidFill>
                  <a:srgbClr val="503C30"/>
                </a:solidFill>
                <a:latin typeface="Arial"/>
                <a:ea typeface="Arial"/>
                <a:cs typeface="Arial"/>
                <a:sym typeface="Arial"/>
              </a:rPr>
              <a:t>REFERENCIAS</a:t>
            </a:r>
            <a:endParaRPr/>
          </a:p>
        </p:txBody>
      </p:sp>
      <p:sp>
        <p:nvSpPr>
          <p:cNvPr id="761" name="Google Shape;761;p40"/>
          <p:cNvSpPr txBox="1"/>
          <p:nvPr/>
        </p:nvSpPr>
        <p:spPr>
          <a:xfrm>
            <a:off x="640315" y="1600014"/>
            <a:ext cx="17360700" cy="7440600"/>
          </a:xfrm>
          <a:prstGeom prst="rect">
            <a:avLst/>
          </a:prstGeom>
          <a:noFill/>
          <a:ln>
            <a:noFill/>
          </a:ln>
        </p:spPr>
        <p:txBody>
          <a:bodyPr anchorCtr="0" anchor="t" bIns="0" lIns="0" spcFirstLastPara="1" rIns="0" wrap="square" tIns="0">
            <a:spAutoFit/>
          </a:bodyPr>
          <a:lstStyle/>
          <a:p>
            <a:pPr indent="0" lvl="0" marL="0" marR="0" rtl="0" algn="l">
              <a:lnSpc>
                <a:spcPct val="168045"/>
              </a:lnSpc>
              <a:spcBef>
                <a:spcPts val="0"/>
              </a:spcBef>
              <a:spcAft>
                <a:spcPts val="0"/>
              </a:spcAft>
              <a:buNone/>
            </a:pPr>
            <a:r>
              <a:rPr b="1" lang="en-US" sz="1468" strike="noStrike">
                <a:solidFill>
                  <a:srgbClr val="503C30"/>
                </a:solidFill>
                <a:highlight>
                  <a:srgbClr val="FAD02C"/>
                </a:highlight>
                <a:latin typeface="Inter"/>
                <a:ea typeface="Inter"/>
                <a:cs typeface="Inter"/>
                <a:sym typeface="Inter"/>
              </a:rPr>
              <a:t>Romero Lazaro, I. J., Contreras Avendaño, S. D., &amp; Osvaldo Andrés, M. M. (2023). Diseño de una red de datos basado en un modelo de capa OSI para un CCTV dirigido a PCD MOTRIZ en el municipio de Sincelejo - Sucre. Revista Inventum, 18(34), 48–57. https://doi.org/10.26620/uniminuto.inventum.18.34.2023.48-57</a:t>
            </a:r>
            <a:endParaRPr sz="1200">
              <a:highlight>
                <a:srgbClr val="FAD02C"/>
              </a:highlight>
            </a:endParaRPr>
          </a:p>
          <a:p>
            <a:pPr indent="0" lvl="1" marL="0" marR="0" rtl="0" algn="l">
              <a:lnSpc>
                <a:spcPct val="168045"/>
              </a:lnSpc>
              <a:spcBef>
                <a:spcPts val="0"/>
              </a:spcBef>
              <a:spcAft>
                <a:spcPts val="0"/>
              </a:spcAft>
              <a:buNone/>
            </a:pPr>
            <a:r>
              <a:t/>
            </a:r>
            <a:endParaRPr b="1" i="0" sz="1468" u="none" cap="none" strike="noStrike">
              <a:solidFill>
                <a:srgbClr val="503C30"/>
              </a:solidFill>
              <a:highlight>
                <a:srgbClr val="FAD02C"/>
              </a:highlight>
              <a:latin typeface="Inter"/>
              <a:ea typeface="Inter"/>
              <a:cs typeface="Inter"/>
              <a:sym typeface="Inter"/>
            </a:endParaRPr>
          </a:p>
          <a:p>
            <a:pPr indent="0" lvl="0" marL="0" marR="0" rtl="0" algn="l">
              <a:lnSpc>
                <a:spcPct val="168045"/>
              </a:lnSpc>
              <a:spcBef>
                <a:spcPts val="0"/>
              </a:spcBef>
              <a:spcAft>
                <a:spcPts val="0"/>
              </a:spcAft>
              <a:buNone/>
            </a:pPr>
            <a:r>
              <a:rPr b="1" lang="en-US" sz="1468" strike="noStrike">
                <a:solidFill>
                  <a:srgbClr val="503C30"/>
                </a:solidFill>
                <a:highlight>
                  <a:srgbClr val="FAD02C"/>
                </a:highlight>
                <a:latin typeface="Inter"/>
                <a:ea typeface="Inter"/>
                <a:cs typeface="Inter"/>
                <a:sym typeface="Inter"/>
              </a:rPr>
              <a:t>Sanguino, S. A. A., Ibáñez, E. B., &amp; Rico-Bautista, D. (2023). Implementación de la tecnología blockchain: Un análisis de sus aplicaciones y beneficios en la seguridad y eficiencia de la transferencia de datos [Implementation of technology blockchain: An analysis of its applications and benefits in terms of security and efficiency of data transfer]. Revista Ibérica De Sistemas e Tecnologias De Informação, 219–228. https://login.bdigital.sena.edu.co/login?url=https://www.proquest.com/scholarly-journals/implementación-de-la-tecnología-blockchain-un/docview/2880950407/se-2</a:t>
            </a:r>
            <a:endParaRPr sz="1200">
              <a:highlight>
                <a:srgbClr val="FAD02C"/>
              </a:highlight>
            </a:endParaRPr>
          </a:p>
          <a:p>
            <a:pPr indent="0" lvl="1" marL="0" marR="0" rtl="0" algn="l">
              <a:lnSpc>
                <a:spcPct val="168045"/>
              </a:lnSpc>
              <a:spcBef>
                <a:spcPts val="0"/>
              </a:spcBef>
              <a:spcAft>
                <a:spcPts val="0"/>
              </a:spcAft>
              <a:buNone/>
            </a:pPr>
            <a:r>
              <a:t/>
            </a:r>
            <a:endParaRPr b="1" i="0" sz="1468" u="none" cap="none" strike="noStrike">
              <a:solidFill>
                <a:srgbClr val="503C30"/>
              </a:solidFill>
              <a:latin typeface="Inter"/>
              <a:ea typeface="Inter"/>
              <a:cs typeface="Inter"/>
              <a:sym typeface="Inter"/>
            </a:endParaRPr>
          </a:p>
          <a:p>
            <a:pPr indent="0" lvl="0" marL="0" marR="0" rtl="0" algn="l">
              <a:lnSpc>
                <a:spcPct val="168045"/>
              </a:lnSpc>
              <a:spcBef>
                <a:spcPts val="0"/>
              </a:spcBef>
              <a:spcAft>
                <a:spcPts val="0"/>
              </a:spcAft>
              <a:buNone/>
            </a:pPr>
            <a:r>
              <a:rPr lang="en-US" sz="1468" strike="noStrike">
                <a:solidFill>
                  <a:srgbClr val="503C30"/>
                </a:solidFill>
                <a:latin typeface="Inter"/>
                <a:ea typeface="Inter"/>
                <a:cs typeface="Inter"/>
                <a:sym typeface="Inter"/>
              </a:rPr>
              <a:t>Sillam, Y. (2024, 28 noviembre). What is OSI Model | 7 Layers Explained | Imperva. Learning Center. https://www.imperva.com/learn/application-security/osi-model/?utm_source</a:t>
            </a:r>
            <a:endParaRPr sz="1200"/>
          </a:p>
          <a:p>
            <a:pPr indent="0" lvl="1" marL="0" marR="0" rtl="0" algn="l">
              <a:lnSpc>
                <a:spcPct val="168045"/>
              </a:lnSpc>
              <a:spcBef>
                <a:spcPts val="0"/>
              </a:spcBef>
              <a:spcAft>
                <a:spcPts val="0"/>
              </a:spcAft>
              <a:buNone/>
            </a:pPr>
            <a:r>
              <a:t/>
            </a:r>
            <a:endParaRPr b="0" i="0" sz="1468" u="none" cap="none" strike="noStrike">
              <a:solidFill>
                <a:srgbClr val="503C30"/>
              </a:solidFill>
              <a:latin typeface="Inter"/>
              <a:ea typeface="Inter"/>
              <a:cs typeface="Inter"/>
              <a:sym typeface="Inter"/>
            </a:endParaRPr>
          </a:p>
          <a:p>
            <a:pPr indent="0" lvl="0" marL="0" marR="0" rtl="0" algn="l">
              <a:lnSpc>
                <a:spcPct val="168045"/>
              </a:lnSpc>
              <a:spcBef>
                <a:spcPts val="0"/>
              </a:spcBef>
              <a:spcAft>
                <a:spcPts val="0"/>
              </a:spcAft>
              <a:buNone/>
            </a:pPr>
            <a:r>
              <a:rPr lang="en-US" sz="1468" strike="noStrike">
                <a:solidFill>
                  <a:srgbClr val="503C30"/>
                </a:solidFill>
                <a:latin typeface="Inter"/>
                <a:ea typeface="Inter"/>
                <a:cs typeface="Inter"/>
                <a:sym typeface="Inter"/>
              </a:rPr>
              <a:t>SSL Corp. (2023, December 8). What is SSL/TLS: An In-Depth Guide - SSL.com. SSL.com. https://www.ssl.com/article/what-is-ssl-tls-an-in-depth-guide/?utm_source=chatgpt.com</a:t>
            </a:r>
            <a:endParaRPr sz="1200"/>
          </a:p>
          <a:p>
            <a:pPr indent="0" lvl="1" marL="0" marR="0" rtl="0" algn="l">
              <a:lnSpc>
                <a:spcPct val="168045"/>
              </a:lnSpc>
              <a:spcBef>
                <a:spcPts val="0"/>
              </a:spcBef>
              <a:spcAft>
                <a:spcPts val="0"/>
              </a:spcAft>
              <a:buNone/>
            </a:pPr>
            <a:r>
              <a:t/>
            </a:r>
            <a:endParaRPr b="0" i="0" sz="1468" u="none" cap="none" strike="noStrike">
              <a:solidFill>
                <a:srgbClr val="503C30"/>
              </a:solidFill>
              <a:latin typeface="Inter"/>
              <a:ea typeface="Inter"/>
              <a:cs typeface="Inter"/>
              <a:sym typeface="Inter"/>
            </a:endParaRPr>
          </a:p>
          <a:p>
            <a:pPr indent="0" lvl="1" marL="0" marR="0" rtl="0" algn="l">
              <a:lnSpc>
                <a:spcPct val="168045"/>
              </a:lnSpc>
              <a:spcBef>
                <a:spcPts val="0"/>
              </a:spcBef>
              <a:spcAft>
                <a:spcPts val="0"/>
              </a:spcAft>
              <a:buNone/>
            </a:pPr>
            <a:r>
              <a:rPr b="0" i="0" lang="en-US" sz="1468" u="none" cap="none" strike="noStrike">
                <a:solidFill>
                  <a:srgbClr val="503C30"/>
                </a:solidFill>
                <a:latin typeface="Inter"/>
                <a:ea typeface="Inter"/>
                <a:cs typeface="Inter"/>
                <a:sym typeface="Inter"/>
              </a:rPr>
              <a:t>Stackscale. (2024, 6 febrero). Modelo OSI: 7 capas y ciberataques habituales | Stackscale. https://www.stackscale.com/es/blog/modelo-osi/</a:t>
            </a:r>
            <a:endParaRPr sz="1200"/>
          </a:p>
          <a:p>
            <a:pPr indent="0" lvl="0" marL="0" marR="0" rtl="0" algn="l">
              <a:lnSpc>
                <a:spcPct val="168045"/>
              </a:lnSpc>
              <a:spcBef>
                <a:spcPts val="0"/>
              </a:spcBef>
              <a:spcAft>
                <a:spcPts val="0"/>
              </a:spcAft>
              <a:buNone/>
            </a:pPr>
            <a:r>
              <a:rPr lang="en-US" sz="1468" strike="noStrike">
                <a:solidFill>
                  <a:srgbClr val="503C30"/>
                </a:solidFill>
                <a:latin typeface="Inter"/>
                <a:ea typeface="Inter"/>
                <a:cs typeface="Inter"/>
                <a:sym typeface="Inter"/>
              </a:rPr>
              <a:t>The OSI reference model and the TCP/IP reference model | Data Communications Basics. (n.d.).</a:t>
            </a:r>
            <a:endParaRPr sz="1200"/>
          </a:p>
          <a:p>
            <a:pPr indent="0" lvl="0" marL="0" marR="0" rtl="0" algn="l">
              <a:lnSpc>
                <a:spcPct val="168045"/>
              </a:lnSpc>
              <a:spcBef>
                <a:spcPts val="0"/>
              </a:spcBef>
              <a:spcAft>
                <a:spcPts val="0"/>
              </a:spcAft>
              <a:buNone/>
            </a:pPr>
            <a:r>
              <a:rPr lang="en-US" sz="1468" strike="noStrike">
                <a:solidFill>
                  <a:srgbClr val="503C30"/>
                </a:solidFill>
                <a:latin typeface="Inter"/>
                <a:ea typeface="Inter"/>
                <a:cs typeface="Inter"/>
                <a:sym typeface="Inter"/>
              </a:rPr>
              <a:t> https://flylib.com/books/en/2.566.1/the_osi_reference_model_and_the_tcp_ip_reference_model.html?utm_source=chatgpt.com</a:t>
            </a:r>
            <a:endParaRPr sz="1200"/>
          </a:p>
          <a:p>
            <a:pPr indent="0" lvl="0" marL="0" marR="0" rtl="0" algn="l">
              <a:lnSpc>
                <a:spcPct val="168045"/>
              </a:lnSpc>
              <a:spcBef>
                <a:spcPts val="0"/>
              </a:spcBef>
              <a:spcAft>
                <a:spcPts val="0"/>
              </a:spcAft>
              <a:buNone/>
            </a:pPr>
            <a:r>
              <a:t/>
            </a:r>
            <a:endParaRPr sz="1468" strike="noStrike">
              <a:solidFill>
                <a:srgbClr val="503C30"/>
              </a:solidFill>
              <a:latin typeface="Inter"/>
              <a:ea typeface="Inter"/>
              <a:cs typeface="Inter"/>
              <a:sym typeface="Inter"/>
            </a:endParaRPr>
          </a:p>
          <a:p>
            <a:pPr indent="0" lvl="0" marL="0" marR="0" rtl="0" algn="l">
              <a:lnSpc>
                <a:spcPct val="168045"/>
              </a:lnSpc>
              <a:spcBef>
                <a:spcPts val="0"/>
              </a:spcBef>
              <a:spcAft>
                <a:spcPts val="0"/>
              </a:spcAft>
              <a:buNone/>
            </a:pPr>
            <a:r>
              <a:rPr lang="en-US" sz="1468" strike="noStrike">
                <a:solidFill>
                  <a:srgbClr val="503C30"/>
                </a:solidFill>
                <a:latin typeface="Inter"/>
                <a:ea typeface="Inter"/>
                <a:cs typeface="Inter"/>
                <a:sym typeface="Inter"/>
              </a:rPr>
              <a:t>Tanenbaum, A. S., &amp; Wetherall, D. (2021). Computer Networks (6th ed.). Pearson.</a:t>
            </a:r>
            <a:endParaRPr sz="1200"/>
          </a:p>
          <a:p>
            <a:pPr indent="0" lvl="1" marL="0" marR="0" rtl="0" algn="l">
              <a:lnSpc>
                <a:spcPct val="168045"/>
              </a:lnSpc>
              <a:spcBef>
                <a:spcPts val="0"/>
              </a:spcBef>
              <a:spcAft>
                <a:spcPts val="0"/>
              </a:spcAft>
              <a:buNone/>
            </a:pPr>
            <a:r>
              <a:t/>
            </a:r>
            <a:endParaRPr b="0" i="0" sz="1468" u="none" cap="none" strike="noStrike">
              <a:solidFill>
                <a:srgbClr val="503C30"/>
              </a:solidFill>
              <a:latin typeface="Inter"/>
              <a:ea typeface="Inter"/>
              <a:cs typeface="Inter"/>
              <a:sym typeface="Inter"/>
            </a:endParaRPr>
          </a:p>
          <a:p>
            <a:pPr indent="0" lvl="1" marL="0" marR="0" rtl="0" algn="l">
              <a:lnSpc>
                <a:spcPct val="168045"/>
              </a:lnSpc>
              <a:spcBef>
                <a:spcPts val="0"/>
              </a:spcBef>
              <a:spcAft>
                <a:spcPts val="0"/>
              </a:spcAft>
              <a:buNone/>
            </a:pPr>
            <a:r>
              <a:rPr b="1" i="0" lang="en-US" sz="1468" u="none" cap="none" strike="noStrike">
                <a:solidFill>
                  <a:srgbClr val="503C30"/>
                </a:solidFill>
                <a:highlight>
                  <a:srgbClr val="FAD02C"/>
                </a:highlight>
                <a:latin typeface="Inter"/>
                <a:ea typeface="Inter"/>
                <a:cs typeface="Inter"/>
                <a:sym typeface="Inter"/>
              </a:rPr>
              <a:t>Yndurain, E. (2025, febrero 2). El guardián entre el código: construir puentes para la interoperabilidad. Actualidad Económica, 33. https://login.bdigital.sena.edu.co/login?url=https://www.proquest.com/magazines/el-guardián-entre-código-construir-puentes-para/docview/3162427619/se-2</a:t>
            </a:r>
            <a:endParaRPr sz="1200">
              <a:highlight>
                <a:srgbClr val="FAD02C"/>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5"/>
                                        </p:tgtEl>
                                        <p:attrNameLst>
                                          <p:attrName>style.visibility</p:attrName>
                                        </p:attrNameLst>
                                      </p:cBhvr>
                                      <p:to>
                                        <p:strVal val="visible"/>
                                      </p:to>
                                    </p:set>
                                    <p:animEffect filter="fade" transition="in">
                                      <p:cBhvr>
                                        <p:cTn dur="500"/>
                                        <p:tgtEl>
                                          <p:spTgt spid="755"/>
                                        </p:tgtEl>
                                      </p:cBhvr>
                                    </p:animEffect>
                                  </p:childTnLst>
                                </p:cTn>
                              </p:par>
                              <p:par>
                                <p:cTn fill="hold" nodeType="withEffect" presetClass="entr" presetID="10" presetSubtype="0">
                                  <p:stCondLst>
                                    <p:cond delay="0"/>
                                  </p:stCondLst>
                                  <p:childTnLst>
                                    <p:set>
                                      <p:cBhvr>
                                        <p:cTn dur="1" fill="hold">
                                          <p:stCondLst>
                                            <p:cond delay="0"/>
                                          </p:stCondLst>
                                        </p:cTn>
                                        <p:tgtEl>
                                          <p:spTgt spid="756"/>
                                        </p:tgtEl>
                                        <p:attrNameLst>
                                          <p:attrName>style.visibility</p:attrName>
                                        </p:attrNameLst>
                                      </p:cBhvr>
                                      <p:to>
                                        <p:strVal val="visible"/>
                                      </p:to>
                                    </p:set>
                                    <p:animEffect filter="fade" transition="in">
                                      <p:cBhvr>
                                        <p:cTn dur="500"/>
                                        <p:tgtEl>
                                          <p:spTgt spid="756"/>
                                        </p:tgtEl>
                                      </p:cBhvr>
                                    </p:animEffect>
                                  </p:childTnLst>
                                </p:cTn>
                              </p:par>
                              <p:par>
                                <p:cTn fill="hold" nodeType="withEffect" presetClass="entr" presetID="10" presetSubtype="0">
                                  <p:stCondLst>
                                    <p:cond delay="0"/>
                                  </p:stCondLst>
                                  <p:childTnLst>
                                    <p:set>
                                      <p:cBhvr>
                                        <p:cTn dur="1" fill="hold">
                                          <p:stCondLst>
                                            <p:cond delay="0"/>
                                          </p:stCondLst>
                                        </p:cTn>
                                        <p:tgtEl>
                                          <p:spTgt spid="757"/>
                                        </p:tgtEl>
                                        <p:attrNameLst>
                                          <p:attrName>style.visibility</p:attrName>
                                        </p:attrNameLst>
                                      </p:cBhvr>
                                      <p:to>
                                        <p:strVal val="visible"/>
                                      </p:to>
                                    </p:set>
                                    <p:animEffect filter="fade" transition="in">
                                      <p:cBhvr>
                                        <p:cTn dur="500"/>
                                        <p:tgtEl>
                                          <p:spTgt spid="757"/>
                                        </p:tgtEl>
                                      </p:cBhvr>
                                    </p:animEffect>
                                  </p:childTnLst>
                                </p:cTn>
                              </p:par>
                              <p:par>
                                <p:cTn fill="hold" nodeType="withEffect" presetClass="entr" presetID="10" presetSubtype="0">
                                  <p:stCondLst>
                                    <p:cond delay="0"/>
                                  </p:stCondLst>
                                  <p:childTnLst>
                                    <p:set>
                                      <p:cBhvr>
                                        <p:cTn dur="1" fill="hold">
                                          <p:stCondLst>
                                            <p:cond delay="0"/>
                                          </p:stCondLst>
                                        </p:cTn>
                                        <p:tgtEl>
                                          <p:spTgt spid="758"/>
                                        </p:tgtEl>
                                        <p:attrNameLst>
                                          <p:attrName>style.visibility</p:attrName>
                                        </p:attrNameLst>
                                      </p:cBhvr>
                                      <p:to>
                                        <p:strVal val="visible"/>
                                      </p:to>
                                    </p:set>
                                    <p:animEffect filter="fade" transition="in">
                                      <p:cBhvr>
                                        <p:cTn dur="500"/>
                                        <p:tgtEl>
                                          <p:spTgt spid="758"/>
                                        </p:tgtEl>
                                      </p:cBhvr>
                                    </p:animEffect>
                                  </p:childTnLst>
                                </p:cTn>
                              </p:par>
                              <p:par>
                                <p:cTn fill="hold" nodeType="withEffect" presetClass="entr" presetID="10" presetSubtype="0">
                                  <p:stCondLst>
                                    <p:cond delay="0"/>
                                  </p:stCondLst>
                                  <p:childTnLst>
                                    <p:set>
                                      <p:cBhvr>
                                        <p:cTn dur="1" fill="hold">
                                          <p:stCondLst>
                                            <p:cond delay="0"/>
                                          </p:stCondLst>
                                        </p:cTn>
                                        <p:tgtEl>
                                          <p:spTgt spid="759"/>
                                        </p:tgtEl>
                                        <p:attrNameLst>
                                          <p:attrName>style.visibility</p:attrName>
                                        </p:attrNameLst>
                                      </p:cBhvr>
                                      <p:to>
                                        <p:strVal val="visible"/>
                                      </p:to>
                                    </p:set>
                                    <p:animEffect filter="fade" transition="in">
                                      <p:cBhvr>
                                        <p:cTn dur="500"/>
                                        <p:tgtEl>
                                          <p:spTgt spid="759"/>
                                        </p:tgtEl>
                                      </p:cBhvr>
                                    </p:animEffect>
                                  </p:childTnLst>
                                </p:cTn>
                              </p:par>
                              <p:par>
                                <p:cTn fill="hold" nodeType="with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500"/>
                                        <p:tgtEl>
                                          <p:spTgt spid="760"/>
                                        </p:tgtEl>
                                      </p:cBhvr>
                                    </p:animEffect>
                                  </p:childTnLst>
                                </p:cTn>
                              </p:par>
                              <p:par>
                                <p:cTn fill="hold" nodeType="withEffect" presetClass="entr" presetID="10" presetSubtype="0">
                                  <p:stCondLst>
                                    <p:cond delay="0"/>
                                  </p:stCondLst>
                                  <p:childTnLst>
                                    <p:set>
                                      <p:cBhvr>
                                        <p:cTn dur="1" fill="hold">
                                          <p:stCondLst>
                                            <p:cond delay="0"/>
                                          </p:stCondLst>
                                        </p:cTn>
                                        <p:tgtEl>
                                          <p:spTgt spid="761"/>
                                        </p:tgtEl>
                                        <p:attrNameLst>
                                          <p:attrName>style.visibility</p:attrName>
                                        </p:attrNameLst>
                                      </p:cBhvr>
                                      <p:to>
                                        <p:strVal val="visible"/>
                                      </p:to>
                                    </p:set>
                                    <p:animEffect filter="fade" transition="in">
                                      <p:cBhvr>
                                        <p:cTn dur="500"/>
                                        <p:tgtEl>
                                          <p:spTgt spid="7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E"/>
        </a:solidFill>
      </p:bgPr>
    </p:bg>
    <p:spTree>
      <p:nvGrpSpPr>
        <p:cNvPr id="765" name="Shape 765"/>
        <p:cNvGrpSpPr/>
        <p:nvPr/>
      </p:nvGrpSpPr>
      <p:grpSpPr>
        <a:xfrm>
          <a:off x="0" y="0"/>
          <a:ext cx="0" cy="0"/>
          <a:chOff x="0" y="0"/>
          <a:chExt cx="0" cy="0"/>
        </a:xfrm>
      </p:grpSpPr>
      <p:sp>
        <p:nvSpPr>
          <p:cNvPr id="766" name="Google Shape;766;p41"/>
          <p:cNvSpPr/>
          <p:nvPr/>
        </p:nvSpPr>
        <p:spPr>
          <a:xfrm>
            <a:off x="3209606" y="-1899972"/>
            <a:ext cx="3033464" cy="2928672"/>
          </a:xfrm>
          <a:custGeom>
            <a:rect b="b" l="l" r="r" t="t"/>
            <a:pathLst>
              <a:path extrusionOk="0" h="2928672" w="3033464">
                <a:moveTo>
                  <a:pt x="0" y="0"/>
                </a:moveTo>
                <a:lnTo>
                  <a:pt x="3033464" y="0"/>
                </a:lnTo>
                <a:lnTo>
                  <a:pt x="3033464" y="2928672"/>
                </a:lnTo>
                <a:lnTo>
                  <a:pt x="0" y="2928672"/>
                </a:lnTo>
                <a:lnTo>
                  <a:pt x="0" y="0"/>
                </a:lnTo>
                <a:close/>
              </a:path>
            </a:pathLst>
          </a:custGeom>
          <a:blipFill rotWithShape="1">
            <a:blip r:embed="rId3">
              <a:alphaModFix/>
            </a:blip>
            <a:stretch>
              <a:fillRect b="0" l="0" r="0" t="0"/>
            </a:stretch>
          </a:blipFill>
          <a:ln>
            <a:noFill/>
          </a:ln>
        </p:spPr>
      </p:sp>
      <p:sp>
        <p:nvSpPr>
          <p:cNvPr id="767" name="Google Shape;767;p41"/>
          <p:cNvSpPr/>
          <p:nvPr/>
        </p:nvSpPr>
        <p:spPr>
          <a:xfrm rot="-5400000">
            <a:off x="16187865" y="-796535"/>
            <a:ext cx="2223155" cy="2693250"/>
          </a:xfrm>
          <a:custGeom>
            <a:rect b="b" l="l" r="r" t="t"/>
            <a:pathLst>
              <a:path extrusionOk="0" h="2693250" w="2223155">
                <a:moveTo>
                  <a:pt x="0" y="0"/>
                </a:moveTo>
                <a:lnTo>
                  <a:pt x="2223155" y="0"/>
                </a:lnTo>
                <a:lnTo>
                  <a:pt x="2223155" y="2693250"/>
                </a:lnTo>
                <a:lnTo>
                  <a:pt x="0" y="2693250"/>
                </a:lnTo>
                <a:lnTo>
                  <a:pt x="0" y="0"/>
                </a:lnTo>
                <a:close/>
              </a:path>
            </a:pathLst>
          </a:custGeom>
          <a:blipFill rotWithShape="1">
            <a:blip r:embed="rId4">
              <a:alphaModFix/>
            </a:blip>
            <a:stretch>
              <a:fillRect b="0" l="0" r="0" t="0"/>
            </a:stretch>
          </a:blipFill>
          <a:ln>
            <a:noFill/>
          </a:ln>
        </p:spPr>
      </p:sp>
      <p:sp>
        <p:nvSpPr>
          <p:cNvPr id="768" name="Google Shape;768;p41"/>
          <p:cNvSpPr/>
          <p:nvPr/>
        </p:nvSpPr>
        <p:spPr>
          <a:xfrm>
            <a:off x="17129335" y="5013990"/>
            <a:ext cx="2850752" cy="2936167"/>
          </a:xfrm>
          <a:custGeom>
            <a:rect b="b" l="l" r="r" t="t"/>
            <a:pathLst>
              <a:path extrusionOk="0" h="2936167" w="2850752">
                <a:moveTo>
                  <a:pt x="0" y="0"/>
                </a:moveTo>
                <a:lnTo>
                  <a:pt x="2850752" y="0"/>
                </a:lnTo>
                <a:lnTo>
                  <a:pt x="2850752" y="2936168"/>
                </a:lnTo>
                <a:lnTo>
                  <a:pt x="0" y="2936168"/>
                </a:lnTo>
                <a:lnTo>
                  <a:pt x="0" y="0"/>
                </a:lnTo>
                <a:close/>
              </a:path>
            </a:pathLst>
          </a:custGeom>
          <a:blipFill rotWithShape="1">
            <a:blip r:embed="rId5">
              <a:alphaModFix/>
            </a:blip>
            <a:stretch>
              <a:fillRect b="0" l="0" r="0" t="0"/>
            </a:stretch>
          </a:blipFill>
          <a:ln>
            <a:noFill/>
          </a:ln>
        </p:spPr>
      </p:sp>
      <p:sp>
        <p:nvSpPr>
          <p:cNvPr id="769" name="Google Shape;769;p41"/>
          <p:cNvSpPr/>
          <p:nvPr/>
        </p:nvSpPr>
        <p:spPr>
          <a:xfrm>
            <a:off x="16286747" y="8188283"/>
            <a:ext cx="3191605" cy="3428482"/>
          </a:xfrm>
          <a:custGeom>
            <a:rect b="b" l="l" r="r" t="t"/>
            <a:pathLst>
              <a:path extrusionOk="0" h="3428482" w="3191605">
                <a:moveTo>
                  <a:pt x="0" y="0"/>
                </a:moveTo>
                <a:lnTo>
                  <a:pt x="3191605" y="0"/>
                </a:lnTo>
                <a:lnTo>
                  <a:pt x="3191605" y="3428481"/>
                </a:lnTo>
                <a:lnTo>
                  <a:pt x="0" y="3428481"/>
                </a:lnTo>
                <a:lnTo>
                  <a:pt x="0" y="0"/>
                </a:lnTo>
                <a:close/>
              </a:path>
            </a:pathLst>
          </a:custGeom>
          <a:blipFill rotWithShape="1">
            <a:blip r:embed="rId6">
              <a:alphaModFix/>
            </a:blip>
            <a:stretch>
              <a:fillRect b="0" l="0" r="0" t="0"/>
            </a:stretch>
          </a:blipFill>
          <a:ln>
            <a:noFill/>
          </a:ln>
        </p:spPr>
      </p:sp>
      <p:sp>
        <p:nvSpPr>
          <p:cNvPr id="770" name="Google Shape;770;p41"/>
          <p:cNvSpPr/>
          <p:nvPr/>
        </p:nvSpPr>
        <p:spPr>
          <a:xfrm>
            <a:off x="10959138" y="9141564"/>
            <a:ext cx="4993680" cy="1897598"/>
          </a:xfrm>
          <a:custGeom>
            <a:rect b="b" l="l" r="r" t="t"/>
            <a:pathLst>
              <a:path extrusionOk="0" h="1897598" w="4993680">
                <a:moveTo>
                  <a:pt x="0" y="0"/>
                </a:moveTo>
                <a:lnTo>
                  <a:pt x="4993679" y="0"/>
                </a:lnTo>
                <a:lnTo>
                  <a:pt x="4993679" y="1897598"/>
                </a:lnTo>
                <a:lnTo>
                  <a:pt x="0" y="1897598"/>
                </a:lnTo>
                <a:lnTo>
                  <a:pt x="0" y="0"/>
                </a:lnTo>
                <a:close/>
              </a:path>
            </a:pathLst>
          </a:custGeom>
          <a:blipFill rotWithShape="1">
            <a:blip r:embed="rId7">
              <a:alphaModFix/>
            </a:blip>
            <a:stretch>
              <a:fillRect b="0" l="0" r="0" t="0"/>
            </a:stretch>
          </a:blipFill>
          <a:ln>
            <a:noFill/>
          </a:ln>
        </p:spPr>
      </p:sp>
      <p:sp>
        <p:nvSpPr>
          <p:cNvPr id="771" name="Google Shape;771;p41"/>
          <p:cNvSpPr/>
          <p:nvPr/>
        </p:nvSpPr>
        <p:spPr>
          <a:xfrm rot="1574984">
            <a:off x="11006399" y="-2101501"/>
            <a:ext cx="4375122" cy="3603510"/>
          </a:xfrm>
          <a:custGeom>
            <a:rect b="b" l="l" r="r" t="t"/>
            <a:pathLst>
              <a:path extrusionOk="0" h="3603510" w="4375122">
                <a:moveTo>
                  <a:pt x="0" y="0"/>
                </a:moveTo>
                <a:lnTo>
                  <a:pt x="4375123" y="0"/>
                </a:lnTo>
                <a:lnTo>
                  <a:pt x="4375123" y="3603510"/>
                </a:lnTo>
                <a:lnTo>
                  <a:pt x="0" y="3603510"/>
                </a:lnTo>
                <a:lnTo>
                  <a:pt x="0" y="0"/>
                </a:lnTo>
                <a:close/>
              </a:path>
            </a:pathLst>
          </a:custGeom>
          <a:blipFill rotWithShape="1">
            <a:blip r:embed="rId8">
              <a:alphaModFix/>
            </a:blip>
            <a:stretch>
              <a:fillRect b="0" l="0" r="0" t="0"/>
            </a:stretch>
          </a:blipFill>
          <a:ln>
            <a:noFill/>
          </a:ln>
        </p:spPr>
      </p:sp>
      <p:sp>
        <p:nvSpPr>
          <p:cNvPr id="772" name="Google Shape;772;p41"/>
          <p:cNvSpPr/>
          <p:nvPr/>
        </p:nvSpPr>
        <p:spPr>
          <a:xfrm>
            <a:off x="-1595802" y="2283727"/>
            <a:ext cx="3191605" cy="3428482"/>
          </a:xfrm>
          <a:custGeom>
            <a:rect b="b" l="l" r="r" t="t"/>
            <a:pathLst>
              <a:path extrusionOk="0" h="3428482" w="3191605">
                <a:moveTo>
                  <a:pt x="0" y="0"/>
                </a:moveTo>
                <a:lnTo>
                  <a:pt x="3191604" y="0"/>
                </a:lnTo>
                <a:lnTo>
                  <a:pt x="3191604" y="3428482"/>
                </a:lnTo>
                <a:lnTo>
                  <a:pt x="0" y="3428482"/>
                </a:lnTo>
                <a:lnTo>
                  <a:pt x="0" y="0"/>
                </a:lnTo>
                <a:close/>
              </a:path>
            </a:pathLst>
          </a:custGeom>
          <a:blipFill rotWithShape="1">
            <a:blip r:embed="rId9">
              <a:alphaModFix/>
            </a:blip>
            <a:stretch>
              <a:fillRect b="0" l="0" r="0" t="0"/>
            </a:stretch>
          </a:blipFill>
          <a:ln>
            <a:noFill/>
          </a:ln>
        </p:spPr>
      </p:sp>
      <p:sp>
        <p:nvSpPr>
          <p:cNvPr id="773" name="Google Shape;773;p41"/>
          <p:cNvSpPr/>
          <p:nvPr/>
        </p:nvSpPr>
        <p:spPr>
          <a:xfrm>
            <a:off x="-679615" y="8681974"/>
            <a:ext cx="3889222" cy="4005753"/>
          </a:xfrm>
          <a:custGeom>
            <a:rect b="b" l="l" r="r" t="t"/>
            <a:pathLst>
              <a:path extrusionOk="0" h="4005753" w="3889222">
                <a:moveTo>
                  <a:pt x="0" y="0"/>
                </a:moveTo>
                <a:lnTo>
                  <a:pt x="3889221" y="0"/>
                </a:lnTo>
                <a:lnTo>
                  <a:pt x="3889221" y="4005753"/>
                </a:lnTo>
                <a:lnTo>
                  <a:pt x="0" y="4005753"/>
                </a:lnTo>
                <a:lnTo>
                  <a:pt x="0" y="0"/>
                </a:lnTo>
                <a:close/>
              </a:path>
            </a:pathLst>
          </a:custGeom>
          <a:blipFill rotWithShape="1">
            <a:blip r:embed="rId5">
              <a:alphaModFix/>
            </a:blip>
            <a:stretch>
              <a:fillRect b="0" l="0" r="0" t="0"/>
            </a:stretch>
          </a:blipFill>
          <a:ln>
            <a:noFill/>
          </a:ln>
        </p:spPr>
      </p:sp>
      <p:sp>
        <p:nvSpPr>
          <p:cNvPr id="774" name="Google Shape;774;p41"/>
          <p:cNvSpPr/>
          <p:nvPr/>
        </p:nvSpPr>
        <p:spPr>
          <a:xfrm>
            <a:off x="3419244" y="9038123"/>
            <a:ext cx="3731631" cy="2313611"/>
          </a:xfrm>
          <a:custGeom>
            <a:rect b="b" l="l" r="r" t="t"/>
            <a:pathLst>
              <a:path extrusionOk="0" h="2313611" w="3731631">
                <a:moveTo>
                  <a:pt x="0" y="0"/>
                </a:moveTo>
                <a:lnTo>
                  <a:pt x="3731630" y="0"/>
                </a:lnTo>
                <a:lnTo>
                  <a:pt x="3731630" y="2313611"/>
                </a:lnTo>
                <a:lnTo>
                  <a:pt x="0" y="2313611"/>
                </a:lnTo>
                <a:lnTo>
                  <a:pt x="0" y="0"/>
                </a:lnTo>
                <a:close/>
              </a:path>
            </a:pathLst>
          </a:custGeom>
          <a:blipFill rotWithShape="1">
            <a:blip r:embed="rId10">
              <a:alphaModFix/>
            </a:blip>
            <a:stretch>
              <a:fillRect b="0" l="0" r="0" t="0"/>
            </a:stretch>
          </a:blipFill>
          <a:ln>
            <a:noFill/>
          </a:ln>
        </p:spPr>
      </p:sp>
      <p:sp>
        <p:nvSpPr>
          <p:cNvPr id="775" name="Google Shape;775;p41"/>
          <p:cNvSpPr/>
          <p:nvPr/>
        </p:nvSpPr>
        <p:spPr>
          <a:xfrm>
            <a:off x="6327049" y="-3202442"/>
            <a:ext cx="4108054" cy="4231142"/>
          </a:xfrm>
          <a:custGeom>
            <a:rect b="b" l="l" r="r" t="t"/>
            <a:pathLst>
              <a:path extrusionOk="0" h="4231142" w="4108054">
                <a:moveTo>
                  <a:pt x="0" y="0"/>
                </a:moveTo>
                <a:lnTo>
                  <a:pt x="4108055" y="0"/>
                </a:lnTo>
                <a:lnTo>
                  <a:pt x="4108055" y="4231142"/>
                </a:lnTo>
                <a:lnTo>
                  <a:pt x="0" y="4231142"/>
                </a:lnTo>
                <a:lnTo>
                  <a:pt x="0" y="0"/>
                </a:lnTo>
                <a:close/>
              </a:path>
            </a:pathLst>
          </a:custGeom>
          <a:blipFill rotWithShape="1">
            <a:blip r:embed="rId5">
              <a:alphaModFix/>
            </a:blip>
            <a:stretch>
              <a:fillRect b="0" l="0" r="0" t="0"/>
            </a:stretch>
          </a:blipFill>
          <a:ln>
            <a:noFill/>
          </a:ln>
        </p:spPr>
      </p:sp>
      <p:sp>
        <p:nvSpPr>
          <p:cNvPr id="776" name="Google Shape;776;p41"/>
          <p:cNvSpPr/>
          <p:nvPr/>
        </p:nvSpPr>
        <p:spPr>
          <a:xfrm rot="-5400000">
            <a:off x="16563555" y="2451040"/>
            <a:ext cx="3164136" cy="1961764"/>
          </a:xfrm>
          <a:custGeom>
            <a:rect b="b" l="l" r="r" t="t"/>
            <a:pathLst>
              <a:path extrusionOk="0" h="1961764" w="3164136">
                <a:moveTo>
                  <a:pt x="0" y="0"/>
                </a:moveTo>
                <a:lnTo>
                  <a:pt x="3164136" y="0"/>
                </a:lnTo>
                <a:lnTo>
                  <a:pt x="3164136" y="1961765"/>
                </a:lnTo>
                <a:lnTo>
                  <a:pt x="0" y="1961765"/>
                </a:lnTo>
                <a:lnTo>
                  <a:pt x="0" y="0"/>
                </a:lnTo>
                <a:close/>
              </a:path>
            </a:pathLst>
          </a:custGeom>
          <a:blipFill rotWithShape="1">
            <a:blip r:embed="rId11">
              <a:alphaModFix/>
            </a:blip>
            <a:stretch>
              <a:fillRect b="0" l="0" r="0" t="0"/>
            </a:stretch>
          </a:blipFill>
          <a:ln>
            <a:noFill/>
          </a:ln>
        </p:spPr>
      </p:sp>
      <p:sp>
        <p:nvSpPr>
          <p:cNvPr id="777" name="Google Shape;777;p41"/>
          <p:cNvSpPr/>
          <p:nvPr/>
        </p:nvSpPr>
        <p:spPr>
          <a:xfrm>
            <a:off x="-1245662" y="5549340"/>
            <a:ext cx="2274362" cy="4114800"/>
          </a:xfrm>
          <a:custGeom>
            <a:rect b="b" l="l" r="r" t="t"/>
            <a:pathLst>
              <a:path extrusionOk="0" h="4114800" w="2274362">
                <a:moveTo>
                  <a:pt x="0" y="0"/>
                </a:moveTo>
                <a:lnTo>
                  <a:pt x="2274362" y="0"/>
                </a:lnTo>
                <a:lnTo>
                  <a:pt x="2274362" y="4114800"/>
                </a:lnTo>
                <a:lnTo>
                  <a:pt x="0" y="4114800"/>
                </a:lnTo>
                <a:lnTo>
                  <a:pt x="0" y="0"/>
                </a:lnTo>
                <a:close/>
              </a:path>
            </a:pathLst>
          </a:custGeom>
          <a:blipFill rotWithShape="1">
            <a:blip r:embed="rId12">
              <a:alphaModFix/>
            </a:blip>
            <a:stretch>
              <a:fillRect b="0" l="0" r="0" t="0"/>
            </a:stretch>
          </a:blipFill>
          <a:ln>
            <a:noFill/>
          </a:ln>
        </p:spPr>
      </p:sp>
      <p:sp>
        <p:nvSpPr>
          <p:cNvPr id="778" name="Google Shape;778;p41"/>
          <p:cNvSpPr/>
          <p:nvPr/>
        </p:nvSpPr>
        <p:spPr>
          <a:xfrm rot="1522295">
            <a:off x="-502845" y="-1664538"/>
            <a:ext cx="3194581" cy="4114800"/>
          </a:xfrm>
          <a:custGeom>
            <a:rect b="b" l="l" r="r" t="t"/>
            <a:pathLst>
              <a:path extrusionOk="0" h="4114800" w="3194581">
                <a:moveTo>
                  <a:pt x="0" y="0"/>
                </a:moveTo>
                <a:lnTo>
                  <a:pt x="3194581" y="0"/>
                </a:lnTo>
                <a:lnTo>
                  <a:pt x="3194581" y="4114800"/>
                </a:lnTo>
                <a:lnTo>
                  <a:pt x="0" y="4114800"/>
                </a:lnTo>
                <a:lnTo>
                  <a:pt x="0" y="0"/>
                </a:lnTo>
                <a:close/>
              </a:path>
            </a:pathLst>
          </a:custGeom>
          <a:blipFill rotWithShape="1">
            <a:blip r:embed="rId13">
              <a:alphaModFix/>
            </a:blip>
            <a:stretch>
              <a:fillRect b="0" l="0" r="0" t="0"/>
            </a:stretch>
          </a:blipFill>
          <a:ln>
            <a:noFill/>
          </a:ln>
        </p:spPr>
      </p:sp>
      <p:sp>
        <p:nvSpPr>
          <p:cNvPr id="779" name="Google Shape;779;p41"/>
          <p:cNvSpPr/>
          <p:nvPr/>
        </p:nvSpPr>
        <p:spPr>
          <a:xfrm>
            <a:off x="5726606" y="9021600"/>
            <a:ext cx="4899156" cy="4035123"/>
          </a:xfrm>
          <a:custGeom>
            <a:rect b="b" l="l" r="r" t="t"/>
            <a:pathLst>
              <a:path extrusionOk="0" h="4035123" w="4899156">
                <a:moveTo>
                  <a:pt x="0" y="0"/>
                </a:moveTo>
                <a:lnTo>
                  <a:pt x="4899157" y="0"/>
                </a:lnTo>
                <a:lnTo>
                  <a:pt x="4899157" y="4035124"/>
                </a:lnTo>
                <a:lnTo>
                  <a:pt x="0" y="4035124"/>
                </a:lnTo>
                <a:lnTo>
                  <a:pt x="0" y="0"/>
                </a:lnTo>
                <a:close/>
              </a:path>
            </a:pathLst>
          </a:custGeom>
          <a:blipFill rotWithShape="1">
            <a:blip r:embed="rId8">
              <a:alphaModFix/>
            </a:blip>
            <a:stretch>
              <a:fillRect b="0" l="0" r="0" t="0"/>
            </a:stretch>
          </a:blipFill>
          <a:ln>
            <a:noFill/>
          </a:ln>
        </p:spPr>
      </p:sp>
      <p:sp>
        <p:nvSpPr>
          <p:cNvPr id="780" name="Google Shape;780;p41"/>
          <p:cNvSpPr txBox="1"/>
          <p:nvPr/>
        </p:nvSpPr>
        <p:spPr>
          <a:xfrm>
            <a:off x="1704688" y="2183868"/>
            <a:ext cx="14878625" cy="6355570"/>
          </a:xfrm>
          <a:prstGeom prst="rect">
            <a:avLst/>
          </a:prstGeom>
          <a:noFill/>
          <a:ln>
            <a:noFill/>
          </a:ln>
        </p:spPr>
        <p:txBody>
          <a:bodyPr anchorCtr="0" anchor="t" bIns="0" lIns="0" spcFirstLastPara="1" rIns="0" wrap="square" tIns="0">
            <a:spAutoFit/>
          </a:bodyPr>
          <a:lstStyle/>
          <a:p>
            <a:pPr indent="0" lvl="0" marL="0" marR="0" rtl="0" algn="ctr">
              <a:lnSpc>
                <a:spcPct val="91997"/>
              </a:lnSpc>
              <a:spcBef>
                <a:spcPts val="0"/>
              </a:spcBef>
              <a:spcAft>
                <a:spcPts val="0"/>
              </a:spcAft>
              <a:buNone/>
            </a:pPr>
            <a:r>
              <a:rPr lang="en-US" sz="26193">
                <a:solidFill>
                  <a:srgbClr val="503C30"/>
                </a:solidFill>
                <a:latin typeface="Arial"/>
                <a:ea typeface="Arial"/>
                <a:cs typeface="Arial"/>
                <a:sym typeface="Arial"/>
              </a:rPr>
              <a:t>MUCHAS GRACIAS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